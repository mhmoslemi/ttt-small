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type="screen16x9"/>
  <p:notesSz cx="6858000" cy="9144000"/>
  <p:defaultTextStyle>
    <a:defPPr>
      <a:defRPr lang="en-US"/>
    </a:defPPr>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Hierarchical Bandit-Guided Scientific Discovery</a:t>
            </a:r>
            <a:endParaRPr lang="en-US"/>
          </a:p>
          <a:p>
            <a:r>
              <a:rPr lang="en-US" sz="1400">
                <a:latin typeface="Arial"/>
              </a:rPr>
              <a:t xml:space="preserve"/>
            </a:r>
            <a:endParaRPr lang="en-US"/>
          </a:p>
          <a:p>
            <a:r>
              <a:rPr lang="en-US" sz="1400">
                <a:latin typeface="Arial"/>
              </a:rPr>
              <a:t xml:space="preserve">The method couples language-model generation, outcome-guided sampling, historical risk-sensitive reinforcement learning, and dependency-aware execution.</a:t>
            </a:r>
            <a:endParaRPr lang="en-US"/>
          </a:p>
          <a:p>
            <a:r>
              <a:rPr lang="en-US" sz="1400">
                <a:latin typeface="Arial"/>
              </a:rPr>
              <a:t xml:space="preserve">Sources: supplied IMG_7154 Large.pdf. Huawei logo: https://www.huawei.com/-/media/hcomponent-header/1.0.1.20260908162100/component/img/huawei_logo.png</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Contents</a:t>
            </a:r>
            <a:endParaRPr lang="en-US"/>
          </a:p>
          <a:p>
            <a:r>
              <a:rPr lang="en-US" sz="1400">
                <a:latin typeface="Arial"/>
              </a:rPr>
              <a:t xml:space="preserve"/>
            </a:r>
            <a:endParaRPr lang="en-US"/>
          </a:p>
          <a:p>
            <a:r>
              <a:rPr lang="en-US" sz="1400">
                <a:latin typeface="Arial"/>
              </a:rPr>
              <a:t xml:space="preserve">The technical solution contains the generation hierarchy, adaptive sampling, the policy-training reference, and the execution dependencies. The evidence separates the behavioral ablation from end-to-end scientific results.</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Idea Compliance Self-Check</a:t>
            </a:r>
            <a:endParaRPr lang="en-US"/>
          </a:p>
          <a:p>
            <a:r>
              <a:rPr lang="en-US" sz="1400">
                <a:latin typeface="Arial"/>
              </a:rPr>
              <a:t xml:space="preserve"/>
            </a:r>
            <a:endParaRPr lang="en-US"/>
          </a:p>
          <a:p>
            <a:r>
              <a:rPr lang="en-US" sz="1400">
                <a:latin typeface="Arial"/>
              </a:rPr>
              <a:t xml:space="preserve">Source: supplied presentation, Page 3. These are the supplied inventor declarations, not independent legal or compliance findings. Use the applicable official internal checklist when submitting.</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Background: LLM-Based Scientific Discovery</a:t>
            </a:r>
            <a:endParaRPr lang="en-US"/>
          </a:p>
          <a:p>
            <a:r>
              <a:rPr lang="en-US" sz="1400">
                <a:latin typeface="Arial"/>
              </a:rPr>
              <a:t xml:space="preserve"/>
            </a:r>
            <a:endParaRPr lang="en-US"/>
          </a:p>
          <a:p>
            <a:r>
              <a:rPr lang="en-US" sz="1400">
                <a:latin typeface="Arial"/>
              </a:rPr>
              <a:t xml:space="preserve">A rollout is one generated candidate program and its evaluation. The environment, not the LLM itself, executes the program. The raw problem score can be minimized or maximized. Training rewards use a larger-is-better convention.</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Prior Art: Candidate Sampling and Search</a:t>
            </a:r>
            <a:endParaRPr lang="en-US"/>
          </a:p>
          <a:p>
            <a:r>
              <a:rPr lang="en-US" sz="1400">
                <a:latin typeface="Arial"/>
              </a:rPr>
              <a:t xml:space="preserve"/>
            </a:r>
            <a:endParaRPr lang="en-US"/>
          </a:p>
          <a:p>
            <a:r>
              <a:rPr lang="en-US" sz="1400">
                <a:latin typeface="Arial"/>
              </a:rPr>
              <a:t xml:space="preserve">Source: supplied presentation, Page 5. This expression illustrates UCT. PUCT additionally weights exploration using a prior over archived states. Parent selection supplies context to the language model that generates candidate programs. Closest-reference novelty analysis remains separate.</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Technical Problems in Existing Approaches</a:t>
            </a:r>
            <a:endParaRPr lang="en-US"/>
          </a:p>
          <a:p>
            <a:r>
              <a:rPr lang="en-US" sz="1400">
                <a:latin typeface="Arial"/>
              </a:rPr>
              <a:t xml:space="preserve"/>
            </a:r>
            <a:endParaRPr lang="en-US"/>
          </a:p>
          <a:p>
            <a:r>
              <a:rPr lang="en-US" sz="1400">
                <a:latin typeface="Arial"/>
              </a:rPr>
              <a:t xml:space="preserve">The first point concerns direct program generation without explicit algorithm-level sampling choices. It does not claim that a single LLM cannot produce different algorithms. The second is a conditional reinforcement mechanism: copying a strong construction can remain rewarding, and reinforcing such outputs can reduce construction-level exploration. It does not establish that RL always causes collapse. The third concerns fixed, equal allocation rather than adaptive search methods in general; early evidence can be uncertain. The fourth concerns group-relative advantages formed by centering rewards on the current group's mean. Exactly equal rewards produce zero reward advantages, although a separate KL regularizer may still contribute gradients. A historical reference can assign a shared nonzero advantage to that group but cannot rank identical rewards within it. These are specific limitations motivating the proposed method, not universal claims about every prior system.</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Technical Solution: Hierarchical Discovery Pipeline</a:t>
            </a:r>
            <a:endParaRPr lang="en-US"/>
          </a:p>
          <a:p>
            <a:r>
              <a:rPr lang="en-US" sz="1400">
                <a:latin typeface="Arial"/>
              </a:rPr>
              <a:t xml:space="preserve"/>
            </a:r>
            <a:endParaRPr lang="en-US"/>
          </a:p>
          <a:p>
            <a:r>
              <a:rPr lang="en-US" sz="1400">
                <a:latin typeface="Arial"/>
              </a:rPr>
              <a:t xml:space="preserve">Source: supplied presentation, Page 7. The proposed hierarchy separates two roles: the strategist is a frozen planning LLM, and the coder is a trainable program-generating LLM. Archive states include programs, constructions, scores, and lineage. The parent selector picks P states. A frozen strategist generates S sequential, distinct plans for each parent. Each coder prompt receives only its own parent and one extracted plan, not the other strategies or hidden strategist reasoning. Equal pilots precede bandit allocation of each parent's fixed remaining budget. Top-r per strategy then top-K per parent feed the archive. Pilot and phase-2 programs train the coder. The coder may correct scientific or interface errors in a strategy. Animation illustrates dependencies, not measured timings.</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Technical Solution: Hierarchical Discovery Pipeline</a:t>
            </a:r>
            <a:endParaRPr lang="en-US"/>
          </a:p>
          <a:p>
            <a:r>
              <a:rPr lang="en-US" sz="1400">
                <a:latin typeface="Arial"/>
              </a:rPr>
              <a:t xml:space="preserve"/>
            </a:r>
            <a:endParaRPr lang="en-US"/>
          </a:p>
          <a:p>
            <a:r>
              <a:rPr lang="en-US" sz="1400">
                <a:latin typeface="Arial"/>
              </a:rPr>
              <a:t xml:space="preserve">Source: supplied presentation, Page 7. The proposed hierarchy separates two roles: the strategist is a frozen planning LLM, and the coder is a trainable program-generating LLM. Archive states include programs, constructions, scores, and lineage. The parent selector picks P states. A frozen strategist generates S sequential, distinct plans for each parent. Each coder prompt receives only its own parent and one extracted plan, not the other strategies or hidden strategist reasoning. Equal pilots precede bandit allocation of each parent's fixed remaining budget. Top-r per strategy then top-K per parent feed the archive. Pilot and phase-2 programs train the coder. The coder may correct scientific or interface errors in a strategy. Animation illustrates dependencies, not measured timings.</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Technical Solution: Hierarchical Discovery Pipeline</a:t>
            </a:r>
            <a:endParaRPr lang="en-US"/>
          </a:p>
          <a:p>
            <a:r>
              <a:rPr lang="en-US" sz="1400">
                <a:latin typeface="Arial"/>
              </a:rPr>
              <a:t xml:space="preserve"/>
            </a:r>
            <a:endParaRPr lang="en-US"/>
          </a:p>
          <a:p>
            <a:r>
              <a:rPr lang="en-US" sz="1400">
                <a:latin typeface="Arial"/>
              </a:rPr>
              <a:t xml:space="preserve">Source: supplied presentation, Page 7. The proposed hierarchy separates two roles: the strategist is a frozen planning LLM, and the coder is a trainable program-generating LLM. Archive states include programs, constructions, scores, and lineage. The parent selector picks P states. A frozen strategist generates S sequential, distinct plans for each parent. Each coder prompt receives only its own parent and one extracted plan, not the other strategies or hidden strategist reasoning. Equal pilots precede bandit allocation of each parent's fixed remaining budget. Top-r per strategy then top-K per parent feed the archive. Pilot and phase-2 programs train the coder. The coder may correct scientific or interface errors in a strategy. Animation illustrates dependencies, not measured timings.</a:t>
            </a: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Technical Solution: Hierarchical Discovery Pipeline</a:t>
            </a:r>
            <a:endParaRPr lang="en-US"/>
          </a:p>
          <a:p>
            <a:r>
              <a:rPr lang="en-US" sz="1400">
                <a:latin typeface="Arial"/>
              </a:rPr>
              <a:t xml:space="preserve"/>
            </a:r>
            <a:endParaRPr lang="en-US"/>
          </a:p>
          <a:p>
            <a:r>
              <a:rPr lang="en-US" sz="1400">
                <a:latin typeface="Arial"/>
              </a:rPr>
              <a:t xml:space="preserve">Source: supplied presentation, Page 7. The proposed hierarchy separates two roles: the strategist is a frozen planning LLM, and the coder is a trainable program-generating LLM. Archive states include programs, constructions, scores, and lineage. The parent selector picks P states. A frozen strategist generates S sequential, distinct plans for each parent. Each coder prompt receives only its own parent and one extracted plan, not the other strategies or hidden strategist reasoning. Equal pilots precede bandit allocation of each parent's fixed remaining budget. Top-r per strategy then top-K per parent feed the archive. Pilot and phase-2 programs train the coder. The coder may correct scientific or interface errors in a strategy. Animation illustrates dependencies, not measured timings.</a:t>
            </a: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Technical Solution: Hierarchical Discovery Pipeline</a:t>
            </a:r>
            <a:endParaRPr lang="en-US"/>
          </a:p>
          <a:p>
            <a:r>
              <a:rPr lang="en-US" sz="1400">
                <a:latin typeface="Arial"/>
              </a:rPr>
              <a:t xml:space="preserve"/>
            </a:r>
            <a:endParaRPr lang="en-US"/>
          </a:p>
          <a:p>
            <a:r>
              <a:rPr lang="en-US" sz="1400">
                <a:latin typeface="Arial"/>
              </a:rPr>
              <a:t xml:space="preserve">Source: supplied presentation, Page 7. The proposed hierarchy separates two roles: the strategist is a frozen planning LLM, and the coder is a trainable program-generating LLM. Archive states include programs, constructions, scores, and lineage. The parent selector picks P states. A frozen strategist generates S sequential, distinct plans for each parent. Each coder prompt receives only its own parent and one extracted plan, not the other strategies or hidden strategist reasoning. Equal pilots precede bandit allocation of each parent's fixed remaining budget. Top-r per strategy then top-K per parent feed the archive. Pilot and phase-2 programs train the coder. The coder may correct scientific or interface errors in a strategy. Animation illustrates dependencies, not measured timings.</a:t>
            </a: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Technical Solution: Hierarchical Discovery Pipeline</a:t>
            </a:r>
            <a:endParaRPr lang="en-US"/>
          </a:p>
          <a:p>
            <a:r>
              <a:rPr lang="en-US" sz="1400">
                <a:latin typeface="Arial"/>
              </a:rPr>
              <a:t xml:space="preserve"/>
            </a:r>
            <a:endParaRPr lang="en-US"/>
          </a:p>
          <a:p>
            <a:r>
              <a:rPr lang="en-US" sz="1400">
                <a:latin typeface="Arial"/>
              </a:rPr>
              <a:t xml:space="preserve">Source: supplied presentation, Page 7. The proposed hierarchy separates two roles: the strategist is a frozen planning LLM, and the coder is a trainable program-generating LLM. Archive states include programs, constructions, scores, and lineage. The parent selector picks P states. A frozen strategist generates S sequential, distinct plans for each parent. Each coder prompt receives only its own parent and one extracted plan, not the other strategies or hidden strategist reasoning. Equal pilots precede bandit allocation of each parent's fixed remaining budget. Top-r per strategy then top-K per parent feed the archive. Pilot and phase-2 programs train the coder. The coder may correct scientific or interface errors in a strategy. Animation illustrates dependencies, not measured timings.</a:t>
            </a: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Technical Solution: Allocation and Policy Training</a:t>
            </a:r>
            <a:endParaRPr lang="en-US"/>
          </a:p>
          <a:p>
            <a:r>
              <a:rPr lang="en-US" sz="1400">
                <a:latin typeface="Arial"/>
              </a:rPr>
              <a:t xml:space="preserve"/>
            </a:r>
            <a:endParaRPr lang="en-US"/>
          </a:p>
          <a:p>
            <a:r>
              <a:rPr lang="en-US" sz="1400">
                <a:latin typeface="Arial"/>
              </a:rPr>
              <a:t xml:space="preserve">Source: supplied presentation, Page 8. H is pilot count per strategy, S strategy count, B the parent's fixed follow-up budget, and a_k integer follow-up allocations. The hurdle model uses strict parent-relative improvement and conditional positive gain. Invalid candidates are zero gain. Expected-best allocation targets the upper tail, not the mean. Fixed-beta SPO² uses transformed rewards and a shared historical moving reference with policy-adaptive retention. A common baseline can assign nonzero advantages to a tied group relative to history but cannot rank identical rewards within that group. Policy parameters remain fixed until accumulated gradients and required evaluation results are ready.</a:t>
            </a: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Observed Allocation: Equal Pilots, Targeted Follow-ups</a:t>
            </a:r>
            <a:endParaRPr lang="en-US"/>
          </a:p>
          <a:p>
            <a:r>
              <a:rPr lang="en-US" sz="1400">
                <a:latin typeface="Arial"/>
              </a:rPr>
              <a:t xml:space="preserve"/>
            </a:r>
            <a:endParaRPr lang="en-US"/>
          </a:p>
          <a:p>
            <a:r>
              <a:rPr lang="en-US" sz="1400">
                <a:latin typeface="Arial"/>
              </a:rPr>
              <a:t xml:space="preserve">Source: runs/erdos_Qwen3.8-27B_1013-0544/step00/step00.summary.json, strategy_pilot_allocation, parent_group=7. Strategies are numbered 1–4 on the slide and indexed 0–3 in the source. Pilot counts are [11,11,11,11], follow-up counts [0,0,17,3], total programs 64. Best pilot C5 is 0.38115914452013333. The best subsequent saved outcome is 0.3809799144362922. The recorded hurdle probabilities and positive-gain summaries remain embedded in evidence.json. The allocator uses the full posterior expected-best gain, rather than just improvement probability or mean gain. This is an actual budget decision and observed outcome, not a counterfactual comparison against uniform allocation. No probabilities are recomputed from final outcomes.</a:t>
            </a: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Observed Allocation: Equal Pilots, Targeted Follow-ups</a:t>
            </a:r>
            <a:endParaRPr lang="en-US"/>
          </a:p>
          <a:p>
            <a:r>
              <a:rPr lang="en-US" sz="1400">
                <a:latin typeface="Arial"/>
              </a:rPr>
              <a:t xml:space="preserve"/>
            </a:r>
            <a:endParaRPr lang="en-US"/>
          </a:p>
          <a:p>
            <a:r>
              <a:rPr lang="en-US" sz="1400">
                <a:latin typeface="Arial"/>
              </a:rPr>
              <a:t xml:space="preserve">Source: runs/erdos_Qwen3.8-27B_1013-0544/step00/step00.summary.json, strategy_pilot_allocation, parent_group=7. Strategies are numbered 1–4 on the slide and indexed 0–3 in the source. Pilot counts are [11,11,11,11], follow-up counts [0,0,17,3], total programs 64. Best pilot C5 is 0.38115914452013333. The best subsequent saved outcome is 0.3809799144362922. The recorded hurdle probabilities and positive-gain summaries remain embedded in evidence.json. The allocator uses the full posterior expected-best gain, rather than just improvement probability or mean gain. This is an actual budget decision and observed outcome, not a counterfactual comparison against uniform allocation. No probabilities are recomputed from final outcomes.</a:t>
            </a: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Observed Allocation: Equal Pilots, Targeted Follow-ups</a:t>
            </a:r>
            <a:endParaRPr lang="en-US"/>
          </a:p>
          <a:p>
            <a:r>
              <a:rPr lang="en-US" sz="1400">
                <a:latin typeface="Arial"/>
              </a:rPr>
              <a:t xml:space="preserve"/>
            </a:r>
            <a:endParaRPr lang="en-US"/>
          </a:p>
          <a:p>
            <a:r>
              <a:rPr lang="en-US" sz="1400">
                <a:latin typeface="Arial"/>
              </a:rPr>
              <a:t xml:space="preserve">Source: runs/erdos_Qwen3.8-27B_1013-0544/step00/step00.summary.json, strategy_pilot_allocation, parent_group=7. Strategies are numbered 1–4 on the slide and indexed 0–3 in the source. Pilot counts are [11,11,11,11], follow-up counts [0,0,17,3], total programs 64. Best pilot C5 is 0.38115914452013333. The best subsequent saved outcome is 0.3809799144362922. The recorded hurdle probabilities and positive-gain summaries remain embedded in evidence.json. The allocator uses the full posterior expected-best gain, rather than just improvement probability or mean gain. This is an actual budget decision and observed outcome, not a counterfactual comparison against uniform allocation. No probabilities are recomputed from final outcomes.</a:t>
            </a: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Observed Allocation: Equal Pilots, Targeted Follow-ups</a:t>
            </a:r>
            <a:endParaRPr lang="en-US"/>
          </a:p>
          <a:p>
            <a:r>
              <a:rPr lang="en-US" sz="1400">
                <a:latin typeface="Arial"/>
              </a:rPr>
              <a:t xml:space="preserve"/>
            </a:r>
            <a:endParaRPr lang="en-US"/>
          </a:p>
          <a:p>
            <a:r>
              <a:rPr lang="en-US" sz="1400">
                <a:latin typeface="Arial"/>
              </a:rPr>
              <a:t xml:space="preserve">Source: runs/erdos_Qwen3.8-27B_1013-0544/step00/step00.summary.json, strategy_pilot_allocation, parent_group=7. Strategies are numbered 1–4 on the slide and indexed 0–3 in the source. Pilot counts are [11,11,11,11], follow-up counts [0,0,17,3], total programs 64. Best pilot C5 is 0.38115914452013333. The best subsequent saved outcome is 0.3809799144362922. The recorded hurdle probabilities and positive-gain summaries remain embedded in evidence.json. The allocator uses the full posterior expected-best gain, rather than just improvement probability or mean gain. This is an actual budget decision and observed outcome, not a counterfactual comparison against uniform allocation. No probabilities are recomputed from final outcomes.</a:t>
            </a:r>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Technical Solution: Dependency-Aware Execution</a:t>
            </a:r>
            <a:endParaRPr lang="en-US"/>
          </a:p>
          <a:p>
            <a:r>
              <a:rPr lang="en-US" sz="1400">
                <a:latin typeface="Arial"/>
              </a:rPr>
              <a:t xml:space="preserve"/>
            </a:r>
            <a:endParaRPr lang="en-US"/>
          </a:p>
          <a:p>
            <a:r>
              <a:rPr lang="en-US" sz="1400">
                <a:latin typeface="Arial"/>
              </a:rPr>
              <a:t xml:space="preserve">Sources: supplied presentation, Page 9, and pipeline_implementation.tex. Completed programs enter CPU evaluation as generation continues. Phase 2 may start when an individual parent's pilot evaluations are ready. In the shared-GPU layout, training begins after generation and required policy scoring, while remaining CPU evaluations continue. Reward-ready backward work can proceed without waiting for unrelated pending evaluations. Parameters are not updated during rollout generation or partial gradient accumulation. One optimizer update follows all required gradients. The historical normalization is frozen for the step. The bar lengths are schematic and do not establish measured speedup or continuous 100% GPU utilization.</a:t>
            </a:r>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Technical Solution: Dependency-Aware Execution</a:t>
            </a:r>
            <a:endParaRPr lang="en-US"/>
          </a:p>
          <a:p>
            <a:r>
              <a:rPr lang="en-US" sz="1400">
                <a:latin typeface="Arial"/>
              </a:rPr>
              <a:t xml:space="preserve"/>
            </a:r>
            <a:endParaRPr lang="en-US"/>
          </a:p>
          <a:p>
            <a:r>
              <a:rPr lang="en-US" sz="1400">
                <a:latin typeface="Arial"/>
              </a:rPr>
              <a:t xml:space="preserve">Sources: supplied presentation, Page 9, and pipeline_implementation.tex. Completed programs enter CPU evaluation as generation continues. Phase 2 may start when an individual parent's pilot evaluations are ready. In the shared-GPU layout, training begins after generation and required policy scoring, while remaining CPU evaluations continue. Reward-ready backward work can proceed without waiting for unrelated pending evaluations. Parameters are not updated during rollout generation or partial gradient accumulation. One optimizer update follows all required gradients. The historical normalization is frozen for the step. The bar lengths are schematic and do not establish measured speedup or continuous 100% GPU utilization.</a:t>
            </a:r>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Technical Solution: Dependency-Aware Execution</a:t>
            </a:r>
            <a:endParaRPr lang="en-US"/>
          </a:p>
          <a:p>
            <a:r>
              <a:rPr lang="en-US" sz="1400">
                <a:latin typeface="Arial"/>
              </a:rPr>
              <a:t xml:space="preserve"/>
            </a:r>
            <a:endParaRPr lang="en-US"/>
          </a:p>
          <a:p>
            <a:r>
              <a:rPr lang="en-US" sz="1400">
                <a:latin typeface="Arial"/>
              </a:rPr>
              <a:t xml:space="preserve">Sources: supplied presentation, Page 9, and pipeline_implementation.tex. Completed programs enter CPU evaluation as generation continues. Phase 2 may start when an individual parent's pilot evaluations are ready. In the shared-GPU layout, training begins after generation and required policy scoring, while remaining CPU evaluations continue. Reward-ready backward work can proceed without waiting for unrelated pending evaluations. Parameters are not updated during rollout generation or partial gradient accumulation. One optimizer update follows all required gradients. The historical normalization is frozen for the step. The bar lengths are schematic and do not establish measured speedup or continuous 100% GPU utilization.</a:t>
            </a:r>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Technical Solution: Dependency-Aware Execution</a:t>
            </a:r>
            <a:endParaRPr lang="en-US"/>
          </a:p>
          <a:p>
            <a:r>
              <a:rPr lang="en-US" sz="1400">
                <a:latin typeface="Arial"/>
              </a:rPr>
              <a:t xml:space="preserve"/>
            </a:r>
            <a:endParaRPr lang="en-US"/>
          </a:p>
          <a:p>
            <a:r>
              <a:rPr lang="en-US" sz="1400">
                <a:latin typeface="Arial"/>
              </a:rPr>
              <a:t xml:space="preserve">Sources: supplied presentation, Page 9, and pipeline_implementation.tex. Completed programs enter CPU evaluation as generation continues. Phase 2 may start when an individual parent's pilot evaluations are ready. In the shared-GPU layout, training begins after generation and required policy scoring, while remaining CPU evaluations continue. Reward-ready backward work can proceed without waiting for unrelated pending evaluations. Parameters are not updated during rollout generation or partial gradient accumulation. One optimizer update follows all required gradients. The historical normalization is frozen for the step. The bar lengths are schematic and do not establish measured speedup or continuous 100% GPU utilization.</a:t>
            </a:r>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Distinguishing Features of the Idea</a:t>
            </a:r>
            <a:endParaRPr lang="en-US"/>
          </a:p>
          <a:p>
            <a:r>
              <a:rPr lang="en-US" sz="1400">
                <a:latin typeface="Arial"/>
              </a:rPr>
              <a:t xml:space="preserve"/>
            </a:r>
            <a:endParaRPr lang="en-US"/>
          </a:p>
          <a:p>
            <a:r>
              <a:rPr lang="en-US" sz="1400">
                <a:latin typeface="Arial"/>
              </a:rPr>
              <a:t xml:space="preserve">Source: supplied presentation, Page 10. Lineage is the recorded parent–child ancestry. PUCT combines best-child reward, archive priors, and expansion counts for parent selection. The hierarchy, allocator, training reference, archive controls, and execution dependencies form the technical disclosure. Internal records can show which mechanisms a system implements. Legal novelty and claim scope require a separate closest-reference assessment.</a:t>
            </a:r>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Advantageous Effects: Construction-Level Exploration</a:t>
            </a:r>
            <a:endParaRPr lang="en-US"/>
          </a:p>
          <a:p>
            <a:r>
              <a:rPr lang="en-US" sz="1400">
                <a:latin typeface="Arial"/>
              </a:rPr>
              <a:t xml:space="preserve"/>
            </a:r>
            <a:endParaRPr lang="en-US"/>
          </a:p>
          <a:p>
            <a:r>
              <a:rPr lang="en-US" sz="1400">
                <a:latin typeface="Arial"/>
              </a:rPr>
              <a:t xml:space="preserve">Sources: output/pdf/strategy_exploration_comparison.json and the supplied behavioral-ablation figure. Shared horizon is steps 0–19, with 192 coder attempts per step in each run. With strategist: erdos_Qwen3-8B_1007-2324. Without strategist: erdos_Qwen3-8B_1008-0537. Distinct valid non-parent constructions are deduplicated within each step and compared against every selected parent. Parent copies count repeated valid outputs. Equivalence compares normalized piecewise-constant functions on the exact union grid, modulo reflection/complement, tolerance 1e-8. All attempts, including invalid outputs and retries, form the denominator. At step 19, parent-copy percentages are 2.0833 and 92.1875, distinct percentages 14.0625 and 1.0417. One saved run per condition; no equal-compute causal claim or token-entropy conclusion.</a:t>
            </a:r>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Experiments: Coder Learning and Reward Design</a:t>
            </a:r>
            <a:endParaRPr lang="en-US"/>
          </a:p>
          <a:p>
            <a:r>
              <a:rPr lang="en-US" sz="1400">
                <a:latin typeface="Arial"/>
              </a:rPr>
              <a:t xml:space="preserve"/>
            </a:r>
            <a:endParaRPr lang="en-US"/>
          </a:p>
          <a:p>
            <a:r>
              <a:rPr lang="en-US" sz="1400">
                <a:latin typeface="Arial"/>
              </a:rPr>
              <a:t xml:space="preserve">Source: /Users/mohammad/Downloads/Copy of report.pdf, pages 6 and 12. The report's later table names the historical risk-sensitive SPO variant SPO²; this deck uses that requested naming consistently. Frozen R1-Distill-Qwen-32B with Qwen3-Coder-30B-A3B-Instruct: RL off, 4.2k programs, reward-positive 70.38%, best C5 0.381009; binary-PPO, 2.3k, 68.61%, 0.381086; SPO², 4.8k, 63.74%, 0.380971. Direct Qwen3-8B: entropic-GRPO, 12.2k, 85.23%, 0.380988; SPO², 4.6k, 78.39%, 0.380980. These are rounded report snapshots, not recomputed final totals. Configurations in runs/erdos-old confirm frozen planner, no_train, binary_coder_training and advantage_mode distinctions. Budgets, search histories and other settings are not fully controlled. The tied-group rationale is a property of the normalization, not a measured isolated cause of the reported score gap. No claim that training the strategist would perform worse is made.</a:t>
            </a:r>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Experiments: Planning and Coding Models</a:t>
            </a:r>
            <a:endParaRPr lang="en-US"/>
          </a:p>
          <a:p>
            <a:r>
              <a:rPr lang="en-US" sz="1400">
                <a:latin typeface="Arial"/>
              </a:rPr>
              <a:t xml:space="preserve"/>
            </a:r>
            <a:endParaRPr lang="en-US"/>
          </a:p>
          <a:p>
            <a:r>
              <a:rPr lang="en-US" sz="1400">
                <a:latin typeface="Arial"/>
              </a:rPr>
              <a:t xml:space="preserve">Source: /Users/mohammad/Downloads/Copy of report.pdf, pages 7, 8 and 12. Planner comparison with Qwen3-8B coder and entropic-GRPO, without bandit: Qwen3-8B strategist, 6.6k programs, reward-positive 64.02%, C5 0.381022; R1-Distill-Qwen-32B strategist, 3.1k, 43.45%, 0.380919. Coder comparison with the same R1-Distill-Qwen-32B planner: Qwen3-Coder-30B-A3B-Instruct and SPO², 4.8k, 63.74%, 0.380971; Qwen3-8B and entropic-GRPO, 3.1k, 43.45%, 0.380919. Reports use Qwen3-Coder-30B-Instruct as a shortened model name. Run configurations identify the full A3B-Instruct name. These observations motivate evaluating the planner and coder separately, but do not establish a general scaling law, a matched-compute planner effect, or superiority of one coder size. Reward-positive rate is the report's recorded metric, not a measure of novelty or entropy.</a:t>
            </a:r>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Experiments: Two Runs of the Full Pipeline</a:t>
            </a:r>
            <a:endParaRPr lang="en-US"/>
          </a:p>
          <a:p>
            <a:r>
              <a:rPr lang="en-US" sz="1400">
                <a:latin typeface="Arial"/>
              </a:rPr>
              <a:t xml:space="preserve"/>
            </a:r>
            <a:endParaRPr lang="en-US"/>
          </a:p>
          <a:p>
            <a:r>
              <a:rPr lang="en-US" sz="1400">
                <a:latin typeface="Arial"/>
              </a:rPr>
              <a:t xml:space="preserve">Sources: runs/erdos_Qwen3.8-27B_GRPO-Strategy1/config.json and step00 through step06 summary files; runs/erdos_Qwen3.8-27B_1013-0544/config.json and step00 through step06 summary files. The earlier directory corresponds to original run erdos_Qwen3.8-27B_1006-0453. Both configurations use 8 parents, 4 strategies per parent, and 11 pilots per strategy. Earlier: group_size=68, 544 planned programs/step and 24 follow-ups/parent, entropic objective; step-6 best 0.3808909130751305. 0544: group_size=64, 512 planned programs/step and 20 follow-ups/parent, fixed-beta SPO²; step-6 best 0.38086141036211585. Charted values are best_seen_raw_score from seven completed summaries each, not approximations transcribed from screenshots. Coder context limits, effort handling, prompts, software and evolving parent histories also differ, so do not attribute the gap solely to SPO² or the allocator. The separate behavioral strategist ablation and the observed allocation/ancestry have different evidentiary scopes.</a:t>
            </a:r>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Advantageous Effects: Saved Construction Evolution</a:t>
            </a:r>
            <a:endParaRPr lang="en-US"/>
          </a:p>
          <a:p>
            <a:r>
              <a:rPr lang="en-US" sz="1400">
                <a:latin typeface="Arial"/>
              </a:rPr>
              <a:t xml:space="preserve"/>
            </a:r>
            <a:endParaRPr lang="en-US"/>
          </a:p>
          <a:p>
            <a:r>
              <a:rPr lang="en-US" sz="1400">
                <a:latin typeface="Arial"/>
              </a:rPr>
              <a:t xml:space="preserve">Sources: valid rollout metadata with minimum raw_score in steps 0, 3, 7, and 10 of erdos_Qwen3.8-27B_1013-0544. Exact file IDs, resolutions, raw scores, and raw arrays are embedded in evidence.json and this deck. h(x) lies in [0,1] on [0,2] and integrates to 1. The display matches plot_erdos.py's canonical_orientation: among h, 1-h, reflected h, and reflected 1-h, choose the form with the least mean mass at the ends. These symmetries preserve the C5 objective and integral. The raw saved arrays are unchanged. These snapshots show saved outputs, not independent replications or proof that a particular component caused each improvement. Model effort and other run settings changed during later resumes, so the curve is an end-to-end trajectory rather than an isolated effort ablation.</a:t>
            </a:r>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Advantageous Effects: Evaluated Scientific Result</a:t>
            </a:r>
            <a:endParaRPr lang="en-US"/>
          </a:p>
          <a:p>
            <a:r>
              <a:rPr lang="en-US" sz="1400">
                <a:latin typeface="Arial"/>
              </a:rPr>
              <a:t xml:space="preserve"/>
            </a:r>
            <a:endParaRPr lang="en-US"/>
          </a:p>
          <a:p>
            <a:r>
              <a:rPr lang="en-US" sz="1400">
                <a:latin typeface="Arial"/>
              </a:rPr>
              <a:t xml:space="preserve">Source: runs/erdos_Qwen3.8-27B_1013-0544/step10/step10.best.json. Stored raw_score 0.3808606343399664, 700 entries. The objective is max linear correlation of h and 1-h, multiplied by 2/n, with bounds 0–1 and unit integral. Curve: completed step summaries 0–10. The reference 0.380868 is the historical SimpleTES comparison supplied with the presentation, not a statement about the current world record. The figures refer consistently to the exact saved 0544 result. No independent mathematical certification or new record survey is claimed.</a:t>
            </a:r>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Value Statement for Obtaining a Patent</a:t>
            </a:r>
            <a:endParaRPr lang="en-US"/>
          </a:p>
          <a:p>
            <a:r>
              <a:rPr lang="en-US" sz="1400">
                <a:latin typeface="Arial"/>
              </a:rPr>
              <a:t xml:space="preserve"/>
            </a:r>
            <a:endParaRPr lang="en-US"/>
          </a:p>
          <a:p>
            <a:r>
              <a:rPr lang="en-US" sz="1400">
                <a:latin typeface="Arial"/>
              </a:rPr>
              <a:t xml:space="preserve">Source: supplied presentation, Page 12. External-output-only detection may be difficult. Commercial and legal conclusions require their own assessment. The proposed value statement does not claim legal validity, unavoidable infringement, measured commercial savings, or a formal prior-art search. Supporting evidence is internal technical operation and saved experimental outputs. Official submission and legal assessment are separate.</a:t>
            </a:r>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sz="1400">
                <a:latin typeface="Arial"/>
              </a:rPr>
              <a:t xml:space="preserve">Thank you</a:t>
            </a:r>
            <a:endParaRPr lang="en-US"/>
          </a:p>
          <a:p>
            <a:r>
              <a:rPr lang="en-US" sz="1400">
                <a:latin typeface="Arial"/>
              </a:rPr>
              <a:t xml:space="preserve"/>
            </a:r>
            <a:endParaRPr lang="en-US"/>
          </a:p>
          <a:p>
            <a:r>
              <a:rPr lang="en-US" sz="1400">
                <a:latin typeface="Arial"/>
              </a:rPr>
              <a:t xml:space="preserve">The technical proposal separates scientific planning from coder learning, directs additional rollouts using observed pilot outcomes, and retains a common historical training reference. Behavioral evidence concerns continued exploration. The saved scientific construction demonstrates one end-to-end evaluated result.</a:t>
            </a:r>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DF-matched master">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1.png"/><Relationship Id="rId4"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2.png"/><Relationship Id="rId4"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3.png"/><Relationship Id="rId4"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4.png"/><Relationship Id="rId4"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5.png"/><Relationship Id="rId4"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6.png"/><Relationship Id="rId4"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7.png"/><Relationship Id="rId4"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8.png"/><Relationship Id="rId4"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9.png"/><Relationship Id="rId4"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10.png"/><Relationship Id="rId4"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11.png"/><Relationship Id="rId4"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12.png"/><Relationship Id="rId4"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13.png"/><Relationship Id="rId4"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14.png"/><Relationship Id="rId4"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15.png"/><Relationship Id="rId4"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16.png"/><Relationship Id="rId4"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17.png"/><Relationship Id="rId4"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18.png"/><Relationship Id="rId4"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19.png"/><Relationship Id="rId4"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20.png"/><Relationship Id="rId4"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21.png"/><Relationship Id="rId4"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22.png"/><Relationship Id="rId4"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23.png"/><Relationship Id="rId4"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24.png"/><Relationship Id="rId4"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25.png"/><Relationship Id="rId4"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26.png"/><Relationship Id="rId4"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27.png"/><Relationship Id="rId4"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28.png"/><Relationship Id="rId4"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29.png"/><Relationship Id="rId4"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background-30.png"/><Relationship Id="rId4"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Hierarchical Bandit-Guided Scientific Discovery">
    <p:spTree>
      <p:nvGrpSpPr>
        <p:cNvPr id="1" name=""/>
        <p:cNvGrpSpPr/>
        <p:nvPr/>
      </p:nvGrpSpPr>
      <p:grpSpPr>
        <a:xfrm>
          <a:off x="0" y="0"/>
          <a:ext cx="0" cy="0"/>
          <a:chOff x="0" y="0"/>
          <a:chExt cx="0" cy="0"/>
        </a:xfrm>
      </p:grpSpPr>
      <p:pic>
        <p:nvPicPr>
          <p:cNvPr id="2" name="Hierarchical Bandit-Guided Scientific Discovery graphic elements" descr="Hierarchical Bandit-Guided Scientific Discovery graphic elements"/>
          <p:cNvPicPr>
            <a:picLocks noChangeAspect="1"/>
          </p:cNvPicPr>
          <p:nvPr/>
        </p:nvPicPr>
        <p:blipFill>
          <a:blip r:embed="rId2"/>
          <a:stretch>
            <a:fillRect/>
          </a:stretch>
        </p:blipFill>
        <p:spPr>
          <a:xfrm>
            <a:off x="0" y="0"/>
            <a:ext cx="12192000" cy="6858000"/>
          </a:xfrm>
          <a:prstGeom prst="rect">
            <a:avLst/>
          </a:prstGeom>
        </p:spPr>
      </p:pic>
      <p:sp>
        <p:nvSpPr>
          <p:cNvPr id="3" name="PATENT REVIEW"/>
          <p:cNvSpPr txBox="1"/>
          <p:nvPr/>
        </p:nvSpPr>
        <p:spPr>
          <a:xfrm rot="0">
            <a:off x="619125" y="1038225"/>
            <a:ext cx="1540371"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25" b="0" i="0" spc="180">
                <a:solidFill>
                  <a:srgbClr val="C7000B"/>
                </a:solidFill>
                <a:latin typeface="Arial"/>
              </a:rPr>
              <a:t xml:space="preserve">PATENT REVIEW</a:t>
            </a:r>
            <a:endParaRPr lang="en-US"/>
          </a:p>
        </p:txBody>
      </p:sp>
      <p:sp>
        <p:nvSpPr>
          <p:cNvPr id="4" name="Hierarchical Bandit-Guided"/>
          <p:cNvSpPr txBox="1"/>
          <p:nvPr/>
        </p:nvSpPr>
        <p:spPr>
          <a:xfrm rot="0">
            <a:off x="590550" y="1600200"/>
            <a:ext cx="11010900" cy="561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3825" b="1" i="0" spc="-105">
                <a:solidFill>
                  <a:srgbClr val="202328"/>
                </a:solidFill>
                <a:latin typeface="Arial"/>
              </a:rPr>
              <a:t xml:space="preserve">Hierarchical Bandit-Guided</a:t>
            </a:r>
            <a:endParaRPr lang="en-US"/>
          </a:p>
        </p:txBody>
      </p:sp>
      <p:sp>
        <p:nvSpPr>
          <p:cNvPr id="5" name="Scientific Discovery"/>
          <p:cNvSpPr txBox="1"/>
          <p:nvPr/>
        </p:nvSpPr>
        <p:spPr>
          <a:xfrm rot="0">
            <a:off x="590550" y="2134493"/>
            <a:ext cx="11010900" cy="561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3825" b="1" i="0" spc="-105">
                <a:solidFill>
                  <a:srgbClr val="202328"/>
                </a:solidFill>
                <a:latin typeface="Arial"/>
              </a:rPr>
              <a:t xml:space="preserve">Scientific Discovery</a:t>
            </a:r>
            <a:endParaRPr lang="en-US"/>
          </a:p>
        </p:txBody>
      </p:sp>
      <p:sp>
        <p:nvSpPr>
          <p:cNvPr id="6" name="Language models generate programs that construct scientific solutions."/>
          <p:cNvSpPr txBox="1"/>
          <p:nvPr/>
        </p:nvSpPr>
        <p:spPr>
          <a:xfrm rot="0">
            <a:off x="619125" y="3495675"/>
            <a:ext cx="8299936" cy="3048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025" b="0" i="0" spc="0">
                <a:solidFill>
                  <a:srgbClr val="59616C"/>
                </a:solidFill>
                <a:latin typeface="Arial"/>
              </a:rPr>
              <a:t xml:space="preserve">Language models generate programs that construct scientific solutions.</a:t>
            </a:r>
            <a:endParaRPr lang="en-US"/>
          </a:p>
        </p:txBody>
      </p:sp>
      <p:sp>
        <p:nvSpPr>
          <p:cNvPr id="7" name="Evaluated outcomes guide search and improve the generating model."/>
          <p:cNvSpPr txBox="1"/>
          <p:nvPr/>
        </p:nvSpPr>
        <p:spPr>
          <a:xfrm rot="0">
            <a:off x="619125" y="3855690"/>
            <a:ext cx="8100209" cy="3048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025" b="0" i="0" spc="0">
                <a:solidFill>
                  <a:srgbClr val="59616C"/>
                </a:solidFill>
                <a:latin typeface="Arial"/>
              </a:rPr>
              <a:t xml:space="preserve">Evaluated outcomes guide search and improve the generating model.</a:t>
            </a:r>
            <a:endParaRPr lang="en-US"/>
          </a:p>
        </p:txBody>
      </p:sp>
      <p:sp>
        <p:nvSpPr>
          <p:cNvPr id="8" name="Technical solution and observed experimental evidence"/>
          <p:cNvSpPr txBox="1"/>
          <p:nvPr/>
        </p:nvSpPr>
        <p:spPr>
          <a:xfrm rot="0">
            <a:off x="619125" y="4705350"/>
            <a:ext cx="4803577"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59616C"/>
                </a:solidFill>
                <a:latin typeface="Arial"/>
              </a:rPr>
              <a:t xml:space="preserve">Technical solution and observed experimental evidence</a:t>
            </a:r>
            <a:endParaRPr lang="en-US"/>
          </a:p>
        </p:txBody>
      </p:sp>
      <p:sp>
        <p:nvSpPr>
          <p:cNvPr id="9"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10"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11" name="Page 1"/>
          <p:cNvSpPr txBox="1"/>
          <p:nvPr/>
        </p:nvSpPr>
        <p:spPr>
          <a:xfrm rot="0">
            <a:off x="5985867" y="6434138"/>
            <a:ext cx="4424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1</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Contents">
    <p:spTree>
      <p:nvGrpSpPr>
        <p:cNvPr id="1" name=""/>
        <p:cNvGrpSpPr/>
        <p:nvPr/>
      </p:nvGrpSpPr>
      <p:grpSpPr>
        <a:xfrm>
          <a:off x="0" y="0"/>
          <a:ext cx="0" cy="0"/>
          <a:chOff x="0" y="0"/>
          <a:chExt cx="0" cy="0"/>
        </a:xfrm>
      </p:grpSpPr>
      <p:pic>
        <p:nvPicPr>
          <p:cNvPr id="2" name="Contents graphic elements" descr="Contents graphic elements"/>
          <p:cNvPicPr>
            <a:picLocks noChangeAspect="1"/>
          </p:cNvPicPr>
          <p:nvPr/>
        </p:nvPicPr>
        <p:blipFill>
          <a:blip r:embed="rId2"/>
          <a:stretch>
            <a:fillRect/>
          </a:stretch>
        </p:blipFill>
        <p:spPr>
          <a:xfrm>
            <a:off x="0" y="0"/>
            <a:ext cx="12192000" cy="6858000"/>
          </a:xfrm>
          <a:prstGeom prst="rect">
            <a:avLst/>
          </a:prstGeom>
        </p:spPr>
      </p:pic>
      <p:sp>
        <p:nvSpPr>
          <p:cNvPr id="3" name="Contents"/>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Contents</a:t>
            </a:r>
            <a:endParaRPr lang="en-US"/>
          </a:p>
        </p:txBody>
      </p:sp>
      <p:sp>
        <p:nvSpPr>
          <p:cNvPr id="4" name="•"/>
          <p:cNvSpPr txBox="1"/>
          <p:nvPr/>
        </p:nvSpPr>
        <p:spPr>
          <a:xfrm rot="0">
            <a:off x="625793" y="1352550"/>
            <a:ext cx="416242"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0" i="0" spc="0">
                <a:solidFill>
                  <a:srgbClr val="202328"/>
                </a:solidFill>
                <a:latin typeface="Arial"/>
              </a:rPr>
              <a:t xml:space="preserve">•</a:t>
            </a:r>
            <a:endParaRPr lang="en-US"/>
          </a:p>
        </p:txBody>
      </p:sp>
      <p:sp>
        <p:nvSpPr>
          <p:cNvPr id="5" name="Idea Compliance Check"/>
          <p:cNvSpPr txBox="1"/>
          <p:nvPr/>
        </p:nvSpPr>
        <p:spPr>
          <a:xfrm rot="0">
            <a:off x="866775" y="1352550"/>
            <a:ext cx="2479238"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0" i="0" spc="0">
                <a:solidFill>
                  <a:srgbClr val="202328"/>
                </a:solidFill>
                <a:latin typeface="Arial"/>
              </a:rPr>
              <a:t xml:space="preserve">Idea Compliance Check</a:t>
            </a:r>
            <a:endParaRPr lang="en-US"/>
          </a:p>
        </p:txBody>
      </p:sp>
      <p:sp>
        <p:nvSpPr>
          <p:cNvPr id="6" name="•"/>
          <p:cNvSpPr txBox="1"/>
          <p:nvPr/>
        </p:nvSpPr>
        <p:spPr>
          <a:xfrm rot="0">
            <a:off x="625793" y="1754535"/>
            <a:ext cx="416242"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0" i="0" spc="0">
                <a:solidFill>
                  <a:srgbClr val="202328"/>
                </a:solidFill>
                <a:latin typeface="Arial"/>
              </a:rPr>
              <a:t xml:space="preserve">•</a:t>
            </a:r>
            <a:endParaRPr lang="en-US"/>
          </a:p>
        </p:txBody>
      </p:sp>
      <p:sp>
        <p:nvSpPr>
          <p:cNvPr id="7" name="Background"/>
          <p:cNvSpPr txBox="1"/>
          <p:nvPr/>
        </p:nvSpPr>
        <p:spPr>
          <a:xfrm rot="0">
            <a:off x="866775" y="1754535"/>
            <a:ext cx="1322546"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0" i="0" spc="0">
                <a:solidFill>
                  <a:srgbClr val="202328"/>
                </a:solidFill>
                <a:latin typeface="Arial"/>
              </a:rPr>
              <a:t xml:space="preserve">Background</a:t>
            </a:r>
            <a:endParaRPr lang="en-US"/>
          </a:p>
        </p:txBody>
      </p:sp>
      <p:sp>
        <p:nvSpPr>
          <p:cNvPr id="8" name="◦"/>
          <p:cNvSpPr txBox="1"/>
          <p:nvPr/>
        </p:nvSpPr>
        <p:spPr>
          <a:xfrm rot="0">
            <a:off x="923925" y="2108895"/>
            <a:ext cx="361950"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a:t>
            </a:r>
            <a:endParaRPr lang="en-US"/>
          </a:p>
        </p:txBody>
      </p:sp>
      <p:sp>
        <p:nvSpPr>
          <p:cNvPr id="9" name="LLM-Based Scientific Discovery"/>
          <p:cNvSpPr txBox="1"/>
          <p:nvPr/>
        </p:nvSpPr>
        <p:spPr>
          <a:xfrm rot="0">
            <a:off x="1133475" y="2108895"/>
            <a:ext cx="2811959"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LLM-Based Scientific Discovery</a:t>
            </a:r>
            <a:endParaRPr lang="en-US"/>
          </a:p>
        </p:txBody>
      </p:sp>
      <p:sp>
        <p:nvSpPr>
          <p:cNvPr id="10" name="◦"/>
          <p:cNvSpPr txBox="1"/>
          <p:nvPr/>
        </p:nvSpPr>
        <p:spPr>
          <a:xfrm rot="0">
            <a:off x="923925" y="2394645"/>
            <a:ext cx="361950"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a:t>
            </a:r>
            <a:endParaRPr lang="en-US"/>
          </a:p>
        </p:txBody>
      </p:sp>
      <p:sp>
        <p:nvSpPr>
          <p:cNvPr id="11" name="Prior Art: Candidate Sampling and Search"/>
          <p:cNvSpPr txBox="1"/>
          <p:nvPr/>
        </p:nvSpPr>
        <p:spPr>
          <a:xfrm rot="0">
            <a:off x="1133475" y="2394645"/>
            <a:ext cx="3670250"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Prior Art: Candidate Sampling and Search</a:t>
            </a:r>
            <a:endParaRPr lang="en-US"/>
          </a:p>
        </p:txBody>
      </p:sp>
      <p:sp>
        <p:nvSpPr>
          <p:cNvPr id="12" name="◦"/>
          <p:cNvSpPr txBox="1"/>
          <p:nvPr/>
        </p:nvSpPr>
        <p:spPr>
          <a:xfrm rot="0">
            <a:off x="923925" y="2680395"/>
            <a:ext cx="361950"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a:t>
            </a:r>
            <a:endParaRPr lang="en-US"/>
          </a:p>
        </p:txBody>
      </p:sp>
      <p:sp>
        <p:nvSpPr>
          <p:cNvPr id="13" name="Technical Problems in Existing Approaches"/>
          <p:cNvSpPr txBox="1"/>
          <p:nvPr/>
        </p:nvSpPr>
        <p:spPr>
          <a:xfrm rot="0">
            <a:off x="1133475" y="2680395"/>
            <a:ext cx="3765352"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Technical Problems in Existing Approaches</a:t>
            </a:r>
            <a:endParaRPr lang="en-US"/>
          </a:p>
        </p:txBody>
      </p:sp>
      <p:sp>
        <p:nvSpPr>
          <p:cNvPr id="14" name="•"/>
          <p:cNvSpPr txBox="1"/>
          <p:nvPr/>
        </p:nvSpPr>
        <p:spPr>
          <a:xfrm rot="0">
            <a:off x="625793" y="3042345"/>
            <a:ext cx="416242"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0" i="0" spc="0">
                <a:solidFill>
                  <a:srgbClr val="202328"/>
                </a:solidFill>
                <a:latin typeface="Arial"/>
              </a:rPr>
              <a:t xml:space="preserve">•</a:t>
            </a:r>
            <a:endParaRPr lang="en-US"/>
          </a:p>
        </p:txBody>
      </p:sp>
      <p:sp>
        <p:nvSpPr>
          <p:cNvPr id="15" name="Technical Solution"/>
          <p:cNvSpPr txBox="1"/>
          <p:nvPr/>
        </p:nvSpPr>
        <p:spPr>
          <a:xfrm rot="0">
            <a:off x="866775" y="3042345"/>
            <a:ext cx="1919347"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0" i="0" spc="0">
                <a:solidFill>
                  <a:srgbClr val="202328"/>
                </a:solidFill>
                <a:latin typeface="Arial"/>
              </a:rPr>
              <a:t xml:space="preserve">Technical Solution</a:t>
            </a:r>
            <a:endParaRPr lang="en-US"/>
          </a:p>
        </p:txBody>
      </p:sp>
      <p:sp>
        <p:nvSpPr>
          <p:cNvPr id="16" name="◦"/>
          <p:cNvSpPr txBox="1"/>
          <p:nvPr/>
        </p:nvSpPr>
        <p:spPr>
          <a:xfrm rot="0">
            <a:off x="923925" y="3396704"/>
            <a:ext cx="361950"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a:t>
            </a:r>
            <a:endParaRPr lang="en-US"/>
          </a:p>
        </p:txBody>
      </p:sp>
      <p:sp>
        <p:nvSpPr>
          <p:cNvPr id="17" name="Hierarchical Discovery Pipeline"/>
          <p:cNvSpPr txBox="1"/>
          <p:nvPr/>
        </p:nvSpPr>
        <p:spPr>
          <a:xfrm rot="0">
            <a:off x="1133475" y="3396704"/>
            <a:ext cx="2758976"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Hierarchical Discovery Pipeline</a:t>
            </a:r>
            <a:endParaRPr lang="en-US"/>
          </a:p>
        </p:txBody>
      </p:sp>
      <p:sp>
        <p:nvSpPr>
          <p:cNvPr id="18" name="◦"/>
          <p:cNvSpPr txBox="1"/>
          <p:nvPr/>
        </p:nvSpPr>
        <p:spPr>
          <a:xfrm rot="0">
            <a:off x="923925" y="3682454"/>
            <a:ext cx="361950"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a:t>
            </a:r>
            <a:endParaRPr lang="en-US"/>
          </a:p>
        </p:txBody>
      </p:sp>
      <p:sp>
        <p:nvSpPr>
          <p:cNvPr id="19" name="Allocation and Policy Training"/>
          <p:cNvSpPr txBox="1"/>
          <p:nvPr/>
        </p:nvSpPr>
        <p:spPr>
          <a:xfrm rot="0">
            <a:off x="1133475" y="3682454"/>
            <a:ext cx="2621905"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Allocation and Policy Training</a:t>
            </a:r>
            <a:endParaRPr lang="en-US"/>
          </a:p>
        </p:txBody>
      </p:sp>
      <p:sp>
        <p:nvSpPr>
          <p:cNvPr id="20" name="◦"/>
          <p:cNvSpPr txBox="1"/>
          <p:nvPr/>
        </p:nvSpPr>
        <p:spPr>
          <a:xfrm rot="0">
            <a:off x="923925" y="3968204"/>
            <a:ext cx="361950"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a:t>
            </a:r>
            <a:endParaRPr lang="en-US"/>
          </a:p>
        </p:txBody>
      </p:sp>
      <p:sp>
        <p:nvSpPr>
          <p:cNvPr id="21" name="Dependency-Aware Execution"/>
          <p:cNvSpPr txBox="1"/>
          <p:nvPr/>
        </p:nvSpPr>
        <p:spPr>
          <a:xfrm rot="0">
            <a:off x="1133475" y="3968204"/>
            <a:ext cx="2692598"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Dependency-Aware Execution</a:t>
            </a:r>
            <a:endParaRPr lang="en-US"/>
          </a:p>
        </p:txBody>
      </p:sp>
      <p:sp>
        <p:nvSpPr>
          <p:cNvPr id="22" name="•"/>
          <p:cNvSpPr txBox="1"/>
          <p:nvPr/>
        </p:nvSpPr>
        <p:spPr>
          <a:xfrm rot="0">
            <a:off x="625793" y="4330154"/>
            <a:ext cx="416242"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0" i="0" spc="0">
                <a:solidFill>
                  <a:srgbClr val="202328"/>
                </a:solidFill>
                <a:latin typeface="Arial"/>
              </a:rPr>
              <a:t xml:space="preserve">•</a:t>
            </a:r>
            <a:endParaRPr lang="en-US"/>
          </a:p>
        </p:txBody>
      </p:sp>
      <p:sp>
        <p:nvSpPr>
          <p:cNvPr id="23" name="Distinguishing Features of the Idea"/>
          <p:cNvSpPr txBox="1"/>
          <p:nvPr/>
        </p:nvSpPr>
        <p:spPr>
          <a:xfrm rot="0">
            <a:off x="866775" y="4330154"/>
            <a:ext cx="3538895"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0" i="0" spc="0">
                <a:solidFill>
                  <a:srgbClr val="202328"/>
                </a:solidFill>
                <a:latin typeface="Arial"/>
              </a:rPr>
              <a:t xml:space="preserve">Distinguishing Features of the Idea</a:t>
            </a:r>
            <a:endParaRPr lang="en-US"/>
          </a:p>
        </p:txBody>
      </p:sp>
      <p:sp>
        <p:nvSpPr>
          <p:cNvPr id="24" name="•"/>
          <p:cNvSpPr txBox="1"/>
          <p:nvPr/>
        </p:nvSpPr>
        <p:spPr>
          <a:xfrm rot="0">
            <a:off x="625793" y="4732139"/>
            <a:ext cx="416242"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0" i="0" spc="0">
                <a:solidFill>
                  <a:srgbClr val="202328"/>
                </a:solidFill>
                <a:latin typeface="Arial"/>
              </a:rPr>
              <a:t xml:space="preserve">•</a:t>
            </a:r>
            <a:endParaRPr lang="en-US"/>
          </a:p>
        </p:txBody>
      </p:sp>
      <p:sp>
        <p:nvSpPr>
          <p:cNvPr id="25" name="Experiments and Design Rationale"/>
          <p:cNvSpPr txBox="1"/>
          <p:nvPr/>
        </p:nvSpPr>
        <p:spPr>
          <a:xfrm rot="0">
            <a:off x="866775" y="4732139"/>
            <a:ext cx="3526691"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0" i="0" spc="0">
                <a:solidFill>
                  <a:srgbClr val="202328"/>
                </a:solidFill>
                <a:latin typeface="Arial"/>
              </a:rPr>
              <a:t xml:space="preserve">Experiments and Design Rationale</a:t>
            </a:r>
            <a:endParaRPr lang="en-US"/>
          </a:p>
        </p:txBody>
      </p:sp>
      <p:sp>
        <p:nvSpPr>
          <p:cNvPr id="26" name="•"/>
          <p:cNvSpPr txBox="1"/>
          <p:nvPr/>
        </p:nvSpPr>
        <p:spPr>
          <a:xfrm rot="0">
            <a:off x="625793" y="5134124"/>
            <a:ext cx="416242"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0" i="0" spc="0">
                <a:solidFill>
                  <a:srgbClr val="202328"/>
                </a:solidFill>
                <a:latin typeface="Arial"/>
              </a:rPr>
              <a:t xml:space="preserve">•</a:t>
            </a:r>
            <a:endParaRPr lang="en-US"/>
          </a:p>
        </p:txBody>
      </p:sp>
      <p:sp>
        <p:nvSpPr>
          <p:cNvPr id="27" name="Advantageous Effects of the Idea"/>
          <p:cNvSpPr txBox="1"/>
          <p:nvPr/>
        </p:nvSpPr>
        <p:spPr>
          <a:xfrm rot="0">
            <a:off x="866775" y="5134124"/>
            <a:ext cx="3376970"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0" i="0" spc="0">
                <a:solidFill>
                  <a:srgbClr val="202328"/>
                </a:solidFill>
                <a:latin typeface="Arial"/>
              </a:rPr>
              <a:t xml:space="preserve">Advantageous Effects of the Idea</a:t>
            </a:r>
            <a:endParaRPr lang="en-US"/>
          </a:p>
        </p:txBody>
      </p:sp>
      <p:sp>
        <p:nvSpPr>
          <p:cNvPr id="28" name="•"/>
          <p:cNvSpPr txBox="1"/>
          <p:nvPr/>
        </p:nvSpPr>
        <p:spPr>
          <a:xfrm rot="0">
            <a:off x="625793" y="5536109"/>
            <a:ext cx="416242"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0" i="0" spc="0">
                <a:solidFill>
                  <a:srgbClr val="202328"/>
                </a:solidFill>
                <a:latin typeface="Arial"/>
              </a:rPr>
              <a:t xml:space="preserve">•</a:t>
            </a:r>
            <a:endParaRPr lang="en-US"/>
          </a:p>
        </p:txBody>
      </p:sp>
      <p:sp>
        <p:nvSpPr>
          <p:cNvPr id="29" name="Value Statement for Obtaining a Patent"/>
          <p:cNvSpPr txBox="1"/>
          <p:nvPr/>
        </p:nvSpPr>
        <p:spPr>
          <a:xfrm rot="0">
            <a:off x="866775" y="5536109"/>
            <a:ext cx="3949065"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0" i="0" spc="0">
                <a:solidFill>
                  <a:srgbClr val="202328"/>
                </a:solidFill>
                <a:latin typeface="Arial"/>
              </a:rPr>
              <a:t xml:space="preserve">Value Statement for Obtaining a Patent</a:t>
            </a:r>
            <a:endParaRPr lang="en-US"/>
          </a:p>
        </p:txBody>
      </p:sp>
      <p:sp>
        <p:nvSpPr>
          <p:cNvPr id="30"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31"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32" name="Page 2"/>
          <p:cNvSpPr txBox="1"/>
          <p:nvPr/>
        </p:nvSpPr>
        <p:spPr>
          <a:xfrm rot="0">
            <a:off x="5985867" y="6434138"/>
            <a:ext cx="4424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Idea Compliance Self-Check">
    <p:spTree>
      <p:nvGrpSpPr>
        <p:cNvPr id="1" name=""/>
        <p:cNvGrpSpPr/>
        <p:nvPr/>
      </p:nvGrpSpPr>
      <p:grpSpPr>
        <a:xfrm>
          <a:off x="0" y="0"/>
          <a:ext cx="0" cy="0"/>
          <a:chOff x="0" y="0"/>
          <a:chExt cx="0" cy="0"/>
        </a:xfrm>
      </p:grpSpPr>
      <p:pic>
        <p:nvPicPr>
          <p:cNvPr id="2" name="Idea Compliance Self-Check graphic elements" descr="Idea Compliance Self-Check graphic elements"/>
          <p:cNvPicPr>
            <a:picLocks noChangeAspect="1"/>
          </p:cNvPicPr>
          <p:nvPr/>
        </p:nvPicPr>
        <p:blipFill>
          <a:blip r:embed="rId2"/>
          <a:stretch>
            <a:fillRect/>
          </a:stretch>
        </p:blipFill>
        <p:spPr>
          <a:xfrm>
            <a:off x="0" y="0"/>
            <a:ext cx="12192000" cy="6858000"/>
          </a:xfrm>
          <a:prstGeom prst="rect">
            <a:avLst/>
          </a:prstGeom>
        </p:spPr>
      </p:pic>
      <p:sp>
        <p:nvSpPr>
          <p:cNvPr id="3" name="Idea Compliance Self-Check"/>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Idea Compliance Self-Check</a:t>
            </a:r>
            <a:endParaRPr lang="en-US"/>
          </a:p>
        </p:txBody>
      </p:sp>
      <p:sp>
        <p:nvSpPr>
          <p:cNvPr id="4" name="No."/>
          <p:cNvSpPr txBox="1"/>
          <p:nvPr/>
        </p:nvSpPr>
        <p:spPr>
          <a:xfrm rot="0">
            <a:off x="695325" y="1476375"/>
            <a:ext cx="374243"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1" i="0" spc="0">
                <a:solidFill>
                  <a:srgbClr val="15303D"/>
                </a:solidFill>
                <a:latin typeface="Arial"/>
              </a:rPr>
              <a:t xml:space="preserve">No.</a:t>
            </a:r>
            <a:endParaRPr lang="en-US"/>
          </a:p>
        </p:txBody>
      </p:sp>
      <p:sp>
        <p:nvSpPr>
          <p:cNvPr id="5" name="Self-check item"/>
          <p:cNvSpPr txBox="1"/>
          <p:nvPr/>
        </p:nvSpPr>
        <p:spPr>
          <a:xfrm rot="0">
            <a:off x="1175296" y="1476375"/>
            <a:ext cx="1301442"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1" i="0" spc="0">
                <a:solidFill>
                  <a:srgbClr val="15303D"/>
                </a:solidFill>
                <a:latin typeface="Arial"/>
              </a:rPr>
              <a:t xml:space="preserve">Self-check item</a:t>
            </a:r>
            <a:endParaRPr lang="en-US"/>
          </a:p>
        </p:txBody>
      </p:sp>
      <p:sp>
        <p:nvSpPr>
          <p:cNvPr id="6" name="Declaration"/>
          <p:cNvSpPr txBox="1"/>
          <p:nvPr/>
        </p:nvSpPr>
        <p:spPr>
          <a:xfrm rot="0">
            <a:off x="10125075" y="1476375"/>
            <a:ext cx="995303"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1" i="0" spc="0">
                <a:solidFill>
                  <a:srgbClr val="15303D"/>
                </a:solidFill>
                <a:latin typeface="Arial"/>
              </a:rPr>
              <a:t xml:space="preserve">Declaration</a:t>
            </a:r>
            <a:endParaRPr lang="en-US"/>
          </a:p>
        </p:txBody>
      </p:sp>
      <p:sp>
        <p:nvSpPr>
          <p:cNvPr id="7" name="1"/>
          <p:cNvSpPr txBox="1"/>
          <p:nvPr/>
        </p:nvSpPr>
        <p:spPr>
          <a:xfrm rot="0">
            <a:off x="695325" y="1940868"/>
            <a:ext cx="203537"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C7000B"/>
                </a:solidFill>
                <a:latin typeface="Arial"/>
              </a:rPr>
              <a:t xml:space="preserve">1</a:t>
            </a:r>
            <a:endParaRPr lang="en-US"/>
          </a:p>
        </p:txBody>
      </p:sp>
      <p:sp>
        <p:nvSpPr>
          <p:cNvPr id="8" name="Does the idea involve another party’s non-public information from tech"/>
          <p:cNvSpPr txBox="1"/>
          <p:nvPr/>
        </p:nvSpPr>
        <p:spPr>
          <a:xfrm rot="0">
            <a:off x="1175296" y="1940868"/>
            <a:ext cx="8355003"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202328"/>
                </a:solidFill>
                <a:latin typeface="Arial"/>
              </a:rPr>
              <a:t xml:space="preserve">Does the idea involve another party’s non-public information from technical collaborations, procurement, supplier or</a:t>
            </a:r>
            <a:endParaRPr lang="en-US"/>
          </a:p>
        </p:txBody>
      </p:sp>
      <p:sp>
        <p:nvSpPr>
          <p:cNvPr id="9" name="No"/>
          <p:cNvSpPr txBox="1"/>
          <p:nvPr/>
        </p:nvSpPr>
        <p:spPr>
          <a:xfrm rot="0">
            <a:off x="10125075" y="1950393"/>
            <a:ext cx="301496"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202328"/>
                </a:solidFill>
                <a:latin typeface="Arial"/>
              </a:rPr>
              <a:t xml:space="preserve">No</a:t>
            </a:r>
            <a:endParaRPr lang="en-US"/>
          </a:p>
        </p:txBody>
      </p:sp>
      <p:sp>
        <p:nvSpPr>
          <p:cNvPr id="10" name="customer communications, or another organization?"/>
          <p:cNvSpPr txBox="1"/>
          <p:nvPr/>
        </p:nvSpPr>
        <p:spPr>
          <a:xfrm rot="0">
            <a:off x="1175296" y="2157710"/>
            <a:ext cx="3839557"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202328"/>
                </a:solidFill>
                <a:latin typeface="Arial"/>
              </a:rPr>
              <a:t xml:space="preserve">customer communications, or another organization?</a:t>
            </a:r>
            <a:endParaRPr lang="en-US"/>
          </a:p>
        </p:txBody>
      </p:sp>
      <p:sp>
        <p:nvSpPr>
          <p:cNvPr id="11" name="2"/>
          <p:cNvSpPr txBox="1"/>
          <p:nvPr/>
        </p:nvSpPr>
        <p:spPr>
          <a:xfrm rot="0">
            <a:off x="695325" y="2612678"/>
            <a:ext cx="203537"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C7000B"/>
                </a:solidFill>
                <a:latin typeface="Arial"/>
              </a:rPr>
              <a:t xml:space="preserve">2</a:t>
            </a:r>
            <a:endParaRPr lang="en-US"/>
          </a:p>
        </p:txBody>
      </p:sp>
      <p:sp>
        <p:nvSpPr>
          <p:cNvPr id="12" name="No non-public software algorithms, designs, layouts, or confidential t"/>
          <p:cNvSpPr txBox="1"/>
          <p:nvPr/>
        </p:nvSpPr>
        <p:spPr>
          <a:xfrm rot="0">
            <a:off x="1175296" y="2612678"/>
            <a:ext cx="8592086"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202328"/>
                </a:solidFill>
                <a:latin typeface="Arial"/>
              </a:rPr>
              <a:t xml:space="preserve">No non-public software algorithms, designs, layouts, or confidential technical solutions of a third party are used without</a:t>
            </a:r>
            <a:endParaRPr lang="en-US"/>
          </a:p>
        </p:txBody>
      </p:sp>
      <p:sp>
        <p:nvSpPr>
          <p:cNvPr id="13" name="Confirmed"/>
          <p:cNvSpPr txBox="1"/>
          <p:nvPr/>
        </p:nvSpPr>
        <p:spPr>
          <a:xfrm rot="0">
            <a:off x="10125075" y="2622203"/>
            <a:ext cx="809744"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202328"/>
                </a:solidFill>
                <a:latin typeface="Arial"/>
              </a:rPr>
              <a:t xml:space="preserve">Confirmed</a:t>
            </a:r>
            <a:endParaRPr lang="en-US"/>
          </a:p>
        </p:txBody>
      </p:sp>
      <p:sp>
        <p:nvSpPr>
          <p:cNvPr id="14" name="authorization."/>
          <p:cNvSpPr txBox="1"/>
          <p:nvPr/>
        </p:nvSpPr>
        <p:spPr>
          <a:xfrm rot="0">
            <a:off x="1175296" y="2829520"/>
            <a:ext cx="1085642"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202328"/>
                </a:solidFill>
                <a:latin typeface="Arial"/>
              </a:rPr>
              <a:t xml:space="preserve">authorization.</a:t>
            </a:r>
            <a:endParaRPr lang="en-US"/>
          </a:p>
        </p:txBody>
      </p:sp>
      <p:sp>
        <p:nvSpPr>
          <p:cNvPr id="15" name="3"/>
          <p:cNvSpPr txBox="1"/>
          <p:nvPr/>
        </p:nvSpPr>
        <p:spPr>
          <a:xfrm rot="0">
            <a:off x="695325" y="3284488"/>
            <a:ext cx="203537"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C7000B"/>
                </a:solidFill>
                <a:latin typeface="Arial"/>
              </a:rPr>
              <a:t xml:space="preserve">3</a:t>
            </a:r>
            <a:endParaRPr lang="en-US"/>
          </a:p>
        </p:txBody>
      </p:sp>
      <p:sp>
        <p:nvSpPr>
          <p:cNvPr id="16" name="No third-party non-public information forms the basis of an improvemen"/>
          <p:cNvSpPr txBox="1"/>
          <p:nvPr/>
        </p:nvSpPr>
        <p:spPr>
          <a:xfrm rot="0">
            <a:off x="1175296" y="3284488"/>
            <a:ext cx="8663821"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202328"/>
                </a:solidFill>
                <a:latin typeface="Arial"/>
              </a:rPr>
              <a:t xml:space="preserve">No third-party non-public information forms the basis of an improvement to the technology described in that information.</a:t>
            </a:r>
            <a:endParaRPr lang="en-US"/>
          </a:p>
        </p:txBody>
      </p:sp>
      <p:sp>
        <p:nvSpPr>
          <p:cNvPr id="17" name="Confirmed"/>
          <p:cNvSpPr txBox="1"/>
          <p:nvPr/>
        </p:nvSpPr>
        <p:spPr>
          <a:xfrm rot="0">
            <a:off x="10125075" y="3294013"/>
            <a:ext cx="809744"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202328"/>
                </a:solidFill>
                <a:latin typeface="Arial"/>
              </a:rPr>
              <a:t xml:space="preserve">Confirmed</a:t>
            </a:r>
            <a:endParaRPr lang="en-US"/>
          </a:p>
        </p:txBody>
      </p:sp>
      <p:sp>
        <p:nvSpPr>
          <p:cNvPr id="18" name="4"/>
          <p:cNvSpPr txBox="1"/>
          <p:nvPr/>
        </p:nvSpPr>
        <p:spPr>
          <a:xfrm rot="0">
            <a:off x="695325" y="3739455"/>
            <a:ext cx="203537"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C7000B"/>
                </a:solidFill>
                <a:latin typeface="Arial"/>
              </a:rPr>
              <a:t xml:space="preserve">4</a:t>
            </a:r>
            <a:endParaRPr lang="en-US"/>
          </a:p>
        </p:txBody>
      </p:sp>
      <p:sp>
        <p:nvSpPr>
          <p:cNvPr id="19" name="No non-public third-party information obtained by disassembly or rever"/>
          <p:cNvSpPr txBox="1"/>
          <p:nvPr/>
        </p:nvSpPr>
        <p:spPr>
          <a:xfrm rot="0">
            <a:off x="1175296" y="3739455"/>
            <a:ext cx="8574375"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202328"/>
                </a:solidFill>
                <a:latin typeface="Arial"/>
              </a:rPr>
              <a:t xml:space="preserve">No non-public third-party information obtained by disassembly or reverse engineering is used in the patent application.</a:t>
            </a:r>
            <a:endParaRPr lang="en-US"/>
          </a:p>
        </p:txBody>
      </p:sp>
      <p:sp>
        <p:nvSpPr>
          <p:cNvPr id="20" name="Confirmed"/>
          <p:cNvSpPr txBox="1"/>
          <p:nvPr/>
        </p:nvSpPr>
        <p:spPr>
          <a:xfrm rot="0">
            <a:off x="10125075" y="3748980"/>
            <a:ext cx="809744"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202328"/>
                </a:solidFill>
                <a:latin typeface="Arial"/>
              </a:rPr>
              <a:t xml:space="preserve">Confirmed</a:t>
            </a:r>
            <a:endParaRPr lang="en-US"/>
          </a:p>
        </p:txBody>
      </p:sp>
      <p:sp>
        <p:nvSpPr>
          <p:cNvPr id="21" name="5"/>
          <p:cNvSpPr txBox="1"/>
          <p:nvPr/>
        </p:nvSpPr>
        <p:spPr>
          <a:xfrm rot="0">
            <a:off x="695325" y="4194423"/>
            <a:ext cx="203537"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C7000B"/>
                </a:solidFill>
                <a:latin typeface="Arial"/>
              </a:rPr>
              <a:t xml:space="preserve">5</a:t>
            </a:r>
            <a:endParaRPr lang="en-US"/>
          </a:p>
        </p:txBody>
      </p:sp>
      <p:sp>
        <p:nvSpPr>
          <p:cNvPr id="22" name="The idea does not involve non-public information of a former employer "/>
          <p:cNvSpPr txBox="1"/>
          <p:nvPr/>
        </p:nvSpPr>
        <p:spPr>
          <a:xfrm rot="0">
            <a:off x="1175296" y="4194423"/>
            <a:ext cx="8367058"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202328"/>
                </a:solidFill>
                <a:latin typeface="Arial"/>
              </a:rPr>
              <a:t xml:space="preserve">The idea does not involve non-public information of a former employer or work products belonging to that employer.</a:t>
            </a:r>
            <a:endParaRPr lang="en-US"/>
          </a:p>
        </p:txBody>
      </p:sp>
      <p:sp>
        <p:nvSpPr>
          <p:cNvPr id="23" name="Confirmed"/>
          <p:cNvSpPr txBox="1"/>
          <p:nvPr/>
        </p:nvSpPr>
        <p:spPr>
          <a:xfrm rot="0">
            <a:off x="10125075" y="4203948"/>
            <a:ext cx="809744"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202328"/>
                </a:solidFill>
                <a:latin typeface="Arial"/>
              </a:rPr>
              <a:t xml:space="preserve">Confirmed</a:t>
            </a:r>
            <a:endParaRPr lang="en-US"/>
          </a:p>
        </p:txBody>
      </p:sp>
      <p:sp>
        <p:nvSpPr>
          <p:cNvPr id="24" name="Inventor declarations. Use the applicable official submission checklis"/>
          <p:cNvSpPr txBox="1"/>
          <p:nvPr/>
        </p:nvSpPr>
        <p:spPr>
          <a:xfrm rot="0">
            <a:off x="590550" y="5897017"/>
            <a:ext cx="3904417" cy="1619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75" b="0" i="0" spc="0">
                <a:solidFill>
                  <a:srgbClr val="666E78"/>
                </a:solidFill>
                <a:latin typeface="Arial"/>
              </a:rPr>
              <a:t xml:space="preserve">Inventor declarations. Use the applicable official submission checklist.</a:t>
            </a:r>
            <a:endParaRPr lang="en-US"/>
          </a:p>
        </p:txBody>
      </p:sp>
      <p:sp>
        <p:nvSpPr>
          <p:cNvPr id="25"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26"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27" name="Page 3"/>
          <p:cNvSpPr txBox="1"/>
          <p:nvPr/>
        </p:nvSpPr>
        <p:spPr>
          <a:xfrm rot="0">
            <a:off x="5985867" y="6434138"/>
            <a:ext cx="4424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Background: LLM-Based Scientific Discovery">
    <p:spTree>
      <p:nvGrpSpPr>
        <p:cNvPr id="1" name=""/>
        <p:cNvGrpSpPr/>
        <p:nvPr/>
      </p:nvGrpSpPr>
      <p:grpSpPr>
        <a:xfrm>
          <a:off x="0" y="0"/>
          <a:ext cx="0" cy="0"/>
          <a:chOff x="0" y="0"/>
          <a:chExt cx="0" cy="0"/>
        </a:xfrm>
      </p:grpSpPr>
      <p:pic>
        <p:nvPicPr>
          <p:cNvPr id="2" name="Background: LLM-Based Scientific Discovery graphic elements" descr="Background: LLM-Based Scientific Discovery graphic elements"/>
          <p:cNvPicPr>
            <a:picLocks noChangeAspect="1"/>
          </p:cNvPicPr>
          <p:nvPr/>
        </p:nvPicPr>
        <p:blipFill>
          <a:blip r:embed="rId2"/>
          <a:stretch>
            <a:fillRect/>
          </a:stretch>
        </p:blipFill>
        <p:spPr>
          <a:xfrm>
            <a:off x="0" y="0"/>
            <a:ext cx="12192000" cy="6858000"/>
          </a:xfrm>
          <a:prstGeom prst="rect">
            <a:avLst/>
          </a:prstGeom>
        </p:spPr>
      </p:pic>
      <p:sp>
        <p:nvSpPr>
          <p:cNvPr id="3" name="Background: LLM-Based Scientific Discovery"/>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Background: LLM-Based Scientific Discovery</a:t>
            </a:r>
            <a:endParaRPr lang="en-US"/>
          </a:p>
        </p:txBody>
      </p:sp>
      <p:sp>
        <p:nvSpPr>
          <p:cNvPr id="4" name="A large language model (LLM) writes a program that constructs a candid"/>
          <p:cNvSpPr txBox="1"/>
          <p:nvPr/>
        </p:nvSpPr>
        <p:spPr>
          <a:xfrm rot="0">
            <a:off x="590550" y="1381125"/>
            <a:ext cx="10747683"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0" i="0" spc="0">
                <a:solidFill>
                  <a:srgbClr val="202328"/>
                </a:solidFill>
                <a:latin typeface="Arial"/>
              </a:rPr>
              <a:t xml:space="preserve">A large language model (LLM) writes a program that constructs a candidate solution. A task-specific evaluator</a:t>
            </a:r>
            <a:endParaRPr lang="en-US"/>
          </a:p>
        </p:txBody>
      </p:sp>
      <p:sp>
        <p:nvSpPr>
          <p:cNvPr id="5" name="checks the construction and assigns its score."/>
          <p:cNvSpPr txBox="1"/>
          <p:nvPr/>
        </p:nvSpPr>
        <p:spPr>
          <a:xfrm rot="0">
            <a:off x="590550" y="1705273"/>
            <a:ext cx="4610160"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0" i="0" spc="0">
                <a:solidFill>
                  <a:srgbClr val="202328"/>
                </a:solidFill>
                <a:latin typeface="Arial"/>
              </a:rPr>
              <a:t xml:space="preserve">checks the construction and assigns its score.</a:t>
            </a:r>
            <a:endParaRPr lang="en-US"/>
          </a:p>
        </p:txBody>
      </p:sp>
      <p:sp>
        <p:nvSpPr>
          <p:cNvPr id="6" name="Task + parent"/>
          <p:cNvSpPr txBox="1"/>
          <p:nvPr/>
        </p:nvSpPr>
        <p:spPr>
          <a:xfrm rot="0">
            <a:off x="1871265" y="2564627"/>
            <a:ext cx="1098798"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93" b="1" i="0" spc="0">
                <a:solidFill>
                  <a:srgbClr val="202328"/>
                </a:solidFill>
                <a:latin typeface="Arial"/>
              </a:rPr>
              <a:t xml:space="preserve">Task + parent</a:t>
            </a:r>
            <a:endParaRPr lang="en-US"/>
          </a:p>
        </p:txBody>
      </p:sp>
      <p:sp>
        <p:nvSpPr>
          <p:cNvPr id="7" name="LLM program"/>
          <p:cNvSpPr txBox="1"/>
          <p:nvPr/>
        </p:nvSpPr>
        <p:spPr>
          <a:xfrm rot="0">
            <a:off x="4253556" y="2564627"/>
            <a:ext cx="1096714"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93" b="1" i="0" spc="0">
                <a:solidFill>
                  <a:srgbClr val="202328"/>
                </a:solidFill>
                <a:latin typeface="Arial"/>
              </a:rPr>
              <a:t xml:space="preserve">LLM program</a:t>
            </a:r>
            <a:endParaRPr lang="en-US"/>
          </a:p>
        </p:txBody>
      </p:sp>
      <p:sp>
        <p:nvSpPr>
          <p:cNvPr id="8" name="Construction"/>
          <p:cNvSpPr txBox="1"/>
          <p:nvPr/>
        </p:nvSpPr>
        <p:spPr>
          <a:xfrm rot="0">
            <a:off x="6648498" y="2564627"/>
            <a:ext cx="106933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93" b="1" i="0" spc="0">
                <a:solidFill>
                  <a:srgbClr val="202328"/>
                </a:solidFill>
                <a:latin typeface="Arial"/>
              </a:rPr>
              <a:t xml:space="preserve">Construction</a:t>
            </a:r>
            <a:endParaRPr lang="en-US"/>
          </a:p>
        </p:txBody>
      </p:sp>
      <p:sp>
        <p:nvSpPr>
          <p:cNvPr id="9" name="Evaluated score"/>
          <p:cNvSpPr txBox="1"/>
          <p:nvPr/>
        </p:nvSpPr>
        <p:spPr>
          <a:xfrm rot="0">
            <a:off x="8910760" y="2564627"/>
            <a:ext cx="130730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93" b="1" i="0" spc="0">
                <a:solidFill>
                  <a:srgbClr val="202328"/>
                </a:solidFill>
                <a:latin typeface="Arial"/>
              </a:rPr>
              <a:t xml:space="preserve">Evaluated score</a:t>
            </a:r>
            <a:endParaRPr lang="en-US"/>
          </a:p>
        </p:txBody>
      </p:sp>
      <p:sp>
        <p:nvSpPr>
          <p:cNvPr id="10" name="Problem-specific context"/>
          <p:cNvSpPr txBox="1"/>
          <p:nvPr/>
        </p:nvSpPr>
        <p:spPr>
          <a:xfrm rot="0">
            <a:off x="1681434" y="2799796"/>
            <a:ext cx="1478458" cy="1619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34" b="0" i="0" spc="0">
                <a:solidFill>
                  <a:srgbClr val="202328"/>
                </a:solidFill>
                <a:latin typeface="Arial"/>
              </a:rPr>
              <a:t xml:space="preserve">Problem-specific context</a:t>
            </a:r>
            <a:endParaRPr lang="en-US"/>
          </a:p>
        </p:txBody>
      </p:sp>
      <p:sp>
        <p:nvSpPr>
          <p:cNvPr id="11" name="Executable source"/>
          <p:cNvSpPr txBox="1"/>
          <p:nvPr/>
        </p:nvSpPr>
        <p:spPr>
          <a:xfrm rot="0">
            <a:off x="4237781" y="2799796"/>
            <a:ext cx="1128266" cy="1619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34" b="0" i="0" spc="0">
                <a:solidFill>
                  <a:srgbClr val="202328"/>
                </a:solidFill>
                <a:latin typeface="Arial"/>
              </a:rPr>
              <a:t xml:space="preserve">Executable source</a:t>
            </a:r>
            <a:endParaRPr lang="en-US"/>
          </a:p>
        </p:txBody>
      </p:sp>
      <p:sp>
        <p:nvSpPr>
          <p:cNvPr id="12" name="Program output"/>
          <p:cNvSpPr txBox="1"/>
          <p:nvPr/>
        </p:nvSpPr>
        <p:spPr>
          <a:xfrm rot="0">
            <a:off x="6706616" y="2799796"/>
            <a:ext cx="953095" cy="1619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34" b="0" i="0" spc="0">
                <a:solidFill>
                  <a:srgbClr val="202328"/>
                </a:solidFill>
                <a:latin typeface="Arial"/>
              </a:rPr>
              <a:t xml:space="preserve">Program output</a:t>
            </a:r>
            <a:endParaRPr lang="en-US"/>
          </a:p>
        </p:txBody>
      </p:sp>
      <p:sp>
        <p:nvSpPr>
          <p:cNvPr id="13" name="Task-specific evaluator"/>
          <p:cNvSpPr txBox="1"/>
          <p:nvPr/>
        </p:nvSpPr>
        <p:spPr>
          <a:xfrm rot="0">
            <a:off x="8876232" y="2799796"/>
            <a:ext cx="1378052" cy="1619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34" b="0" i="0" spc="0">
                <a:solidFill>
                  <a:srgbClr val="202328"/>
                </a:solidFill>
                <a:latin typeface="Arial"/>
              </a:rPr>
              <a:t xml:space="preserve">Task-specific evaluator</a:t>
            </a:r>
            <a:endParaRPr lang="en-US"/>
          </a:p>
        </p:txBody>
      </p:sp>
      <p:sp>
        <p:nvSpPr>
          <p:cNvPr id="14" name="Search with a fixed model"/>
          <p:cNvSpPr txBox="1"/>
          <p:nvPr/>
        </p:nvSpPr>
        <p:spPr>
          <a:xfrm rot="0">
            <a:off x="590550" y="3534370"/>
            <a:ext cx="2843867"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1" i="0" spc="0">
                <a:solidFill>
                  <a:srgbClr val="202328"/>
                </a:solidFill>
                <a:latin typeface="Arial"/>
              </a:rPr>
              <a:t xml:space="preserve">Search with a fixed model</a:t>
            </a:r>
            <a:endParaRPr lang="en-US"/>
          </a:p>
        </p:txBody>
      </p:sp>
      <p:sp>
        <p:nvSpPr>
          <p:cNvPr id="15" name="Search with reinforcement learning"/>
          <p:cNvSpPr txBox="1"/>
          <p:nvPr/>
        </p:nvSpPr>
        <p:spPr>
          <a:xfrm rot="0">
            <a:off x="6362700" y="3534370"/>
            <a:ext cx="3817799"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1" i="0" spc="0">
                <a:solidFill>
                  <a:srgbClr val="202328"/>
                </a:solidFill>
                <a:latin typeface="Arial"/>
              </a:rPr>
              <a:t xml:space="preserve">Search with reinforcement learning</a:t>
            </a:r>
            <a:endParaRPr lang="en-US"/>
          </a:p>
        </p:txBody>
      </p:sp>
      <p:sp>
        <p:nvSpPr>
          <p:cNvPr id="16" name="The search reuses promising solutions as context for new"/>
          <p:cNvSpPr txBox="1"/>
          <p:nvPr/>
        </p:nvSpPr>
        <p:spPr>
          <a:xfrm rot="0">
            <a:off x="590550" y="3979664"/>
            <a:ext cx="5243185"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The search reuses promising solutions as context for new</a:t>
            </a:r>
            <a:endParaRPr lang="en-US"/>
          </a:p>
        </p:txBody>
      </p:sp>
      <p:sp>
        <p:nvSpPr>
          <p:cNvPr id="17" name="Evaluation also supplies a learning signal. The LLM"/>
          <p:cNvSpPr txBox="1"/>
          <p:nvPr/>
        </p:nvSpPr>
        <p:spPr>
          <a:xfrm rot="0">
            <a:off x="6362700" y="3979664"/>
            <a:ext cx="4695349"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Evaluation also supplies a learning signal. The LLM</a:t>
            </a:r>
            <a:endParaRPr lang="en-US"/>
          </a:p>
        </p:txBody>
      </p:sp>
      <p:sp>
        <p:nvSpPr>
          <p:cNvPr id="18" name="programs. The model’s weights stay unchanged."/>
          <p:cNvSpPr txBox="1"/>
          <p:nvPr/>
        </p:nvSpPr>
        <p:spPr>
          <a:xfrm rot="0">
            <a:off x="590550" y="4265563"/>
            <a:ext cx="4435644"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programs. The model’s weights stay unchanged.</a:t>
            </a:r>
            <a:endParaRPr lang="en-US"/>
          </a:p>
        </p:txBody>
      </p:sp>
      <p:sp>
        <p:nvSpPr>
          <p:cNvPr id="19" name="updates its weights to favor programs with stronger"/>
          <p:cNvSpPr txBox="1"/>
          <p:nvPr/>
        </p:nvSpPr>
        <p:spPr>
          <a:xfrm rot="0">
            <a:off x="6362700" y="4265563"/>
            <a:ext cx="4664988"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updates its weights to favor programs with stronger</a:t>
            </a:r>
            <a:endParaRPr lang="en-US"/>
          </a:p>
        </p:txBody>
      </p:sp>
      <p:sp>
        <p:nvSpPr>
          <p:cNvPr id="20" name="outcomes."/>
          <p:cNvSpPr txBox="1"/>
          <p:nvPr/>
        </p:nvSpPr>
        <p:spPr>
          <a:xfrm rot="0">
            <a:off x="6362700" y="4551462"/>
            <a:ext cx="1062901"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outcomes.</a:t>
            </a:r>
            <a:endParaRPr lang="en-US"/>
          </a:p>
        </p:txBody>
      </p:sp>
      <p:sp>
        <p:nvSpPr>
          <p:cNvPr id="21" name="Parent: a scored starting solution. Rollout: one generated program. Ar"/>
          <p:cNvSpPr txBox="1"/>
          <p:nvPr/>
        </p:nvSpPr>
        <p:spPr>
          <a:xfrm rot="0">
            <a:off x="590550" y="5142161"/>
            <a:ext cx="8372862"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1" i="0" spc="0">
                <a:solidFill>
                  <a:srgbClr val="606873"/>
                </a:solidFill>
                <a:latin typeface="Arial"/>
              </a:rPr>
              <a:t xml:space="preserve">Parent:</a:t>
            </a:r>
            <a:r>
              <a:rPr lang="en-US" sz="1275" b="0" i="0" spc="0">
                <a:solidFill>
                  <a:srgbClr val="606873"/>
                </a:solidFill>
                <a:latin typeface="Arial"/>
              </a:rPr>
              <a:t xml:space="preserve"> a scored starting solution. </a:t>
            </a:r>
            <a:r>
              <a:rPr lang="en-US" sz="1275" b="1" i="0" spc="0">
                <a:solidFill>
                  <a:srgbClr val="606873"/>
                </a:solidFill>
                <a:latin typeface="Arial"/>
              </a:rPr>
              <a:t xml:space="preserve">Rollout:</a:t>
            </a:r>
            <a:r>
              <a:rPr lang="en-US" sz="1275" b="0" i="0" spc="0">
                <a:solidFill>
                  <a:srgbClr val="606873"/>
                </a:solidFill>
                <a:latin typeface="Arial"/>
              </a:rPr>
              <a:t xml:space="preserve"> one generated program. </a:t>
            </a:r>
            <a:r>
              <a:rPr lang="en-US" sz="1275" b="1" i="0" spc="0">
                <a:solidFill>
                  <a:srgbClr val="606873"/>
                </a:solidFill>
                <a:latin typeface="Arial"/>
              </a:rPr>
              <a:t xml:space="preserve">Archive:</a:t>
            </a:r>
            <a:r>
              <a:rPr lang="en-US" sz="1275" b="0" i="0" spc="0">
                <a:solidFill>
                  <a:srgbClr val="606873"/>
                </a:solidFill>
                <a:latin typeface="Arial"/>
              </a:rPr>
              <a:t xml:space="preserve"> retained solutions and their ancestry.</a:t>
            </a:r>
            <a:endParaRPr lang="en-US"/>
          </a:p>
        </p:txBody>
      </p:sp>
      <p:sp>
        <p:nvSpPr>
          <p:cNvPr id="22" name="Success means finding a better valid construction, even if many attemp"/>
          <p:cNvSpPr txBox="1"/>
          <p:nvPr/>
        </p:nvSpPr>
        <p:spPr>
          <a:xfrm rot="0">
            <a:off x="590550" y="5763667"/>
            <a:ext cx="8249305"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1" i="0" spc="0">
                <a:solidFill>
                  <a:srgbClr val="202328"/>
                </a:solidFill>
                <a:latin typeface="Arial"/>
              </a:rPr>
              <a:t xml:space="preserve">Success means finding a better valid construction, even if many attempts fail.</a:t>
            </a:r>
            <a:endParaRPr lang="en-US"/>
          </a:p>
        </p:txBody>
      </p:sp>
      <p:sp>
        <p:nvSpPr>
          <p:cNvPr id="23"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24"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25" name="Page 4"/>
          <p:cNvSpPr txBox="1"/>
          <p:nvPr/>
        </p:nvSpPr>
        <p:spPr>
          <a:xfrm rot="0">
            <a:off x="5985867" y="6434138"/>
            <a:ext cx="4424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Prior Art: Candidate Sampling and Search">
    <p:spTree>
      <p:nvGrpSpPr>
        <p:cNvPr id="1" name=""/>
        <p:cNvGrpSpPr/>
        <p:nvPr/>
      </p:nvGrpSpPr>
      <p:grpSpPr>
        <a:xfrm>
          <a:off x="0" y="0"/>
          <a:ext cx="0" cy="0"/>
          <a:chOff x="0" y="0"/>
          <a:chExt cx="0" cy="0"/>
        </a:xfrm>
      </p:grpSpPr>
      <p:pic>
        <p:nvPicPr>
          <p:cNvPr id="2" name="Prior Art: Candidate Sampling and Search graphic elements" descr="Prior Art: Candidate Sampling and Search graphic elements"/>
          <p:cNvPicPr>
            <a:picLocks noChangeAspect="1"/>
          </p:cNvPicPr>
          <p:nvPr/>
        </p:nvPicPr>
        <p:blipFill>
          <a:blip r:embed="rId2"/>
          <a:stretch>
            <a:fillRect/>
          </a:stretch>
        </p:blipFill>
        <p:spPr>
          <a:xfrm>
            <a:off x="0" y="0"/>
            <a:ext cx="12192000" cy="6858000"/>
          </a:xfrm>
          <a:prstGeom prst="rect">
            <a:avLst/>
          </a:prstGeom>
        </p:spPr>
      </p:pic>
      <p:sp>
        <p:nvSpPr>
          <p:cNvPr id="3" name="Prior Art: Candidate Sampling and Search"/>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Prior Art: Candidate Sampling and Search</a:t>
            </a:r>
            <a:endParaRPr lang="en-US"/>
          </a:p>
        </p:txBody>
      </p:sp>
      <p:sp>
        <p:nvSpPr>
          <p:cNvPr id="4" name="1."/>
          <p:cNvSpPr txBox="1"/>
          <p:nvPr/>
        </p:nvSpPr>
        <p:spPr>
          <a:xfrm rot="0">
            <a:off x="605314" y="1371600"/>
            <a:ext cx="380048"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1.</a:t>
            </a:r>
            <a:endParaRPr lang="en-US"/>
          </a:p>
        </p:txBody>
      </p:sp>
      <p:sp>
        <p:nvSpPr>
          <p:cNvPr id="5" name="Uniform sampling: generate the same number of programs from each selec"/>
          <p:cNvSpPr txBox="1"/>
          <p:nvPr/>
        </p:nvSpPr>
        <p:spPr>
          <a:xfrm rot="0">
            <a:off x="895350" y="1371600"/>
            <a:ext cx="10312420"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1" i="0" spc="0">
                <a:solidFill>
                  <a:srgbClr val="202328"/>
                </a:solidFill>
                <a:latin typeface="Arial"/>
              </a:rPr>
              <a:t xml:space="preserve">Uniform sampling:</a:t>
            </a:r>
            <a:r>
              <a:rPr lang="en-US" sz="1575" b="0" i="0" spc="0">
                <a:solidFill>
                  <a:srgbClr val="202328"/>
                </a:solidFill>
                <a:latin typeface="Arial"/>
              </a:rPr>
              <a:t xml:space="preserve"> generate the same number of programs from each selected parent, regardless of early results.</a:t>
            </a:r>
            <a:endParaRPr lang="en-US"/>
          </a:p>
        </p:txBody>
      </p:sp>
      <p:sp>
        <p:nvSpPr>
          <p:cNvPr id="6" name="2."/>
          <p:cNvSpPr txBox="1"/>
          <p:nvPr/>
        </p:nvSpPr>
        <p:spPr>
          <a:xfrm rot="0">
            <a:off x="605314" y="1800374"/>
            <a:ext cx="380048"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2.</a:t>
            </a:r>
            <a:endParaRPr lang="en-US"/>
          </a:p>
        </p:txBody>
      </p:sp>
      <p:sp>
        <p:nvSpPr>
          <p:cNvPr id="7" name="Evolutionary and island-based search: populations retain and mutate st"/>
          <p:cNvSpPr txBox="1"/>
          <p:nvPr/>
        </p:nvSpPr>
        <p:spPr>
          <a:xfrm rot="0">
            <a:off x="895350" y="1800374"/>
            <a:ext cx="9979938"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1" i="0" spc="0">
                <a:solidFill>
                  <a:srgbClr val="202328"/>
                </a:solidFill>
                <a:latin typeface="Arial"/>
              </a:rPr>
              <a:t xml:space="preserve">Evolutionary and island-based search:</a:t>
            </a:r>
            <a:r>
              <a:rPr lang="en-US" sz="1575" b="0" i="0" spc="0">
                <a:solidFill>
                  <a:srgbClr val="202328"/>
                </a:solidFill>
                <a:latin typeface="Arial"/>
              </a:rPr>
              <a:t xml:space="preserve"> populations retain and mutate strong evaluated candidates. Separate</a:t>
            </a:r>
            <a:endParaRPr lang="en-US"/>
          </a:p>
        </p:txBody>
      </p:sp>
      <p:sp>
        <p:nvSpPr>
          <p:cNvPr id="8" name="populations help maintain diversity."/>
          <p:cNvSpPr txBox="1"/>
          <p:nvPr/>
        </p:nvSpPr>
        <p:spPr>
          <a:xfrm rot="0">
            <a:off x="895350" y="2086273"/>
            <a:ext cx="3238470"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populations help maintain diversity.</a:t>
            </a:r>
            <a:endParaRPr lang="en-US"/>
          </a:p>
        </p:txBody>
      </p:sp>
      <p:sp>
        <p:nvSpPr>
          <p:cNvPr id="9" name="3."/>
          <p:cNvSpPr txBox="1"/>
          <p:nvPr/>
        </p:nvSpPr>
        <p:spPr>
          <a:xfrm rot="0">
            <a:off x="605314" y="2515046"/>
            <a:ext cx="380048"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3.</a:t>
            </a:r>
            <a:endParaRPr lang="en-US"/>
          </a:p>
        </p:txBody>
      </p:sp>
      <p:sp>
        <p:nvSpPr>
          <p:cNvPr id="10" name="Tree-based search: select a starting solution by balancing observed qu"/>
          <p:cNvSpPr txBox="1"/>
          <p:nvPr/>
        </p:nvSpPr>
        <p:spPr>
          <a:xfrm rot="0">
            <a:off x="895350" y="2515046"/>
            <a:ext cx="10087243"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1" i="0" spc="0">
                <a:solidFill>
                  <a:srgbClr val="202328"/>
                </a:solidFill>
                <a:latin typeface="Arial"/>
              </a:rPr>
              <a:t xml:space="preserve">Tree-based search:</a:t>
            </a:r>
            <a:r>
              <a:rPr lang="en-US" sz="1575" b="0" i="0" spc="0">
                <a:solidFill>
                  <a:srgbClr val="202328"/>
                </a:solidFill>
                <a:latin typeface="Arial"/>
              </a:rPr>
              <a:t xml:space="preserve"> select a starting solution by balancing observed quality with exploration. UCT illustrates this</a:t>
            </a:r>
            <a:endParaRPr lang="en-US"/>
          </a:p>
        </p:txBody>
      </p:sp>
      <p:sp>
        <p:nvSpPr>
          <p:cNvPr id="11" name="tradeoff:"/>
          <p:cNvSpPr txBox="1"/>
          <p:nvPr/>
        </p:nvSpPr>
        <p:spPr>
          <a:xfrm rot="0">
            <a:off x="895350" y="2800945"/>
            <a:ext cx="870317"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tradeoff:</a:t>
            </a:r>
            <a:endParaRPr lang="en-US"/>
          </a:p>
        </p:txBody>
      </p:sp>
      <p:sp>
        <p:nvSpPr>
          <p:cNvPr id="12" name="s: archived state    Q(s): observed quality    n(s): expansions of s"/>
          <p:cNvSpPr txBox="1"/>
          <p:nvPr/>
        </p:nvSpPr>
        <p:spPr>
          <a:xfrm rot="0">
            <a:off x="3787527" y="4363045"/>
            <a:ext cx="4730294"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s: archived state    Q(s): observed quality    n(s): expansions of s</a:t>
            </a:r>
            <a:endParaRPr lang="en-US"/>
          </a:p>
        </p:txBody>
      </p:sp>
      <p:sp>
        <p:nvSpPr>
          <p:cNvPr id="13" name="N: total expansions    c: exploration strength    U(s): parent-selecti"/>
          <p:cNvSpPr txBox="1"/>
          <p:nvPr/>
        </p:nvSpPr>
        <p:spPr>
          <a:xfrm rot="0">
            <a:off x="3436441" y="4589711"/>
            <a:ext cx="5432465"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N: total expansions    c: exploration strength    U(s): parent-selection score</a:t>
            </a:r>
            <a:endParaRPr lang="en-US"/>
          </a:p>
        </p:txBody>
      </p:sp>
      <p:sp>
        <p:nvSpPr>
          <p:cNvPr id="14" name="Parent selection chooses a starting solution. The LLM then generates c"/>
          <p:cNvSpPr txBox="1"/>
          <p:nvPr/>
        </p:nvSpPr>
        <p:spPr>
          <a:xfrm rot="0">
            <a:off x="590550" y="5054501"/>
            <a:ext cx="9820692"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1" i="0" spc="0">
                <a:solidFill>
                  <a:srgbClr val="202328"/>
                </a:solidFill>
                <a:latin typeface="Arial"/>
              </a:rPr>
              <a:t xml:space="preserve">Parent selection</a:t>
            </a:r>
            <a:r>
              <a:rPr lang="en-US" sz="1575" b="0" i="0" spc="0">
                <a:solidFill>
                  <a:srgbClr val="202328"/>
                </a:solidFill>
                <a:latin typeface="Arial"/>
              </a:rPr>
              <a:t xml:space="preserve"> chooses a starting solution. The LLM then generates candidate programs from that context.</a:t>
            </a:r>
            <a:endParaRPr lang="en-US"/>
          </a:p>
        </p:txBody>
      </p:sp>
      <p:sp>
        <p:nvSpPr>
          <p:cNvPr id="15" name="Illustrative UCT form. The PUCT parent selector also weights explorati"/>
          <p:cNvSpPr txBox="1"/>
          <p:nvPr/>
        </p:nvSpPr>
        <p:spPr>
          <a:xfrm rot="0">
            <a:off x="590550" y="5897017"/>
            <a:ext cx="6225540" cy="1619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75" b="0" i="0" spc="0">
                <a:solidFill>
                  <a:srgbClr val="666E78"/>
                </a:solidFill>
                <a:latin typeface="Arial"/>
              </a:rPr>
              <a:t xml:space="preserve">Illustrative UCT form. The PUCT parent selector also weights exploration using a prior P(s) over archived states.</a:t>
            </a:r>
            <a:endParaRPr lang="en-US"/>
          </a:p>
        </p:txBody>
      </p:sp>
      <p:sp>
        <p:nvSpPr>
          <p:cNvPr id="16"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17"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18" name="Page 5"/>
          <p:cNvSpPr txBox="1"/>
          <p:nvPr/>
        </p:nvSpPr>
        <p:spPr>
          <a:xfrm rot="0">
            <a:off x="5985867" y="6434138"/>
            <a:ext cx="4424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Technical Problems in Existing Approaches">
    <p:spTree>
      <p:nvGrpSpPr>
        <p:cNvPr id="1" name=""/>
        <p:cNvGrpSpPr/>
        <p:nvPr/>
      </p:nvGrpSpPr>
      <p:grpSpPr>
        <a:xfrm>
          <a:off x="0" y="0"/>
          <a:ext cx="0" cy="0"/>
          <a:chOff x="0" y="0"/>
          <a:chExt cx="0" cy="0"/>
        </a:xfrm>
      </p:grpSpPr>
      <p:pic>
        <p:nvPicPr>
          <p:cNvPr id="2" name="Technical Problems in Existing Approaches graphic elements" descr="Technical Problems in Existing Approaches graphic elements"/>
          <p:cNvPicPr>
            <a:picLocks noChangeAspect="1"/>
          </p:cNvPicPr>
          <p:nvPr/>
        </p:nvPicPr>
        <p:blipFill>
          <a:blip r:embed="rId2"/>
          <a:stretch>
            <a:fillRect/>
          </a:stretch>
        </p:blipFill>
        <p:spPr>
          <a:xfrm>
            <a:off x="0" y="0"/>
            <a:ext cx="12192000" cy="6858000"/>
          </a:xfrm>
          <a:prstGeom prst="rect">
            <a:avLst/>
          </a:prstGeom>
        </p:spPr>
      </p:pic>
      <p:sp>
        <p:nvSpPr>
          <p:cNvPr id="3" name="Technical Problems in Existing Approaches"/>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Technical Problems in Existing Approaches</a:t>
            </a:r>
            <a:endParaRPr lang="en-US"/>
          </a:p>
        </p:txBody>
      </p:sp>
      <p:sp>
        <p:nvSpPr>
          <p:cNvPr id="4" name="01"/>
          <p:cNvSpPr txBox="1"/>
          <p:nvPr/>
        </p:nvSpPr>
        <p:spPr>
          <a:xfrm rot="0">
            <a:off x="590550" y="1343025"/>
            <a:ext cx="414367" cy="2762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800" b="0" i="0" spc="0">
                <a:solidFill>
                  <a:srgbClr val="202328"/>
                </a:solidFill>
                <a:latin typeface="Arial"/>
              </a:rPr>
              <a:t xml:space="preserve">01</a:t>
            </a:r>
            <a:endParaRPr lang="en-US"/>
          </a:p>
        </p:txBody>
      </p:sp>
      <p:sp>
        <p:nvSpPr>
          <p:cNvPr id="5" name="One generation combines algorithm selection and implementation"/>
          <p:cNvSpPr txBox="1"/>
          <p:nvPr/>
        </p:nvSpPr>
        <p:spPr>
          <a:xfrm rot="0">
            <a:off x="1114425" y="1352550"/>
            <a:ext cx="7043202"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1" i="0" spc="0">
                <a:solidFill>
                  <a:srgbClr val="202328"/>
                </a:solidFill>
                <a:latin typeface="Arial"/>
              </a:rPr>
              <a:t xml:space="preserve">One generation combines algorithm selection and implementation</a:t>
            </a:r>
            <a:endParaRPr lang="en-US"/>
          </a:p>
        </p:txBody>
      </p:sp>
      <p:sp>
        <p:nvSpPr>
          <p:cNvPr id="6" name="The LLM chooses an approach while writing the program. Additional samp"/>
          <p:cNvSpPr txBox="1"/>
          <p:nvPr/>
        </p:nvSpPr>
        <p:spPr>
          <a:xfrm rot="0">
            <a:off x="1114425" y="1712119"/>
            <a:ext cx="9918055"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The LLM chooses an approach while writing the program. Additional samples can repeat the same approach without</a:t>
            </a:r>
            <a:endParaRPr lang="en-US"/>
          </a:p>
        </p:txBody>
      </p:sp>
      <p:sp>
        <p:nvSpPr>
          <p:cNvPr id="7" name="explicitly testing alternatives."/>
          <p:cNvSpPr txBox="1"/>
          <p:nvPr/>
        </p:nvSpPr>
        <p:spPr>
          <a:xfrm rot="0">
            <a:off x="1114425" y="1978819"/>
            <a:ext cx="2547491"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explicitly testing alternatives.</a:t>
            </a:r>
            <a:endParaRPr lang="en-US"/>
          </a:p>
        </p:txBody>
      </p:sp>
      <p:sp>
        <p:nvSpPr>
          <p:cNvPr id="8" name="02"/>
          <p:cNvSpPr txBox="1"/>
          <p:nvPr/>
        </p:nvSpPr>
        <p:spPr>
          <a:xfrm rot="0">
            <a:off x="590550" y="2540794"/>
            <a:ext cx="414367" cy="2762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800" b="0" i="0" spc="0">
                <a:solidFill>
                  <a:srgbClr val="202328"/>
                </a:solidFill>
                <a:latin typeface="Arial"/>
              </a:rPr>
              <a:t xml:space="preserve">02</a:t>
            </a:r>
            <a:endParaRPr lang="en-US"/>
          </a:p>
        </p:txBody>
      </p:sp>
      <p:sp>
        <p:nvSpPr>
          <p:cNvPr id="9" name="Reinforcement learning can favor copies of an existing solution"/>
          <p:cNvSpPr txBox="1"/>
          <p:nvPr/>
        </p:nvSpPr>
        <p:spPr>
          <a:xfrm rot="0">
            <a:off x="1114425" y="2550319"/>
            <a:ext cx="6775609"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1" i="0" spc="0">
                <a:solidFill>
                  <a:srgbClr val="202328"/>
                </a:solidFill>
                <a:latin typeface="Arial"/>
              </a:rPr>
              <a:t xml:space="preserve">Reinforcement learning can favor copies of an existing solution</a:t>
            </a:r>
            <a:endParaRPr lang="en-US"/>
          </a:p>
        </p:txBody>
      </p:sp>
      <p:sp>
        <p:nvSpPr>
          <p:cNvPr id="10" name="Reproducing an existing construction can still earn a high reward. Rei"/>
          <p:cNvSpPr txBox="1"/>
          <p:nvPr/>
        </p:nvSpPr>
        <p:spPr>
          <a:xfrm rot="0">
            <a:off x="1114425" y="2909888"/>
            <a:ext cx="10278070"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Reproducing an existing construction can still earn a high reward. Reinforcing these outputs can make the LLM generate</a:t>
            </a:r>
            <a:endParaRPr lang="en-US"/>
          </a:p>
        </p:txBody>
      </p:sp>
      <p:sp>
        <p:nvSpPr>
          <p:cNvPr id="11" name="more copies and fewer distinct constructions."/>
          <p:cNvSpPr txBox="1"/>
          <p:nvPr/>
        </p:nvSpPr>
        <p:spPr>
          <a:xfrm rot="0">
            <a:off x="1114425" y="3176588"/>
            <a:ext cx="3934569"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more copies and fewer distinct constructions.</a:t>
            </a:r>
            <a:endParaRPr lang="en-US"/>
          </a:p>
        </p:txBody>
      </p:sp>
      <p:sp>
        <p:nvSpPr>
          <p:cNvPr id="12" name="03"/>
          <p:cNvSpPr txBox="1"/>
          <p:nvPr/>
        </p:nvSpPr>
        <p:spPr>
          <a:xfrm rot="0">
            <a:off x="590550" y="3738563"/>
            <a:ext cx="414367" cy="2762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800" b="0" i="0" spc="0">
                <a:solidFill>
                  <a:srgbClr val="202328"/>
                </a:solidFill>
                <a:latin typeface="Arial"/>
              </a:rPr>
              <a:t xml:space="preserve">03</a:t>
            </a:r>
            <a:endParaRPr lang="en-US"/>
          </a:p>
        </p:txBody>
      </p:sp>
      <p:sp>
        <p:nvSpPr>
          <p:cNvPr id="13" name="A fixed sampling split cannot adapt to early evaluation results"/>
          <p:cNvSpPr txBox="1"/>
          <p:nvPr/>
        </p:nvSpPr>
        <p:spPr>
          <a:xfrm rot="0">
            <a:off x="1114425" y="3748088"/>
            <a:ext cx="6597313"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1" i="0" spc="0">
                <a:solidFill>
                  <a:srgbClr val="202328"/>
                </a:solidFill>
                <a:latin typeface="Arial"/>
              </a:rPr>
              <a:t xml:space="preserve">A fixed sampling split cannot adapt to early evaluation results</a:t>
            </a:r>
            <a:endParaRPr lang="en-US"/>
          </a:p>
        </p:txBody>
      </p:sp>
      <p:sp>
        <p:nvSpPr>
          <p:cNvPr id="14" name="Equal sampling continues after early results indicate that some direct"/>
          <p:cNvSpPr txBox="1"/>
          <p:nvPr/>
        </p:nvSpPr>
        <p:spPr>
          <a:xfrm rot="0">
            <a:off x="1114425" y="4107656"/>
            <a:ext cx="10560100"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Equal sampling continues after early results indicate that some directions are more promising. The remaining budget cannot</a:t>
            </a:r>
            <a:endParaRPr lang="en-US"/>
          </a:p>
        </p:txBody>
      </p:sp>
      <p:sp>
        <p:nvSpPr>
          <p:cNvPr id="15" name="shift toward those directions."/>
          <p:cNvSpPr txBox="1"/>
          <p:nvPr/>
        </p:nvSpPr>
        <p:spPr>
          <a:xfrm rot="0">
            <a:off x="1114425" y="4374356"/>
            <a:ext cx="2547640"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shift toward those directions.</a:t>
            </a:r>
            <a:endParaRPr lang="en-US"/>
          </a:p>
        </p:txBody>
      </p:sp>
      <p:sp>
        <p:nvSpPr>
          <p:cNvPr id="16" name="04"/>
          <p:cNvSpPr txBox="1"/>
          <p:nvPr/>
        </p:nvSpPr>
        <p:spPr>
          <a:xfrm rot="0">
            <a:off x="590550" y="4936331"/>
            <a:ext cx="414367" cy="2762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800" b="0" i="0" spc="0">
                <a:solidFill>
                  <a:srgbClr val="202328"/>
                </a:solidFill>
                <a:latin typeface="Arial"/>
              </a:rPr>
              <a:t xml:space="preserve">04</a:t>
            </a:r>
            <a:endParaRPr lang="en-US"/>
          </a:p>
        </p:txBody>
      </p:sp>
      <p:sp>
        <p:nvSpPr>
          <p:cNvPr id="17" name="Group-relative training can discard useful reward information"/>
          <p:cNvSpPr txBox="1"/>
          <p:nvPr/>
        </p:nvSpPr>
        <p:spPr>
          <a:xfrm rot="0">
            <a:off x="1114425" y="4945856"/>
            <a:ext cx="6544330"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1" i="0" spc="0">
                <a:solidFill>
                  <a:srgbClr val="202328"/>
                </a:solidFill>
                <a:latin typeface="Arial"/>
              </a:rPr>
              <a:t xml:space="preserve">Group-relative training can discard useful reward information</a:t>
            </a:r>
            <a:endParaRPr lang="en-US"/>
          </a:p>
        </p:txBody>
      </p:sp>
      <p:sp>
        <p:nvSpPr>
          <p:cNvPr id="18" name="When all programs in a group receive the same reward, their group-rela"/>
          <p:cNvSpPr txBox="1"/>
          <p:nvPr/>
        </p:nvSpPr>
        <p:spPr>
          <a:xfrm rot="0">
            <a:off x="1114425" y="5305425"/>
            <a:ext cx="10517088"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When all programs in a group receive the same reward, their group-relative advantages are zero. This removes the reward-</a:t>
            </a:r>
            <a:endParaRPr lang="en-US"/>
          </a:p>
        </p:txBody>
      </p:sp>
      <p:sp>
        <p:nvSpPr>
          <p:cNvPr id="19" name="based update even if that reward improves on earlier results."/>
          <p:cNvSpPr txBox="1"/>
          <p:nvPr/>
        </p:nvSpPr>
        <p:spPr>
          <a:xfrm rot="0">
            <a:off x="1114425" y="5572125"/>
            <a:ext cx="5247829"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based update even if that reward improves on earlier results.</a:t>
            </a:r>
            <a:endParaRPr lang="en-US"/>
          </a:p>
        </p:txBody>
      </p:sp>
      <p:sp>
        <p:nvSpPr>
          <p:cNvPr id="20"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21"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22" name="Page 6"/>
          <p:cNvSpPr txBox="1"/>
          <p:nvPr/>
        </p:nvSpPr>
        <p:spPr>
          <a:xfrm rot="0">
            <a:off x="5985867" y="6434138"/>
            <a:ext cx="4424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Technical Solution: Hierarchical Discovery Pipeline">
    <p:spTree>
      <p:nvGrpSpPr>
        <p:cNvPr id="1" name=""/>
        <p:cNvGrpSpPr/>
        <p:nvPr/>
      </p:nvGrpSpPr>
      <p:grpSpPr>
        <a:xfrm>
          <a:off x="0" y="0"/>
          <a:ext cx="0" cy="0"/>
          <a:chOff x="0" y="0"/>
          <a:chExt cx="0" cy="0"/>
        </a:xfrm>
      </p:grpSpPr>
      <p:pic>
        <p:nvPicPr>
          <p:cNvPr id="2" name="Technical Solution: Hierarchical Discovery Pipeline graphic elements" descr="Technical Solution: Hierarchical Discovery Pipeline graphic elements"/>
          <p:cNvPicPr>
            <a:picLocks noChangeAspect="1"/>
          </p:cNvPicPr>
          <p:nvPr/>
        </p:nvPicPr>
        <p:blipFill>
          <a:blip r:embed="rId2"/>
          <a:stretch>
            <a:fillRect/>
          </a:stretch>
        </p:blipFill>
        <p:spPr>
          <a:xfrm>
            <a:off x="0" y="0"/>
            <a:ext cx="12192000" cy="6858000"/>
          </a:xfrm>
          <a:prstGeom prst="rect">
            <a:avLst/>
          </a:prstGeom>
        </p:spPr>
      </p:pic>
      <p:sp>
        <p:nvSpPr>
          <p:cNvPr id="3" name="Technical Solution: Hierarchical Discovery Pipeline"/>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Technical Solution: Hierarchical Discovery Pipeline</a:t>
            </a:r>
            <a:endParaRPr lang="en-US"/>
          </a:p>
        </p:txBody>
      </p:sp>
      <p:sp>
        <p:nvSpPr>
          <p:cNvPr id="4" name="Parent p"/>
          <p:cNvSpPr txBox="1"/>
          <p:nvPr/>
        </p:nvSpPr>
        <p:spPr>
          <a:xfrm rot="0">
            <a:off x="1499734" y="1665795"/>
            <a:ext cx="738932"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Parent p</a:t>
            </a:r>
            <a:endParaRPr lang="en-US"/>
          </a:p>
        </p:txBody>
      </p:sp>
      <p:sp>
        <p:nvSpPr>
          <p:cNvPr id="5" name="One of P parents"/>
          <p:cNvSpPr txBox="1"/>
          <p:nvPr/>
        </p:nvSpPr>
        <p:spPr>
          <a:xfrm rot="0">
            <a:off x="1324192" y="1901717"/>
            <a:ext cx="1090017"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One of P parents</a:t>
            </a:r>
            <a:endParaRPr lang="en-US"/>
          </a:p>
        </p:txBody>
      </p:sp>
      <p:sp>
        <p:nvSpPr>
          <p:cNvPr id="6" name="Archive"/>
          <p:cNvSpPr txBox="1"/>
          <p:nvPr/>
        </p:nvSpPr>
        <p:spPr>
          <a:xfrm rot="0">
            <a:off x="1528458" y="3074026"/>
            <a:ext cx="681484"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Archive</a:t>
            </a:r>
            <a:endParaRPr lang="en-US"/>
          </a:p>
        </p:txBody>
      </p:sp>
      <p:sp>
        <p:nvSpPr>
          <p:cNvPr id="7" name="Scores + ancestry"/>
          <p:cNvSpPr txBox="1"/>
          <p:nvPr/>
        </p:nvSpPr>
        <p:spPr>
          <a:xfrm rot="0">
            <a:off x="1290333" y="3309948"/>
            <a:ext cx="1157734" cy="171961"/>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Scores + ancestry</a:t>
            </a:r>
            <a:endParaRPr lang="en-US"/>
          </a:p>
        </p:txBody>
      </p:sp>
      <p:sp>
        <p:nvSpPr>
          <p:cNvPr id="8" name="Strategist: frozen planning LLM. Coder: shared LLM trained on all eval"/>
          <p:cNvSpPr txBox="1"/>
          <p:nvPr/>
        </p:nvSpPr>
        <p:spPr>
          <a:xfrm rot="0">
            <a:off x="2007691" y="5286375"/>
            <a:ext cx="832330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1" i="0" spc="0">
                <a:solidFill>
                  <a:srgbClr val="202328"/>
                </a:solidFill>
                <a:latin typeface="Arial"/>
              </a:rPr>
              <a:t xml:space="preserve">Strategist:</a:t>
            </a:r>
            <a:r>
              <a:rPr lang="en-US" sz="1650" b="0" i="0" spc="0">
                <a:solidFill>
                  <a:srgbClr val="202328"/>
                </a:solidFill>
                <a:latin typeface="Arial"/>
              </a:rPr>
              <a:t xml:space="preserve"> frozen planning LLM. </a:t>
            </a:r>
            <a:r>
              <a:rPr lang="en-US" sz="1650" b="1" i="0" spc="0">
                <a:solidFill>
                  <a:srgbClr val="202328"/>
                </a:solidFill>
                <a:latin typeface="Arial"/>
              </a:rPr>
              <a:t xml:space="preserve">Coder:</a:t>
            </a:r>
            <a:r>
              <a:rPr lang="en-US" sz="1650" b="0" i="0" spc="0">
                <a:solidFill>
                  <a:srgbClr val="202328"/>
                </a:solidFill>
                <a:latin typeface="Arial"/>
              </a:rPr>
              <a:t xml:space="preserve"> shared LLM trained on all evaluated programs.</a:t>
            </a:r>
            <a:endParaRPr lang="en-US"/>
          </a:p>
        </p:txBody>
      </p:sp>
      <p:sp>
        <p:nvSpPr>
          <p:cNvPr id="9"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10"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11" name="Page 7"/>
          <p:cNvSpPr txBox="1"/>
          <p:nvPr/>
        </p:nvSpPr>
        <p:spPr>
          <a:xfrm rot="0">
            <a:off x="5985867" y="6434138"/>
            <a:ext cx="4424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Technical Solution: Hierarchical Discovery Pipeline">
    <p:spTree>
      <p:nvGrpSpPr>
        <p:cNvPr id="1" name=""/>
        <p:cNvGrpSpPr/>
        <p:nvPr/>
      </p:nvGrpSpPr>
      <p:grpSpPr>
        <a:xfrm>
          <a:off x="0" y="0"/>
          <a:ext cx="0" cy="0"/>
          <a:chOff x="0" y="0"/>
          <a:chExt cx="0" cy="0"/>
        </a:xfrm>
      </p:grpSpPr>
      <p:pic>
        <p:nvPicPr>
          <p:cNvPr id="2" name="Technical Solution: Hierarchical Discovery Pipeline graphic elements" descr="Technical Solution: Hierarchical Discovery Pipeline graphic elements"/>
          <p:cNvPicPr>
            <a:picLocks noChangeAspect="1"/>
          </p:cNvPicPr>
          <p:nvPr/>
        </p:nvPicPr>
        <p:blipFill>
          <a:blip r:embed="rId2"/>
          <a:stretch>
            <a:fillRect/>
          </a:stretch>
        </p:blipFill>
        <p:spPr>
          <a:xfrm>
            <a:off x="0" y="0"/>
            <a:ext cx="12192000" cy="6858000"/>
          </a:xfrm>
          <a:prstGeom prst="rect">
            <a:avLst/>
          </a:prstGeom>
        </p:spPr>
      </p:pic>
      <p:sp>
        <p:nvSpPr>
          <p:cNvPr id="3" name="Technical Solution: Hierarchical Discovery Pipeline"/>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Technical Solution: Hierarchical Discovery Pipeline</a:t>
            </a:r>
            <a:endParaRPr lang="en-US"/>
          </a:p>
        </p:txBody>
      </p:sp>
      <p:sp>
        <p:nvSpPr>
          <p:cNvPr id="4" name="Each new plan sees earlier plans to encourage a different approach"/>
          <p:cNvSpPr txBox="1"/>
          <p:nvPr/>
        </p:nvSpPr>
        <p:spPr>
          <a:xfrm rot="0">
            <a:off x="4519923" y="1251101"/>
            <a:ext cx="4962228"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93" b="0" i="0" spc="0">
                <a:solidFill>
                  <a:srgbClr val="466B8A"/>
                </a:solidFill>
                <a:latin typeface="Arial"/>
              </a:rPr>
              <a:t xml:space="preserve">Each new plan sees earlier plans to encourage a different approach</a:t>
            </a:r>
            <a:endParaRPr lang="en-US"/>
          </a:p>
        </p:txBody>
      </p:sp>
      <p:sp>
        <p:nvSpPr>
          <p:cNvPr id="5" name="Parent p"/>
          <p:cNvSpPr txBox="1"/>
          <p:nvPr/>
        </p:nvSpPr>
        <p:spPr>
          <a:xfrm rot="0">
            <a:off x="1499734" y="1665795"/>
            <a:ext cx="738932"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Parent p</a:t>
            </a:r>
            <a:endParaRPr lang="en-US"/>
          </a:p>
        </p:txBody>
      </p:sp>
      <p:sp>
        <p:nvSpPr>
          <p:cNvPr id="6" name="Strategy 1"/>
          <p:cNvSpPr txBox="1"/>
          <p:nvPr/>
        </p:nvSpPr>
        <p:spPr>
          <a:xfrm rot="0">
            <a:off x="3578852"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1</a:t>
            </a:r>
            <a:endParaRPr lang="en-US"/>
          </a:p>
        </p:txBody>
      </p:sp>
      <p:sp>
        <p:nvSpPr>
          <p:cNvPr id="7" name="Strategy 2"/>
          <p:cNvSpPr txBox="1"/>
          <p:nvPr/>
        </p:nvSpPr>
        <p:spPr>
          <a:xfrm rot="0">
            <a:off x="5565926"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2</a:t>
            </a:r>
            <a:endParaRPr lang="en-US"/>
          </a:p>
        </p:txBody>
      </p:sp>
      <p:sp>
        <p:nvSpPr>
          <p:cNvPr id="8" name="Strategy 3"/>
          <p:cNvSpPr txBox="1"/>
          <p:nvPr/>
        </p:nvSpPr>
        <p:spPr>
          <a:xfrm rot="0">
            <a:off x="7553002"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3</a:t>
            </a:r>
            <a:endParaRPr lang="en-US"/>
          </a:p>
        </p:txBody>
      </p:sp>
      <p:sp>
        <p:nvSpPr>
          <p:cNvPr id="9" name="Strategy 4"/>
          <p:cNvSpPr txBox="1"/>
          <p:nvPr/>
        </p:nvSpPr>
        <p:spPr>
          <a:xfrm rot="0">
            <a:off x="9540077"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4</a:t>
            </a:r>
            <a:endParaRPr lang="en-US"/>
          </a:p>
        </p:txBody>
      </p:sp>
      <p:sp>
        <p:nvSpPr>
          <p:cNvPr id="10" name="One of P parents"/>
          <p:cNvSpPr txBox="1"/>
          <p:nvPr/>
        </p:nvSpPr>
        <p:spPr>
          <a:xfrm rot="0">
            <a:off x="1324192" y="1901717"/>
            <a:ext cx="1090017"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One of P parents</a:t>
            </a:r>
            <a:endParaRPr lang="en-US"/>
          </a:p>
        </p:txBody>
      </p:sp>
      <p:sp>
        <p:nvSpPr>
          <p:cNvPr id="11" name="Plan for parent p"/>
          <p:cNvSpPr txBox="1"/>
          <p:nvPr/>
        </p:nvSpPr>
        <p:spPr>
          <a:xfrm rot="0">
            <a:off x="3485685"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2" name="Plan for parent p"/>
          <p:cNvSpPr txBox="1"/>
          <p:nvPr/>
        </p:nvSpPr>
        <p:spPr>
          <a:xfrm rot="0">
            <a:off x="5472760"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3" name="Plan for parent p"/>
          <p:cNvSpPr txBox="1"/>
          <p:nvPr/>
        </p:nvSpPr>
        <p:spPr>
          <a:xfrm rot="0">
            <a:off x="7459835"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4" name="Plan for parent p"/>
          <p:cNvSpPr txBox="1"/>
          <p:nvPr/>
        </p:nvSpPr>
        <p:spPr>
          <a:xfrm rot="0">
            <a:off x="9446910"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5" name="Archive"/>
          <p:cNvSpPr txBox="1"/>
          <p:nvPr/>
        </p:nvSpPr>
        <p:spPr>
          <a:xfrm rot="0">
            <a:off x="1528458" y="3074026"/>
            <a:ext cx="681484"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Archive</a:t>
            </a:r>
            <a:endParaRPr lang="en-US"/>
          </a:p>
        </p:txBody>
      </p:sp>
      <p:sp>
        <p:nvSpPr>
          <p:cNvPr id="16" name="Scores + ancestry"/>
          <p:cNvSpPr txBox="1"/>
          <p:nvPr/>
        </p:nvSpPr>
        <p:spPr>
          <a:xfrm rot="0">
            <a:off x="1290333" y="3309948"/>
            <a:ext cx="1157734" cy="171961"/>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Scores + ancestry</a:t>
            </a:r>
            <a:endParaRPr lang="en-US"/>
          </a:p>
        </p:txBody>
      </p:sp>
      <p:sp>
        <p:nvSpPr>
          <p:cNvPr id="17" name="Strategist: frozen planning LLM. Coder: shared LLM trained on all eval"/>
          <p:cNvSpPr txBox="1"/>
          <p:nvPr/>
        </p:nvSpPr>
        <p:spPr>
          <a:xfrm rot="0">
            <a:off x="2007691" y="5286375"/>
            <a:ext cx="832330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1" i="0" spc="0">
                <a:solidFill>
                  <a:srgbClr val="202328"/>
                </a:solidFill>
                <a:latin typeface="Arial"/>
              </a:rPr>
              <a:t xml:space="preserve">Strategist:</a:t>
            </a:r>
            <a:r>
              <a:rPr lang="en-US" sz="1650" b="0" i="0" spc="0">
                <a:solidFill>
                  <a:srgbClr val="202328"/>
                </a:solidFill>
                <a:latin typeface="Arial"/>
              </a:rPr>
              <a:t xml:space="preserve"> frozen planning LLM. </a:t>
            </a:r>
            <a:r>
              <a:rPr lang="en-US" sz="1650" b="1" i="0" spc="0">
                <a:solidFill>
                  <a:srgbClr val="202328"/>
                </a:solidFill>
                <a:latin typeface="Arial"/>
              </a:rPr>
              <a:t xml:space="preserve">Coder:</a:t>
            </a:r>
            <a:r>
              <a:rPr lang="en-US" sz="1650" b="0" i="0" spc="0">
                <a:solidFill>
                  <a:srgbClr val="202328"/>
                </a:solidFill>
                <a:latin typeface="Arial"/>
              </a:rPr>
              <a:t xml:space="preserve"> shared LLM trained on all evaluated programs.</a:t>
            </a:r>
            <a:endParaRPr lang="en-US"/>
          </a:p>
        </p:txBody>
      </p:sp>
      <p:sp>
        <p:nvSpPr>
          <p:cNvPr id="18"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19"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20" name="Page 7"/>
          <p:cNvSpPr txBox="1"/>
          <p:nvPr/>
        </p:nvSpPr>
        <p:spPr>
          <a:xfrm rot="0">
            <a:off x="5985867" y="6434138"/>
            <a:ext cx="4424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7</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Technical Solution: Hierarchical Discovery Pipeline">
    <p:spTree>
      <p:nvGrpSpPr>
        <p:cNvPr id="1" name=""/>
        <p:cNvGrpSpPr/>
        <p:nvPr/>
      </p:nvGrpSpPr>
      <p:grpSpPr>
        <a:xfrm>
          <a:off x="0" y="0"/>
          <a:ext cx="0" cy="0"/>
          <a:chOff x="0" y="0"/>
          <a:chExt cx="0" cy="0"/>
        </a:xfrm>
      </p:grpSpPr>
      <p:pic>
        <p:nvPicPr>
          <p:cNvPr id="2" name="Technical Solution: Hierarchical Discovery Pipeline graphic elements" descr="Technical Solution: Hierarchical Discovery Pipeline graphic elements"/>
          <p:cNvPicPr>
            <a:picLocks noChangeAspect="1"/>
          </p:cNvPicPr>
          <p:nvPr/>
        </p:nvPicPr>
        <p:blipFill>
          <a:blip r:embed="rId2"/>
          <a:stretch>
            <a:fillRect/>
          </a:stretch>
        </p:blipFill>
        <p:spPr>
          <a:xfrm>
            <a:off x="0" y="0"/>
            <a:ext cx="12192000" cy="6858000"/>
          </a:xfrm>
          <a:prstGeom prst="rect">
            <a:avLst/>
          </a:prstGeom>
        </p:spPr>
      </p:pic>
      <p:sp>
        <p:nvSpPr>
          <p:cNvPr id="3" name="Technical Solution: Hierarchical Discovery Pipeline"/>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Technical Solution: Hierarchical Discovery Pipeline</a:t>
            </a:r>
            <a:endParaRPr lang="en-US"/>
          </a:p>
        </p:txBody>
      </p:sp>
      <p:sp>
        <p:nvSpPr>
          <p:cNvPr id="4" name="Each new plan sees earlier plans to encourage a different approach"/>
          <p:cNvSpPr txBox="1"/>
          <p:nvPr/>
        </p:nvSpPr>
        <p:spPr>
          <a:xfrm rot="0">
            <a:off x="4519923" y="1251101"/>
            <a:ext cx="4962228"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93" b="0" i="0" spc="0">
                <a:solidFill>
                  <a:srgbClr val="466B8A"/>
                </a:solidFill>
                <a:latin typeface="Arial"/>
              </a:rPr>
              <a:t xml:space="preserve">Each new plan sees earlier plans to encourage a different approach</a:t>
            </a:r>
            <a:endParaRPr lang="en-US"/>
          </a:p>
        </p:txBody>
      </p:sp>
      <p:sp>
        <p:nvSpPr>
          <p:cNvPr id="5" name="Parent p"/>
          <p:cNvSpPr txBox="1"/>
          <p:nvPr/>
        </p:nvSpPr>
        <p:spPr>
          <a:xfrm rot="0">
            <a:off x="1499734" y="1665795"/>
            <a:ext cx="738932"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Parent p</a:t>
            </a:r>
            <a:endParaRPr lang="en-US"/>
          </a:p>
        </p:txBody>
      </p:sp>
      <p:sp>
        <p:nvSpPr>
          <p:cNvPr id="6" name="Strategy 1"/>
          <p:cNvSpPr txBox="1"/>
          <p:nvPr/>
        </p:nvSpPr>
        <p:spPr>
          <a:xfrm rot="0">
            <a:off x="3578852"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1</a:t>
            </a:r>
            <a:endParaRPr lang="en-US"/>
          </a:p>
        </p:txBody>
      </p:sp>
      <p:sp>
        <p:nvSpPr>
          <p:cNvPr id="7" name="Strategy 2"/>
          <p:cNvSpPr txBox="1"/>
          <p:nvPr/>
        </p:nvSpPr>
        <p:spPr>
          <a:xfrm rot="0">
            <a:off x="5565926"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2</a:t>
            </a:r>
            <a:endParaRPr lang="en-US"/>
          </a:p>
        </p:txBody>
      </p:sp>
      <p:sp>
        <p:nvSpPr>
          <p:cNvPr id="8" name="Strategy 3"/>
          <p:cNvSpPr txBox="1"/>
          <p:nvPr/>
        </p:nvSpPr>
        <p:spPr>
          <a:xfrm rot="0">
            <a:off x="7553002"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3</a:t>
            </a:r>
            <a:endParaRPr lang="en-US"/>
          </a:p>
        </p:txBody>
      </p:sp>
      <p:sp>
        <p:nvSpPr>
          <p:cNvPr id="9" name="Strategy 4"/>
          <p:cNvSpPr txBox="1"/>
          <p:nvPr/>
        </p:nvSpPr>
        <p:spPr>
          <a:xfrm rot="0">
            <a:off x="9540077"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4</a:t>
            </a:r>
            <a:endParaRPr lang="en-US"/>
          </a:p>
        </p:txBody>
      </p:sp>
      <p:sp>
        <p:nvSpPr>
          <p:cNvPr id="10" name="One of P parents"/>
          <p:cNvSpPr txBox="1"/>
          <p:nvPr/>
        </p:nvSpPr>
        <p:spPr>
          <a:xfrm rot="0">
            <a:off x="1324192" y="1901717"/>
            <a:ext cx="1090017"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One of P parents</a:t>
            </a:r>
            <a:endParaRPr lang="en-US"/>
          </a:p>
        </p:txBody>
      </p:sp>
      <p:sp>
        <p:nvSpPr>
          <p:cNvPr id="11" name="Plan for parent p"/>
          <p:cNvSpPr txBox="1"/>
          <p:nvPr/>
        </p:nvSpPr>
        <p:spPr>
          <a:xfrm rot="0">
            <a:off x="3485685"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2" name="Plan for parent p"/>
          <p:cNvSpPr txBox="1"/>
          <p:nvPr/>
        </p:nvSpPr>
        <p:spPr>
          <a:xfrm rot="0">
            <a:off x="5472760"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3" name="Plan for parent p"/>
          <p:cNvSpPr txBox="1"/>
          <p:nvPr/>
        </p:nvSpPr>
        <p:spPr>
          <a:xfrm rot="0">
            <a:off x="7459835"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4" name="Plan for parent p"/>
          <p:cNvSpPr txBox="1"/>
          <p:nvPr/>
        </p:nvSpPr>
        <p:spPr>
          <a:xfrm rot="0">
            <a:off x="9446910"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5" name="H pilot programs"/>
          <p:cNvSpPr txBox="1"/>
          <p:nvPr/>
        </p:nvSpPr>
        <p:spPr>
          <a:xfrm rot="0">
            <a:off x="3305380" y="2547020"/>
            <a:ext cx="143009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H pilot programs</a:t>
            </a:r>
            <a:endParaRPr lang="en-US"/>
          </a:p>
        </p:txBody>
      </p:sp>
      <p:sp>
        <p:nvSpPr>
          <p:cNvPr id="16" name="H pilot programs"/>
          <p:cNvSpPr txBox="1"/>
          <p:nvPr/>
        </p:nvSpPr>
        <p:spPr>
          <a:xfrm rot="0">
            <a:off x="5292455" y="2547020"/>
            <a:ext cx="143009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H pilot programs</a:t>
            </a:r>
            <a:endParaRPr lang="en-US"/>
          </a:p>
        </p:txBody>
      </p:sp>
      <p:sp>
        <p:nvSpPr>
          <p:cNvPr id="17" name="H pilot programs"/>
          <p:cNvSpPr txBox="1"/>
          <p:nvPr/>
        </p:nvSpPr>
        <p:spPr>
          <a:xfrm rot="0">
            <a:off x="7279530" y="2547020"/>
            <a:ext cx="143009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H pilot programs</a:t>
            </a:r>
            <a:endParaRPr lang="en-US"/>
          </a:p>
        </p:txBody>
      </p:sp>
      <p:sp>
        <p:nvSpPr>
          <p:cNvPr id="18" name="H pilot programs"/>
          <p:cNvSpPr txBox="1"/>
          <p:nvPr/>
        </p:nvSpPr>
        <p:spPr>
          <a:xfrm rot="0">
            <a:off x="9266605" y="2547020"/>
            <a:ext cx="143009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H pilot programs</a:t>
            </a:r>
            <a:endParaRPr lang="en-US"/>
          </a:p>
        </p:txBody>
      </p:sp>
      <p:sp>
        <p:nvSpPr>
          <p:cNvPr id="19" name="Archive"/>
          <p:cNvSpPr txBox="1"/>
          <p:nvPr/>
        </p:nvSpPr>
        <p:spPr>
          <a:xfrm rot="0">
            <a:off x="1528458" y="3074026"/>
            <a:ext cx="681484"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Archive</a:t>
            </a:r>
            <a:endParaRPr lang="en-US"/>
          </a:p>
        </p:txBody>
      </p:sp>
      <p:sp>
        <p:nvSpPr>
          <p:cNvPr id="20" name="CPU evaluation streams results as programs arrive"/>
          <p:cNvSpPr txBox="1"/>
          <p:nvPr/>
        </p:nvSpPr>
        <p:spPr>
          <a:xfrm rot="0">
            <a:off x="4878823" y="3099945"/>
            <a:ext cx="424443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CPU evaluation streams results as programs arrive</a:t>
            </a:r>
            <a:endParaRPr lang="en-US"/>
          </a:p>
        </p:txBody>
      </p:sp>
      <p:sp>
        <p:nvSpPr>
          <p:cNvPr id="21" name="Scores + ancestry"/>
          <p:cNvSpPr txBox="1"/>
          <p:nvPr/>
        </p:nvSpPr>
        <p:spPr>
          <a:xfrm rot="0">
            <a:off x="1290333" y="3309948"/>
            <a:ext cx="1157734" cy="171961"/>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Scores + ancestry</a:t>
            </a:r>
            <a:endParaRPr lang="en-US"/>
          </a:p>
        </p:txBody>
      </p:sp>
      <p:sp>
        <p:nvSpPr>
          <p:cNvPr id="22" name="Strategist: frozen planning LLM. Coder: shared LLM trained on all eval"/>
          <p:cNvSpPr txBox="1"/>
          <p:nvPr/>
        </p:nvSpPr>
        <p:spPr>
          <a:xfrm rot="0">
            <a:off x="2007691" y="5286375"/>
            <a:ext cx="832330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1" i="0" spc="0">
                <a:solidFill>
                  <a:srgbClr val="202328"/>
                </a:solidFill>
                <a:latin typeface="Arial"/>
              </a:rPr>
              <a:t xml:space="preserve">Strategist:</a:t>
            </a:r>
            <a:r>
              <a:rPr lang="en-US" sz="1650" b="0" i="0" spc="0">
                <a:solidFill>
                  <a:srgbClr val="202328"/>
                </a:solidFill>
                <a:latin typeface="Arial"/>
              </a:rPr>
              <a:t xml:space="preserve"> frozen planning LLM. </a:t>
            </a:r>
            <a:r>
              <a:rPr lang="en-US" sz="1650" b="1" i="0" spc="0">
                <a:solidFill>
                  <a:srgbClr val="202328"/>
                </a:solidFill>
                <a:latin typeface="Arial"/>
              </a:rPr>
              <a:t xml:space="preserve">Coder:</a:t>
            </a:r>
            <a:r>
              <a:rPr lang="en-US" sz="1650" b="0" i="0" spc="0">
                <a:solidFill>
                  <a:srgbClr val="202328"/>
                </a:solidFill>
                <a:latin typeface="Arial"/>
              </a:rPr>
              <a:t xml:space="preserve"> shared LLM trained on all evaluated programs.</a:t>
            </a:r>
            <a:endParaRPr lang="en-US"/>
          </a:p>
        </p:txBody>
      </p:sp>
      <p:sp>
        <p:nvSpPr>
          <p:cNvPr id="23"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24"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25" name="Page 7"/>
          <p:cNvSpPr txBox="1"/>
          <p:nvPr/>
        </p:nvSpPr>
        <p:spPr>
          <a:xfrm rot="0">
            <a:off x="5985867" y="6434138"/>
            <a:ext cx="4424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7</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Technical Solution: Hierarchical Discovery Pipeline">
    <p:spTree>
      <p:nvGrpSpPr>
        <p:cNvPr id="1" name=""/>
        <p:cNvGrpSpPr/>
        <p:nvPr/>
      </p:nvGrpSpPr>
      <p:grpSpPr>
        <a:xfrm>
          <a:off x="0" y="0"/>
          <a:ext cx="0" cy="0"/>
          <a:chOff x="0" y="0"/>
          <a:chExt cx="0" cy="0"/>
        </a:xfrm>
      </p:grpSpPr>
      <p:pic>
        <p:nvPicPr>
          <p:cNvPr id="2" name="Technical Solution: Hierarchical Discovery Pipeline graphic elements" descr="Technical Solution: Hierarchical Discovery Pipeline graphic elements"/>
          <p:cNvPicPr>
            <a:picLocks noChangeAspect="1"/>
          </p:cNvPicPr>
          <p:nvPr/>
        </p:nvPicPr>
        <p:blipFill>
          <a:blip r:embed="rId2"/>
          <a:stretch>
            <a:fillRect/>
          </a:stretch>
        </p:blipFill>
        <p:spPr>
          <a:xfrm>
            <a:off x="0" y="0"/>
            <a:ext cx="12192000" cy="6858000"/>
          </a:xfrm>
          <a:prstGeom prst="rect">
            <a:avLst/>
          </a:prstGeom>
        </p:spPr>
      </p:pic>
      <p:sp>
        <p:nvSpPr>
          <p:cNvPr id="3" name="Technical Solution: Hierarchical Discovery Pipeline"/>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Technical Solution: Hierarchical Discovery Pipeline</a:t>
            </a:r>
            <a:endParaRPr lang="en-US"/>
          </a:p>
        </p:txBody>
      </p:sp>
      <p:sp>
        <p:nvSpPr>
          <p:cNvPr id="4" name="Each new plan sees earlier plans to encourage a different approach"/>
          <p:cNvSpPr txBox="1"/>
          <p:nvPr/>
        </p:nvSpPr>
        <p:spPr>
          <a:xfrm rot="0">
            <a:off x="4519923" y="1251101"/>
            <a:ext cx="4962228"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93" b="0" i="0" spc="0">
                <a:solidFill>
                  <a:srgbClr val="466B8A"/>
                </a:solidFill>
                <a:latin typeface="Arial"/>
              </a:rPr>
              <a:t xml:space="preserve">Each new plan sees earlier plans to encourage a different approach</a:t>
            </a:r>
            <a:endParaRPr lang="en-US"/>
          </a:p>
        </p:txBody>
      </p:sp>
      <p:sp>
        <p:nvSpPr>
          <p:cNvPr id="5" name="Parent p"/>
          <p:cNvSpPr txBox="1"/>
          <p:nvPr/>
        </p:nvSpPr>
        <p:spPr>
          <a:xfrm rot="0">
            <a:off x="1499734" y="1665795"/>
            <a:ext cx="738932"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Parent p</a:t>
            </a:r>
            <a:endParaRPr lang="en-US"/>
          </a:p>
        </p:txBody>
      </p:sp>
      <p:sp>
        <p:nvSpPr>
          <p:cNvPr id="6" name="Strategy 1"/>
          <p:cNvSpPr txBox="1"/>
          <p:nvPr/>
        </p:nvSpPr>
        <p:spPr>
          <a:xfrm rot="0">
            <a:off x="3578852"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1</a:t>
            </a:r>
            <a:endParaRPr lang="en-US"/>
          </a:p>
        </p:txBody>
      </p:sp>
      <p:sp>
        <p:nvSpPr>
          <p:cNvPr id="7" name="Strategy 2"/>
          <p:cNvSpPr txBox="1"/>
          <p:nvPr/>
        </p:nvSpPr>
        <p:spPr>
          <a:xfrm rot="0">
            <a:off x="5565926"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2</a:t>
            </a:r>
            <a:endParaRPr lang="en-US"/>
          </a:p>
        </p:txBody>
      </p:sp>
      <p:sp>
        <p:nvSpPr>
          <p:cNvPr id="8" name="Strategy 3"/>
          <p:cNvSpPr txBox="1"/>
          <p:nvPr/>
        </p:nvSpPr>
        <p:spPr>
          <a:xfrm rot="0">
            <a:off x="7553002"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3</a:t>
            </a:r>
            <a:endParaRPr lang="en-US"/>
          </a:p>
        </p:txBody>
      </p:sp>
      <p:sp>
        <p:nvSpPr>
          <p:cNvPr id="9" name="Strategy 4"/>
          <p:cNvSpPr txBox="1"/>
          <p:nvPr/>
        </p:nvSpPr>
        <p:spPr>
          <a:xfrm rot="0">
            <a:off x="9540077"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4</a:t>
            </a:r>
            <a:endParaRPr lang="en-US"/>
          </a:p>
        </p:txBody>
      </p:sp>
      <p:sp>
        <p:nvSpPr>
          <p:cNvPr id="10" name="One of P parents"/>
          <p:cNvSpPr txBox="1"/>
          <p:nvPr/>
        </p:nvSpPr>
        <p:spPr>
          <a:xfrm rot="0">
            <a:off x="1324192" y="1901717"/>
            <a:ext cx="1090017"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One of P parents</a:t>
            </a:r>
            <a:endParaRPr lang="en-US"/>
          </a:p>
        </p:txBody>
      </p:sp>
      <p:sp>
        <p:nvSpPr>
          <p:cNvPr id="11" name="Plan for parent p"/>
          <p:cNvSpPr txBox="1"/>
          <p:nvPr/>
        </p:nvSpPr>
        <p:spPr>
          <a:xfrm rot="0">
            <a:off x="3485685"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2" name="Plan for parent p"/>
          <p:cNvSpPr txBox="1"/>
          <p:nvPr/>
        </p:nvSpPr>
        <p:spPr>
          <a:xfrm rot="0">
            <a:off x="5472760"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3" name="Plan for parent p"/>
          <p:cNvSpPr txBox="1"/>
          <p:nvPr/>
        </p:nvSpPr>
        <p:spPr>
          <a:xfrm rot="0">
            <a:off x="7459835"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4" name="Plan for parent p"/>
          <p:cNvSpPr txBox="1"/>
          <p:nvPr/>
        </p:nvSpPr>
        <p:spPr>
          <a:xfrm rot="0">
            <a:off x="9446910"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5" name="H pilot programs"/>
          <p:cNvSpPr txBox="1"/>
          <p:nvPr/>
        </p:nvSpPr>
        <p:spPr>
          <a:xfrm rot="0">
            <a:off x="3305380" y="2547020"/>
            <a:ext cx="143009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H pilot programs</a:t>
            </a:r>
            <a:endParaRPr lang="en-US"/>
          </a:p>
        </p:txBody>
      </p:sp>
      <p:sp>
        <p:nvSpPr>
          <p:cNvPr id="16" name="H pilot programs"/>
          <p:cNvSpPr txBox="1"/>
          <p:nvPr/>
        </p:nvSpPr>
        <p:spPr>
          <a:xfrm rot="0">
            <a:off x="5292455" y="2547020"/>
            <a:ext cx="143009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H pilot programs</a:t>
            </a:r>
            <a:endParaRPr lang="en-US"/>
          </a:p>
        </p:txBody>
      </p:sp>
      <p:sp>
        <p:nvSpPr>
          <p:cNvPr id="17" name="H pilot programs"/>
          <p:cNvSpPr txBox="1"/>
          <p:nvPr/>
        </p:nvSpPr>
        <p:spPr>
          <a:xfrm rot="0">
            <a:off x="7279530" y="2547020"/>
            <a:ext cx="143009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H pilot programs</a:t>
            </a:r>
            <a:endParaRPr lang="en-US"/>
          </a:p>
        </p:txBody>
      </p:sp>
      <p:sp>
        <p:nvSpPr>
          <p:cNvPr id="18" name="H pilot programs"/>
          <p:cNvSpPr txBox="1"/>
          <p:nvPr/>
        </p:nvSpPr>
        <p:spPr>
          <a:xfrm rot="0">
            <a:off x="9266605" y="2547020"/>
            <a:ext cx="143009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H pilot programs</a:t>
            </a:r>
            <a:endParaRPr lang="en-US"/>
          </a:p>
        </p:txBody>
      </p:sp>
      <p:sp>
        <p:nvSpPr>
          <p:cNvPr id="19" name="Archive"/>
          <p:cNvSpPr txBox="1"/>
          <p:nvPr/>
        </p:nvSpPr>
        <p:spPr>
          <a:xfrm rot="0">
            <a:off x="1528458" y="3074026"/>
            <a:ext cx="681484"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Archive</a:t>
            </a:r>
            <a:endParaRPr lang="en-US"/>
          </a:p>
        </p:txBody>
      </p:sp>
      <p:sp>
        <p:nvSpPr>
          <p:cNvPr id="20" name="CPU evaluation streams results as programs arrive"/>
          <p:cNvSpPr txBox="1"/>
          <p:nvPr/>
        </p:nvSpPr>
        <p:spPr>
          <a:xfrm rot="0">
            <a:off x="4878823" y="3099945"/>
            <a:ext cx="424443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CPU evaluation streams results as programs arrive</a:t>
            </a:r>
            <a:endParaRPr lang="en-US"/>
          </a:p>
        </p:txBody>
      </p:sp>
      <p:sp>
        <p:nvSpPr>
          <p:cNvPr id="21" name="Scores + ancestry"/>
          <p:cNvSpPr txBox="1"/>
          <p:nvPr/>
        </p:nvSpPr>
        <p:spPr>
          <a:xfrm rot="0">
            <a:off x="1290333" y="3309948"/>
            <a:ext cx="1157734" cy="171961"/>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Scores + ancestry</a:t>
            </a:r>
            <a:endParaRPr lang="en-US"/>
          </a:p>
        </p:txBody>
      </p:sp>
      <p:sp>
        <p:nvSpPr>
          <p:cNvPr id="22" name="Parent-relative hurdle bandit"/>
          <p:cNvSpPr txBox="1"/>
          <p:nvPr/>
        </p:nvSpPr>
        <p:spPr>
          <a:xfrm rot="0">
            <a:off x="5805873" y="3575115"/>
            <a:ext cx="2390329"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Parent-relative hurdle bandit</a:t>
            </a:r>
            <a:endParaRPr lang="en-US"/>
          </a:p>
        </p:txBody>
      </p:sp>
      <p:sp>
        <p:nvSpPr>
          <p:cNvPr id="23" name="Use pilot outcomes to allocate B follow-up programs"/>
          <p:cNvSpPr txBox="1"/>
          <p:nvPr/>
        </p:nvSpPr>
        <p:spPr>
          <a:xfrm rot="0">
            <a:off x="5383201" y="3811037"/>
            <a:ext cx="3235673" cy="171961"/>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Use pilot outcomes to allocate B follow-up programs</a:t>
            </a:r>
            <a:endParaRPr lang="en-US"/>
          </a:p>
        </p:txBody>
      </p:sp>
      <p:sp>
        <p:nvSpPr>
          <p:cNvPr id="24" name="Strategist: frozen planning LLM. Coder: shared LLM trained on all eval"/>
          <p:cNvSpPr txBox="1"/>
          <p:nvPr/>
        </p:nvSpPr>
        <p:spPr>
          <a:xfrm rot="0">
            <a:off x="2007691" y="5286375"/>
            <a:ext cx="832330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1" i="0" spc="0">
                <a:solidFill>
                  <a:srgbClr val="202328"/>
                </a:solidFill>
                <a:latin typeface="Arial"/>
              </a:rPr>
              <a:t xml:space="preserve">Strategist:</a:t>
            </a:r>
            <a:r>
              <a:rPr lang="en-US" sz="1650" b="0" i="0" spc="0">
                <a:solidFill>
                  <a:srgbClr val="202328"/>
                </a:solidFill>
                <a:latin typeface="Arial"/>
              </a:rPr>
              <a:t xml:space="preserve"> frozen planning LLM. </a:t>
            </a:r>
            <a:r>
              <a:rPr lang="en-US" sz="1650" b="1" i="0" spc="0">
                <a:solidFill>
                  <a:srgbClr val="202328"/>
                </a:solidFill>
                <a:latin typeface="Arial"/>
              </a:rPr>
              <a:t xml:space="preserve">Coder:</a:t>
            </a:r>
            <a:r>
              <a:rPr lang="en-US" sz="1650" b="0" i="0" spc="0">
                <a:solidFill>
                  <a:srgbClr val="202328"/>
                </a:solidFill>
                <a:latin typeface="Arial"/>
              </a:rPr>
              <a:t xml:space="preserve"> shared LLM trained on all evaluated programs.</a:t>
            </a:r>
            <a:endParaRPr lang="en-US"/>
          </a:p>
        </p:txBody>
      </p:sp>
      <p:sp>
        <p:nvSpPr>
          <p:cNvPr id="25"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26"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27" name="Page 7"/>
          <p:cNvSpPr txBox="1"/>
          <p:nvPr/>
        </p:nvSpPr>
        <p:spPr>
          <a:xfrm rot="0">
            <a:off x="5985867" y="6434138"/>
            <a:ext cx="4424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7</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Technical Solution: Hierarchical Discovery Pipeline">
    <p:spTree>
      <p:nvGrpSpPr>
        <p:cNvPr id="1" name=""/>
        <p:cNvGrpSpPr/>
        <p:nvPr/>
      </p:nvGrpSpPr>
      <p:grpSpPr>
        <a:xfrm>
          <a:off x="0" y="0"/>
          <a:ext cx="0" cy="0"/>
          <a:chOff x="0" y="0"/>
          <a:chExt cx="0" cy="0"/>
        </a:xfrm>
      </p:grpSpPr>
      <p:pic>
        <p:nvPicPr>
          <p:cNvPr id="2" name="Technical Solution: Hierarchical Discovery Pipeline graphic elements" descr="Technical Solution: Hierarchical Discovery Pipeline graphic elements"/>
          <p:cNvPicPr>
            <a:picLocks noChangeAspect="1"/>
          </p:cNvPicPr>
          <p:nvPr/>
        </p:nvPicPr>
        <p:blipFill>
          <a:blip r:embed="rId2"/>
          <a:stretch>
            <a:fillRect/>
          </a:stretch>
        </p:blipFill>
        <p:spPr>
          <a:xfrm>
            <a:off x="0" y="0"/>
            <a:ext cx="12192000" cy="6858000"/>
          </a:xfrm>
          <a:prstGeom prst="rect">
            <a:avLst/>
          </a:prstGeom>
        </p:spPr>
      </p:pic>
      <p:sp>
        <p:nvSpPr>
          <p:cNvPr id="3" name="Technical Solution: Hierarchical Discovery Pipeline"/>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Technical Solution: Hierarchical Discovery Pipeline</a:t>
            </a:r>
            <a:endParaRPr lang="en-US"/>
          </a:p>
        </p:txBody>
      </p:sp>
      <p:sp>
        <p:nvSpPr>
          <p:cNvPr id="4" name="Each new plan sees earlier plans to encourage a different approach"/>
          <p:cNvSpPr txBox="1"/>
          <p:nvPr/>
        </p:nvSpPr>
        <p:spPr>
          <a:xfrm rot="0">
            <a:off x="4519923" y="1251101"/>
            <a:ext cx="4962228"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93" b="0" i="0" spc="0">
                <a:solidFill>
                  <a:srgbClr val="466B8A"/>
                </a:solidFill>
                <a:latin typeface="Arial"/>
              </a:rPr>
              <a:t xml:space="preserve">Each new plan sees earlier plans to encourage a different approach</a:t>
            </a:r>
            <a:endParaRPr lang="en-US"/>
          </a:p>
        </p:txBody>
      </p:sp>
      <p:sp>
        <p:nvSpPr>
          <p:cNvPr id="5" name="Parent p"/>
          <p:cNvSpPr txBox="1"/>
          <p:nvPr/>
        </p:nvSpPr>
        <p:spPr>
          <a:xfrm rot="0">
            <a:off x="1499734" y="1665795"/>
            <a:ext cx="738932"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Parent p</a:t>
            </a:r>
            <a:endParaRPr lang="en-US"/>
          </a:p>
        </p:txBody>
      </p:sp>
      <p:sp>
        <p:nvSpPr>
          <p:cNvPr id="6" name="Strategy 1"/>
          <p:cNvSpPr txBox="1"/>
          <p:nvPr/>
        </p:nvSpPr>
        <p:spPr>
          <a:xfrm rot="0">
            <a:off x="3578852"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1</a:t>
            </a:r>
            <a:endParaRPr lang="en-US"/>
          </a:p>
        </p:txBody>
      </p:sp>
      <p:sp>
        <p:nvSpPr>
          <p:cNvPr id="7" name="Strategy 2"/>
          <p:cNvSpPr txBox="1"/>
          <p:nvPr/>
        </p:nvSpPr>
        <p:spPr>
          <a:xfrm rot="0">
            <a:off x="5565926"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2</a:t>
            </a:r>
            <a:endParaRPr lang="en-US"/>
          </a:p>
        </p:txBody>
      </p:sp>
      <p:sp>
        <p:nvSpPr>
          <p:cNvPr id="8" name="Strategy 3"/>
          <p:cNvSpPr txBox="1"/>
          <p:nvPr/>
        </p:nvSpPr>
        <p:spPr>
          <a:xfrm rot="0">
            <a:off x="7553002"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3</a:t>
            </a:r>
            <a:endParaRPr lang="en-US"/>
          </a:p>
        </p:txBody>
      </p:sp>
      <p:sp>
        <p:nvSpPr>
          <p:cNvPr id="9" name="Strategy 4"/>
          <p:cNvSpPr txBox="1"/>
          <p:nvPr/>
        </p:nvSpPr>
        <p:spPr>
          <a:xfrm rot="0">
            <a:off x="9540077"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4</a:t>
            </a:r>
            <a:endParaRPr lang="en-US"/>
          </a:p>
        </p:txBody>
      </p:sp>
      <p:sp>
        <p:nvSpPr>
          <p:cNvPr id="10" name="One of P parents"/>
          <p:cNvSpPr txBox="1"/>
          <p:nvPr/>
        </p:nvSpPr>
        <p:spPr>
          <a:xfrm rot="0">
            <a:off x="1324192" y="1901717"/>
            <a:ext cx="1090017"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One of P parents</a:t>
            </a:r>
            <a:endParaRPr lang="en-US"/>
          </a:p>
        </p:txBody>
      </p:sp>
      <p:sp>
        <p:nvSpPr>
          <p:cNvPr id="11" name="Plan for parent p"/>
          <p:cNvSpPr txBox="1"/>
          <p:nvPr/>
        </p:nvSpPr>
        <p:spPr>
          <a:xfrm rot="0">
            <a:off x="3485685"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2" name="Plan for parent p"/>
          <p:cNvSpPr txBox="1"/>
          <p:nvPr/>
        </p:nvSpPr>
        <p:spPr>
          <a:xfrm rot="0">
            <a:off x="5472760"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3" name="Plan for parent p"/>
          <p:cNvSpPr txBox="1"/>
          <p:nvPr/>
        </p:nvSpPr>
        <p:spPr>
          <a:xfrm rot="0">
            <a:off x="7459835"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4" name="Plan for parent p"/>
          <p:cNvSpPr txBox="1"/>
          <p:nvPr/>
        </p:nvSpPr>
        <p:spPr>
          <a:xfrm rot="0">
            <a:off x="9446910"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5" name="H pilot programs"/>
          <p:cNvSpPr txBox="1"/>
          <p:nvPr/>
        </p:nvSpPr>
        <p:spPr>
          <a:xfrm rot="0">
            <a:off x="3305380" y="2547020"/>
            <a:ext cx="143009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H pilot programs</a:t>
            </a:r>
            <a:endParaRPr lang="en-US"/>
          </a:p>
        </p:txBody>
      </p:sp>
      <p:sp>
        <p:nvSpPr>
          <p:cNvPr id="16" name="H pilot programs"/>
          <p:cNvSpPr txBox="1"/>
          <p:nvPr/>
        </p:nvSpPr>
        <p:spPr>
          <a:xfrm rot="0">
            <a:off x="5292455" y="2547020"/>
            <a:ext cx="143009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H pilot programs</a:t>
            </a:r>
            <a:endParaRPr lang="en-US"/>
          </a:p>
        </p:txBody>
      </p:sp>
      <p:sp>
        <p:nvSpPr>
          <p:cNvPr id="17" name="H pilot programs"/>
          <p:cNvSpPr txBox="1"/>
          <p:nvPr/>
        </p:nvSpPr>
        <p:spPr>
          <a:xfrm rot="0">
            <a:off x="7279530" y="2547020"/>
            <a:ext cx="143009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H pilot programs</a:t>
            </a:r>
            <a:endParaRPr lang="en-US"/>
          </a:p>
        </p:txBody>
      </p:sp>
      <p:sp>
        <p:nvSpPr>
          <p:cNvPr id="18" name="H pilot programs"/>
          <p:cNvSpPr txBox="1"/>
          <p:nvPr/>
        </p:nvSpPr>
        <p:spPr>
          <a:xfrm rot="0">
            <a:off x="9266605" y="2547020"/>
            <a:ext cx="143009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H pilot programs</a:t>
            </a:r>
            <a:endParaRPr lang="en-US"/>
          </a:p>
        </p:txBody>
      </p:sp>
      <p:sp>
        <p:nvSpPr>
          <p:cNvPr id="19" name="Archive"/>
          <p:cNvSpPr txBox="1"/>
          <p:nvPr/>
        </p:nvSpPr>
        <p:spPr>
          <a:xfrm rot="0">
            <a:off x="1528458" y="3074026"/>
            <a:ext cx="681484"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Archive</a:t>
            </a:r>
            <a:endParaRPr lang="en-US"/>
          </a:p>
        </p:txBody>
      </p:sp>
      <p:sp>
        <p:nvSpPr>
          <p:cNvPr id="20" name="CPU evaluation streams results as programs arrive"/>
          <p:cNvSpPr txBox="1"/>
          <p:nvPr/>
        </p:nvSpPr>
        <p:spPr>
          <a:xfrm rot="0">
            <a:off x="4878823" y="3099945"/>
            <a:ext cx="424443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CPU evaluation streams results as programs arrive</a:t>
            </a:r>
            <a:endParaRPr lang="en-US"/>
          </a:p>
        </p:txBody>
      </p:sp>
      <p:sp>
        <p:nvSpPr>
          <p:cNvPr id="21" name="Scores + ancestry"/>
          <p:cNvSpPr txBox="1"/>
          <p:nvPr/>
        </p:nvSpPr>
        <p:spPr>
          <a:xfrm rot="0">
            <a:off x="1290333" y="3309948"/>
            <a:ext cx="1157734" cy="171961"/>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Scores + ancestry</a:t>
            </a:r>
            <a:endParaRPr lang="en-US"/>
          </a:p>
        </p:txBody>
      </p:sp>
      <p:sp>
        <p:nvSpPr>
          <p:cNvPr id="22" name="Parent-relative hurdle bandit"/>
          <p:cNvSpPr txBox="1"/>
          <p:nvPr/>
        </p:nvSpPr>
        <p:spPr>
          <a:xfrm rot="0">
            <a:off x="5805873" y="3575115"/>
            <a:ext cx="2390329"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Parent-relative hurdle bandit</a:t>
            </a:r>
            <a:endParaRPr lang="en-US"/>
          </a:p>
        </p:txBody>
      </p:sp>
      <p:sp>
        <p:nvSpPr>
          <p:cNvPr id="23" name="Use pilot outcomes to allocate B follow-up programs"/>
          <p:cNvSpPr txBox="1"/>
          <p:nvPr/>
        </p:nvSpPr>
        <p:spPr>
          <a:xfrm rot="0">
            <a:off x="5383201" y="3811037"/>
            <a:ext cx="3235673" cy="171961"/>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Use pilot outcomes to allocate B follow-up programs</a:t>
            </a:r>
            <a:endParaRPr lang="en-US"/>
          </a:p>
        </p:txBody>
      </p:sp>
      <p:sp>
        <p:nvSpPr>
          <p:cNvPr id="24" name="a₃ new programs"/>
          <p:cNvSpPr txBox="1"/>
          <p:nvPr/>
        </p:nvSpPr>
        <p:spPr>
          <a:xfrm rot="0">
            <a:off x="7284218" y="4378584"/>
            <a:ext cx="1420713" cy="232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a₃ new programs</a:t>
            </a:r>
            <a:endParaRPr lang="en-US"/>
          </a:p>
        </p:txBody>
      </p:sp>
      <p:sp>
        <p:nvSpPr>
          <p:cNvPr id="25" name="a₁ new programs"/>
          <p:cNvSpPr txBox="1"/>
          <p:nvPr/>
        </p:nvSpPr>
        <p:spPr>
          <a:xfrm rot="0">
            <a:off x="3309994" y="4378584"/>
            <a:ext cx="1420862" cy="230507"/>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a₁ new programs</a:t>
            </a:r>
            <a:endParaRPr lang="en-US"/>
          </a:p>
        </p:txBody>
      </p:sp>
      <p:sp>
        <p:nvSpPr>
          <p:cNvPr id="26" name="a₂ new programs"/>
          <p:cNvSpPr txBox="1"/>
          <p:nvPr/>
        </p:nvSpPr>
        <p:spPr>
          <a:xfrm rot="0">
            <a:off x="5297068" y="4378584"/>
            <a:ext cx="1420862" cy="230507"/>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a₂ new programs</a:t>
            </a:r>
            <a:endParaRPr lang="en-US"/>
          </a:p>
        </p:txBody>
      </p:sp>
      <p:sp>
        <p:nvSpPr>
          <p:cNvPr id="27" name="a₄ new programs"/>
          <p:cNvSpPr txBox="1"/>
          <p:nvPr/>
        </p:nvSpPr>
        <p:spPr>
          <a:xfrm rot="0">
            <a:off x="9271219" y="4378584"/>
            <a:ext cx="1420862" cy="230507"/>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a₄ new programs</a:t>
            </a:r>
            <a:endParaRPr lang="en-US"/>
          </a:p>
        </p:txBody>
      </p:sp>
      <p:sp>
        <p:nvSpPr>
          <p:cNvPr id="28" name="Strategist: frozen planning LLM. Coder: shared LLM trained on all eval"/>
          <p:cNvSpPr txBox="1"/>
          <p:nvPr/>
        </p:nvSpPr>
        <p:spPr>
          <a:xfrm rot="0">
            <a:off x="2007691" y="5286375"/>
            <a:ext cx="832330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1" i="0" spc="0">
                <a:solidFill>
                  <a:srgbClr val="202328"/>
                </a:solidFill>
                <a:latin typeface="Arial"/>
              </a:rPr>
              <a:t xml:space="preserve">Strategist:</a:t>
            </a:r>
            <a:r>
              <a:rPr lang="en-US" sz="1650" b="0" i="0" spc="0">
                <a:solidFill>
                  <a:srgbClr val="202328"/>
                </a:solidFill>
                <a:latin typeface="Arial"/>
              </a:rPr>
              <a:t xml:space="preserve"> frozen planning LLM. </a:t>
            </a:r>
            <a:r>
              <a:rPr lang="en-US" sz="1650" b="1" i="0" spc="0">
                <a:solidFill>
                  <a:srgbClr val="202328"/>
                </a:solidFill>
                <a:latin typeface="Arial"/>
              </a:rPr>
              <a:t xml:space="preserve">Coder:</a:t>
            </a:r>
            <a:r>
              <a:rPr lang="en-US" sz="1650" b="0" i="0" spc="0">
                <a:solidFill>
                  <a:srgbClr val="202328"/>
                </a:solidFill>
                <a:latin typeface="Arial"/>
              </a:rPr>
              <a:t xml:space="preserve"> shared LLM trained on all evaluated programs.</a:t>
            </a:r>
            <a:endParaRPr lang="en-US"/>
          </a:p>
        </p:txBody>
      </p:sp>
      <p:sp>
        <p:nvSpPr>
          <p:cNvPr id="29"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30"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31" name="Page 7"/>
          <p:cNvSpPr txBox="1"/>
          <p:nvPr/>
        </p:nvSpPr>
        <p:spPr>
          <a:xfrm rot="0">
            <a:off x="5985867" y="6434138"/>
            <a:ext cx="4424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7</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Technical Solution: Hierarchical Discovery Pipeline">
    <p:spTree>
      <p:nvGrpSpPr>
        <p:cNvPr id="1" name=""/>
        <p:cNvGrpSpPr/>
        <p:nvPr/>
      </p:nvGrpSpPr>
      <p:grpSpPr>
        <a:xfrm>
          <a:off x="0" y="0"/>
          <a:ext cx="0" cy="0"/>
          <a:chOff x="0" y="0"/>
          <a:chExt cx="0" cy="0"/>
        </a:xfrm>
      </p:grpSpPr>
      <p:pic>
        <p:nvPicPr>
          <p:cNvPr id="2" name="Technical Solution: Hierarchical Discovery Pipeline graphic elements" descr="Technical Solution: Hierarchical Discovery Pipeline graphic elements"/>
          <p:cNvPicPr>
            <a:picLocks noChangeAspect="1"/>
          </p:cNvPicPr>
          <p:nvPr/>
        </p:nvPicPr>
        <p:blipFill>
          <a:blip r:embed="rId2"/>
          <a:stretch>
            <a:fillRect/>
          </a:stretch>
        </p:blipFill>
        <p:spPr>
          <a:xfrm>
            <a:off x="0" y="0"/>
            <a:ext cx="12192000" cy="6858000"/>
          </a:xfrm>
          <a:prstGeom prst="rect">
            <a:avLst/>
          </a:prstGeom>
        </p:spPr>
      </p:pic>
      <p:sp>
        <p:nvSpPr>
          <p:cNvPr id="3" name="Technical Solution: Hierarchical Discovery Pipeline"/>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Technical Solution: Hierarchical Discovery Pipeline</a:t>
            </a:r>
            <a:endParaRPr lang="en-US"/>
          </a:p>
        </p:txBody>
      </p:sp>
      <p:sp>
        <p:nvSpPr>
          <p:cNvPr id="4" name="Each new plan sees earlier plans to encourage a different approach"/>
          <p:cNvSpPr txBox="1"/>
          <p:nvPr/>
        </p:nvSpPr>
        <p:spPr>
          <a:xfrm rot="0">
            <a:off x="4519923" y="1251101"/>
            <a:ext cx="4962228"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93" b="0" i="0" spc="0">
                <a:solidFill>
                  <a:srgbClr val="466B8A"/>
                </a:solidFill>
                <a:latin typeface="Arial"/>
              </a:rPr>
              <a:t xml:space="preserve">Each new plan sees earlier plans to encourage a different approach</a:t>
            </a:r>
            <a:endParaRPr lang="en-US"/>
          </a:p>
        </p:txBody>
      </p:sp>
      <p:sp>
        <p:nvSpPr>
          <p:cNvPr id="5" name="Parent p"/>
          <p:cNvSpPr txBox="1"/>
          <p:nvPr/>
        </p:nvSpPr>
        <p:spPr>
          <a:xfrm rot="0">
            <a:off x="1499734" y="1665795"/>
            <a:ext cx="738932"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Parent p</a:t>
            </a:r>
            <a:endParaRPr lang="en-US"/>
          </a:p>
        </p:txBody>
      </p:sp>
      <p:sp>
        <p:nvSpPr>
          <p:cNvPr id="6" name="Strategy 1"/>
          <p:cNvSpPr txBox="1"/>
          <p:nvPr/>
        </p:nvSpPr>
        <p:spPr>
          <a:xfrm rot="0">
            <a:off x="3578852"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1</a:t>
            </a:r>
            <a:endParaRPr lang="en-US"/>
          </a:p>
        </p:txBody>
      </p:sp>
      <p:sp>
        <p:nvSpPr>
          <p:cNvPr id="7" name="Strategy 2"/>
          <p:cNvSpPr txBox="1"/>
          <p:nvPr/>
        </p:nvSpPr>
        <p:spPr>
          <a:xfrm rot="0">
            <a:off x="5565926"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2</a:t>
            </a:r>
            <a:endParaRPr lang="en-US"/>
          </a:p>
        </p:txBody>
      </p:sp>
      <p:sp>
        <p:nvSpPr>
          <p:cNvPr id="8" name="Strategy 3"/>
          <p:cNvSpPr txBox="1"/>
          <p:nvPr/>
        </p:nvSpPr>
        <p:spPr>
          <a:xfrm rot="0">
            <a:off x="7553002"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3</a:t>
            </a:r>
            <a:endParaRPr lang="en-US"/>
          </a:p>
        </p:txBody>
      </p:sp>
      <p:sp>
        <p:nvSpPr>
          <p:cNvPr id="9" name="Strategy 4"/>
          <p:cNvSpPr txBox="1"/>
          <p:nvPr/>
        </p:nvSpPr>
        <p:spPr>
          <a:xfrm rot="0">
            <a:off x="9540077" y="1665795"/>
            <a:ext cx="883146"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Strategy 4</a:t>
            </a:r>
            <a:endParaRPr lang="en-US"/>
          </a:p>
        </p:txBody>
      </p:sp>
      <p:sp>
        <p:nvSpPr>
          <p:cNvPr id="10" name="One of P parents"/>
          <p:cNvSpPr txBox="1"/>
          <p:nvPr/>
        </p:nvSpPr>
        <p:spPr>
          <a:xfrm rot="0">
            <a:off x="1324192" y="1901717"/>
            <a:ext cx="1090017"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One of P parents</a:t>
            </a:r>
            <a:endParaRPr lang="en-US"/>
          </a:p>
        </p:txBody>
      </p:sp>
      <p:sp>
        <p:nvSpPr>
          <p:cNvPr id="11" name="Plan for parent p"/>
          <p:cNvSpPr txBox="1"/>
          <p:nvPr/>
        </p:nvSpPr>
        <p:spPr>
          <a:xfrm rot="0">
            <a:off x="3485685"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2" name="Plan for parent p"/>
          <p:cNvSpPr txBox="1"/>
          <p:nvPr/>
        </p:nvSpPr>
        <p:spPr>
          <a:xfrm rot="0">
            <a:off x="5472760"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3" name="Plan for parent p"/>
          <p:cNvSpPr txBox="1"/>
          <p:nvPr/>
        </p:nvSpPr>
        <p:spPr>
          <a:xfrm rot="0">
            <a:off x="7459835"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4" name="Plan for parent p"/>
          <p:cNvSpPr txBox="1"/>
          <p:nvPr/>
        </p:nvSpPr>
        <p:spPr>
          <a:xfrm rot="0">
            <a:off x="9446910" y="1901717"/>
            <a:ext cx="106947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Plan for parent p</a:t>
            </a:r>
            <a:endParaRPr lang="en-US"/>
          </a:p>
        </p:txBody>
      </p:sp>
      <p:sp>
        <p:nvSpPr>
          <p:cNvPr id="15" name="H pilot programs"/>
          <p:cNvSpPr txBox="1"/>
          <p:nvPr/>
        </p:nvSpPr>
        <p:spPr>
          <a:xfrm rot="0">
            <a:off x="3305380" y="2547020"/>
            <a:ext cx="143009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H pilot programs</a:t>
            </a:r>
            <a:endParaRPr lang="en-US"/>
          </a:p>
        </p:txBody>
      </p:sp>
      <p:sp>
        <p:nvSpPr>
          <p:cNvPr id="16" name="H pilot programs"/>
          <p:cNvSpPr txBox="1"/>
          <p:nvPr/>
        </p:nvSpPr>
        <p:spPr>
          <a:xfrm rot="0">
            <a:off x="5292455" y="2547020"/>
            <a:ext cx="143009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H pilot programs</a:t>
            </a:r>
            <a:endParaRPr lang="en-US"/>
          </a:p>
        </p:txBody>
      </p:sp>
      <p:sp>
        <p:nvSpPr>
          <p:cNvPr id="17" name="H pilot programs"/>
          <p:cNvSpPr txBox="1"/>
          <p:nvPr/>
        </p:nvSpPr>
        <p:spPr>
          <a:xfrm rot="0">
            <a:off x="7279530" y="2547020"/>
            <a:ext cx="143009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H pilot programs</a:t>
            </a:r>
            <a:endParaRPr lang="en-US"/>
          </a:p>
        </p:txBody>
      </p:sp>
      <p:sp>
        <p:nvSpPr>
          <p:cNvPr id="18" name="H pilot programs"/>
          <p:cNvSpPr txBox="1"/>
          <p:nvPr/>
        </p:nvSpPr>
        <p:spPr>
          <a:xfrm rot="0">
            <a:off x="9266605" y="2547020"/>
            <a:ext cx="143009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H pilot programs</a:t>
            </a:r>
            <a:endParaRPr lang="en-US"/>
          </a:p>
        </p:txBody>
      </p:sp>
      <p:sp>
        <p:nvSpPr>
          <p:cNvPr id="19" name="Archive"/>
          <p:cNvSpPr txBox="1"/>
          <p:nvPr/>
        </p:nvSpPr>
        <p:spPr>
          <a:xfrm rot="0">
            <a:off x="1528458" y="3074026"/>
            <a:ext cx="681484"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Archive</a:t>
            </a:r>
            <a:endParaRPr lang="en-US"/>
          </a:p>
        </p:txBody>
      </p:sp>
      <p:sp>
        <p:nvSpPr>
          <p:cNvPr id="20" name="CPU evaluation streams results as programs arrive"/>
          <p:cNvSpPr txBox="1"/>
          <p:nvPr/>
        </p:nvSpPr>
        <p:spPr>
          <a:xfrm rot="0">
            <a:off x="4878823" y="3099945"/>
            <a:ext cx="4244430"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CPU evaluation streams results as programs arrive</a:t>
            </a:r>
            <a:endParaRPr lang="en-US"/>
          </a:p>
        </p:txBody>
      </p:sp>
      <p:sp>
        <p:nvSpPr>
          <p:cNvPr id="21" name="Scores + ancestry"/>
          <p:cNvSpPr txBox="1"/>
          <p:nvPr/>
        </p:nvSpPr>
        <p:spPr>
          <a:xfrm rot="0">
            <a:off x="1290333" y="3309948"/>
            <a:ext cx="1157734" cy="171961"/>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Scores + ancestry</a:t>
            </a:r>
            <a:endParaRPr lang="en-US"/>
          </a:p>
        </p:txBody>
      </p:sp>
      <p:sp>
        <p:nvSpPr>
          <p:cNvPr id="22" name="Parent-relative hurdle bandit"/>
          <p:cNvSpPr txBox="1"/>
          <p:nvPr/>
        </p:nvSpPr>
        <p:spPr>
          <a:xfrm rot="0">
            <a:off x="5805873" y="3575115"/>
            <a:ext cx="2390329"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Parent-relative hurdle bandit</a:t>
            </a:r>
            <a:endParaRPr lang="en-US"/>
          </a:p>
        </p:txBody>
      </p:sp>
      <p:sp>
        <p:nvSpPr>
          <p:cNvPr id="23" name="Update"/>
          <p:cNvSpPr txBox="1"/>
          <p:nvPr/>
        </p:nvSpPr>
        <p:spPr>
          <a:xfrm rot="0">
            <a:off x="2000898" y="3707363"/>
            <a:ext cx="493365"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606873"/>
                </a:solidFill>
                <a:latin typeface="Arial"/>
              </a:rPr>
              <a:t xml:space="preserve">Update</a:t>
            </a:r>
            <a:endParaRPr lang="en-US"/>
          </a:p>
        </p:txBody>
      </p:sp>
      <p:sp>
        <p:nvSpPr>
          <p:cNvPr id="24" name="Use pilot outcomes to allocate B follow-up programs"/>
          <p:cNvSpPr txBox="1"/>
          <p:nvPr/>
        </p:nvSpPr>
        <p:spPr>
          <a:xfrm rot="0">
            <a:off x="5383201" y="3811037"/>
            <a:ext cx="3235673" cy="171961"/>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88" b="0" i="0" spc="0">
                <a:solidFill>
                  <a:srgbClr val="202328"/>
                </a:solidFill>
                <a:latin typeface="Arial"/>
              </a:rPr>
              <a:t xml:space="preserve">Use pilot outcomes to allocate B follow-up programs</a:t>
            </a:r>
            <a:endParaRPr lang="en-US"/>
          </a:p>
        </p:txBody>
      </p:sp>
      <p:sp>
        <p:nvSpPr>
          <p:cNvPr id="25" name="a₃ new programs"/>
          <p:cNvSpPr txBox="1"/>
          <p:nvPr/>
        </p:nvSpPr>
        <p:spPr>
          <a:xfrm rot="0">
            <a:off x="7284218" y="4378584"/>
            <a:ext cx="1420713" cy="232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a₃ new programs</a:t>
            </a:r>
            <a:endParaRPr lang="en-US"/>
          </a:p>
        </p:txBody>
      </p:sp>
      <p:sp>
        <p:nvSpPr>
          <p:cNvPr id="26" name="a₁ new programs"/>
          <p:cNvSpPr txBox="1"/>
          <p:nvPr/>
        </p:nvSpPr>
        <p:spPr>
          <a:xfrm rot="0">
            <a:off x="3309994" y="4378584"/>
            <a:ext cx="1420862" cy="230507"/>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a₁ new programs</a:t>
            </a:r>
            <a:endParaRPr lang="en-US"/>
          </a:p>
        </p:txBody>
      </p:sp>
      <p:sp>
        <p:nvSpPr>
          <p:cNvPr id="27" name="a₂ new programs"/>
          <p:cNvSpPr txBox="1"/>
          <p:nvPr/>
        </p:nvSpPr>
        <p:spPr>
          <a:xfrm rot="0">
            <a:off x="5297068" y="4378584"/>
            <a:ext cx="1420862" cy="230507"/>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a₂ new programs</a:t>
            </a:r>
            <a:endParaRPr lang="en-US"/>
          </a:p>
        </p:txBody>
      </p:sp>
      <p:sp>
        <p:nvSpPr>
          <p:cNvPr id="28" name="a₄ new programs"/>
          <p:cNvSpPr txBox="1"/>
          <p:nvPr/>
        </p:nvSpPr>
        <p:spPr>
          <a:xfrm rot="0">
            <a:off x="9271219" y="4378584"/>
            <a:ext cx="1420862" cy="230507"/>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61" b="1" i="0" spc="0">
                <a:solidFill>
                  <a:srgbClr val="202328"/>
                </a:solidFill>
                <a:latin typeface="Arial"/>
              </a:rPr>
              <a:t xml:space="preserve">a₄ new programs</a:t>
            </a:r>
            <a:endParaRPr lang="en-US"/>
          </a:p>
        </p:txBody>
      </p:sp>
      <p:sp>
        <p:nvSpPr>
          <p:cNvPr id="29" name="Evaluate follow-ups and retain top candidates per strategy, then per p"/>
          <p:cNvSpPr txBox="1"/>
          <p:nvPr/>
        </p:nvSpPr>
        <p:spPr>
          <a:xfrm rot="0">
            <a:off x="4555196" y="4976478"/>
            <a:ext cx="4891683" cy="18329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56" b="0" i="0" spc="0">
                <a:solidFill>
                  <a:srgbClr val="202328"/>
                </a:solidFill>
                <a:latin typeface="Arial"/>
              </a:rPr>
              <a:t xml:space="preserve">Evaluate follow-ups and retain top candidates per strategy, then per parent</a:t>
            </a:r>
            <a:endParaRPr lang="en-US"/>
          </a:p>
        </p:txBody>
      </p:sp>
      <p:sp>
        <p:nvSpPr>
          <p:cNvPr id="30" name="Strategist: frozen planning LLM. Coder: shared LLM trained on all eval"/>
          <p:cNvSpPr txBox="1"/>
          <p:nvPr/>
        </p:nvSpPr>
        <p:spPr>
          <a:xfrm rot="0">
            <a:off x="2007691" y="5286375"/>
            <a:ext cx="832330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1" i="0" spc="0">
                <a:solidFill>
                  <a:srgbClr val="202328"/>
                </a:solidFill>
                <a:latin typeface="Arial"/>
              </a:rPr>
              <a:t xml:space="preserve">Strategist:</a:t>
            </a:r>
            <a:r>
              <a:rPr lang="en-US" sz="1650" b="0" i="0" spc="0">
                <a:solidFill>
                  <a:srgbClr val="202328"/>
                </a:solidFill>
                <a:latin typeface="Arial"/>
              </a:rPr>
              <a:t xml:space="preserve"> frozen planning LLM. </a:t>
            </a:r>
            <a:r>
              <a:rPr lang="en-US" sz="1650" b="1" i="0" spc="0">
                <a:solidFill>
                  <a:srgbClr val="202328"/>
                </a:solidFill>
                <a:latin typeface="Arial"/>
              </a:rPr>
              <a:t xml:space="preserve">Coder:</a:t>
            </a:r>
            <a:r>
              <a:rPr lang="en-US" sz="1650" b="0" i="0" spc="0">
                <a:solidFill>
                  <a:srgbClr val="202328"/>
                </a:solidFill>
                <a:latin typeface="Arial"/>
              </a:rPr>
              <a:t xml:space="preserve"> shared LLM trained on all evaluated programs.</a:t>
            </a:r>
            <a:endParaRPr lang="en-US"/>
          </a:p>
        </p:txBody>
      </p:sp>
      <p:sp>
        <p:nvSpPr>
          <p:cNvPr id="31"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32"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33" name="Page 7"/>
          <p:cNvSpPr txBox="1"/>
          <p:nvPr/>
        </p:nvSpPr>
        <p:spPr>
          <a:xfrm rot="0">
            <a:off x="5985867" y="6434138"/>
            <a:ext cx="4424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7</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Technical Solution: Allocation and Policy Training">
    <p:spTree>
      <p:nvGrpSpPr>
        <p:cNvPr id="1" name=""/>
        <p:cNvGrpSpPr/>
        <p:nvPr/>
      </p:nvGrpSpPr>
      <p:grpSpPr>
        <a:xfrm>
          <a:off x="0" y="0"/>
          <a:ext cx="0" cy="0"/>
          <a:chOff x="0" y="0"/>
          <a:chExt cx="0" cy="0"/>
        </a:xfrm>
      </p:grpSpPr>
      <p:pic>
        <p:nvPicPr>
          <p:cNvPr id="2" name="Technical Solution: Allocation and Policy Training graphic elements" descr="Technical Solution: Allocation and Policy Training graphic elements"/>
          <p:cNvPicPr>
            <a:picLocks noChangeAspect="1"/>
          </p:cNvPicPr>
          <p:nvPr/>
        </p:nvPicPr>
        <p:blipFill>
          <a:blip r:embed="rId2"/>
          <a:stretch>
            <a:fillRect/>
          </a:stretch>
        </p:blipFill>
        <p:spPr>
          <a:xfrm>
            <a:off x="0" y="0"/>
            <a:ext cx="12192000" cy="6858000"/>
          </a:xfrm>
          <a:prstGeom prst="rect">
            <a:avLst/>
          </a:prstGeom>
        </p:spPr>
      </p:pic>
      <p:sp>
        <p:nvSpPr>
          <p:cNvPr id="3" name="Technical Solution: Allocation and Policy Training"/>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Technical Solution: Allocation and Policy Training</a:t>
            </a:r>
            <a:endParaRPr lang="en-US"/>
          </a:p>
        </p:txBody>
      </p:sp>
      <p:sp>
        <p:nvSpPr>
          <p:cNvPr id="4" name="Parent-relative bandit allocation"/>
          <p:cNvSpPr txBox="1"/>
          <p:nvPr/>
        </p:nvSpPr>
        <p:spPr>
          <a:xfrm rot="0">
            <a:off x="590550" y="1352550"/>
            <a:ext cx="3476833"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1" i="0" spc="0">
                <a:solidFill>
                  <a:srgbClr val="202328"/>
                </a:solidFill>
                <a:latin typeface="Arial"/>
              </a:rPr>
              <a:t xml:space="preserve">Parent-relative bandit allocation</a:t>
            </a:r>
            <a:endParaRPr lang="en-US"/>
          </a:p>
        </p:txBody>
      </p:sp>
      <p:sp>
        <p:nvSpPr>
          <p:cNvPr id="5" name="Historical-baseline training (SPO²)"/>
          <p:cNvSpPr txBox="1"/>
          <p:nvPr/>
        </p:nvSpPr>
        <p:spPr>
          <a:xfrm rot="0">
            <a:off x="6296025" y="1352550"/>
            <a:ext cx="3707963"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1" i="0" spc="0">
                <a:solidFill>
                  <a:srgbClr val="202328"/>
                </a:solidFill>
                <a:latin typeface="Arial"/>
              </a:rPr>
              <a:t xml:space="preserve">Historical-baseline training (SPO²)</a:t>
            </a:r>
            <a:endParaRPr lang="en-US"/>
          </a:p>
        </p:txBody>
      </p:sp>
      <p:sp>
        <p:nvSpPr>
          <p:cNvPr id="6" name="•"/>
          <p:cNvSpPr txBox="1"/>
          <p:nvPr/>
        </p:nvSpPr>
        <p:spPr>
          <a:xfrm rot="0">
            <a:off x="685800" y="1797844"/>
            <a:ext cx="361950"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a:t>
            </a:r>
            <a:endParaRPr lang="en-US"/>
          </a:p>
        </p:txBody>
      </p:sp>
      <p:sp>
        <p:nvSpPr>
          <p:cNvPr id="7" name="Generate H pilot programs for each of S strategies."/>
          <p:cNvSpPr txBox="1"/>
          <p:nvPr/>
        </p:nvSpPr>
        <p:spPr>
          <a:xfrm rot="0">
            <a:off x="895350" y="1797844"/>
            <a:ext cx="4442966"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Generate H pilot programs for each of S strategies.</a:t>
            </a:r>
            <a:endParaRPr lang="en-US"/>
          </a:p>
        </p:txBody>
      </p:sp>
      <p:sp>
        <p:nvSpPr>
          <p:cNvPr id="8" name="•"/>
          <p:cNvSpPr txBox="1"/>
          <p:nvPr/>
        </p:nvSpPr>
        <p:spPr>
          <a:xfrm rot="0">
            <a:off x="6391275" y="1797844"/>
            <a:ext cx="361950"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a:t>
            </a:r>
            <a:endParaRPr lang="en-US"/>
          </a:p>
        </p:txBody>
      </p:sp>
      <p:sp>
        <p:nvSpPr>
          <p:cNvPr id="9" name="Higher rewards receive exponentially larger weights."/>
          <p:cNvSpPr txBox="1"/>
          <p:nvPr/>
        </p:nvSpPr>
        <p:spPr>
          <a:xfrm rot="0">
            <a:off x="6600825" y="1797844"/>
            <a:ext cx="4548783"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Higher rewards receive exponentially larger weights.</a:t>
            </a:r>
            <a:endParaRPr lang="en-US"/>
          </a:p>
        </p:txBody>
      </p:sp>
      <p:sp>
        <p:nvSpPr>
          <p:cNvPr id="10" name="•"/>
          <p:cNvSpPr txBox="1"/>
          <p:nvPr/>
        </p:nvSpPr>
        <p:spPr>
          <a:xfrm rot="0">
            <a:off x="685800" y="2178844"/>
            <a:ext cx="361950"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a:t>
            </a:r>
            <a:endParaRPr lang="en-US"/>
          </a:p>
        </p:txBody>
      </p:sp>
      <p:sp>
        <p:nvSpPr>
          <p:cNvPr id="11" name="Estimate each plan’s chance of improving on its parent and"/>
          <p:cNvSpPr txBox="1"/>
          <p:nvPr/>
        </p:nvSpPr>
        <p:spPr>
          <a:xfrm rot="0">
            <a:off x="895350" y="2178844"/>
            <a:ext cx="5117604"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Estimate each plan’s chance of improving on its parent and</a:t>
            </a:r>
            <a:endParaRPr lang="en-US"/>
          </a:p>
        </p:txBody>
      </p:sp>
      <p:sp>
        <p:nvSpPr>
          <p:cNvPr id="12" name="•"/>
          <p:cNvSpPr txBox="1"/>
          <p:nvPr/>
        </p:nvSpPr>
        <p:spPr>
          <a:xfrm rot="0">
            <a:off x="6391275" y="2178844"/>
            <a:ext cx="361950"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a:t>
            </a:r>
            <a:endParaRPr lang="en-US"/>
          </a:p>
        </p:txBody>
      </p:sp>
      <p:sp>
        <p:nvSpPr>
          <p:cNvPr id="13" name="Compute every advantage against the same moving"/>
          <p:cNvSpPr txBox="1"/>
          <p:nvPr/>
        </p:nvSpPr>
        <p:spPr>
          <a:xfrm rot="0">
            <a:off x="6600825" y="2178844"/>
            <a:ext cx="4538663"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Compute every advantage against the same moving</a:t>
            </a:r>
            <a:endParaRPr lang="en-US"/>
          </a:p>
        </p:txBody>
      </p:sp>
      <p:sp>
        <p:nvSpPr>
          <p:cNvPr id="14" name="the size of successful gains."/>
          <p:cNvSpPr txBox="1"/>
          <p:nvPr/>
        </p:nvSpPr>
        <p:spPr>
          <a:xfrm rot="0">
            <a:off x="895350" y="2445544"/>
            <a:ext cx="2505224"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the size of successful gains.</a:t>
            </a:r>
            <a:endParaRPr lang="en-US"/>
          </a:p>
        </p:txBody>
      </p:sp>
      <p:sp>
        <p:nvSpPr>
          <p:cNvPr id="15" name="average of earlier transformed rewards."/>
          <p:cNvSpPr txBox="1"/>
          <p:nvPr/>
        </p:nvSpPr>
        <p:spPr>
          <a:xfrm rot="0">
            <a:off x="6600825" y="2445544"/>
            <a:ext cx="3468588"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average of earlier transformed rewards.</a:t>
            </a:r>
            <a:endParaRPr lang="en-US"/>
          </a:p>
        </p:txBody>
      </p:sp>
      <p:sp>
        <p:nvSpPr>
          <p:cNvPr id="16" name="•"/>
          <p:cNvSpPr txBox="1"/>
          <p:nvPr/>
        </p:nvSpPr>
        <p:spPr>
          <a:xfrm rot="0">
            <a:off x="685800" y="2826544"/>
            <a:ext cx="361950"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a:t>
            </a:r>
            <a:endParaRPr lang="en-US"/>
          </a:p>
        </p:txBody>
      </p:sp>
      <p:sp>
        <p:nvSpPr>
          <p:cNvPr id="17" name="Allocate B follow-ups by their expected effect on the best"/>
          <p:cNvSpPr txBox="1"/>
          <p:nvPr/>
        </p:nvSpPr>
        <p:spPr>
          <a:xfrm rot="0">
            <a:off x="895350" y="2826544"/>
            <a:ext cx="4916388"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Allocate B follow-ups by their expected effect on the best</a:t>
            </a:r>
            <a:endParaRPr lang="en-US"/>
          </a:p>
        </p:txBody>
      </p:sp>
      <p:sp>
        <p:nvSpPr>
          <p:cNvPr id="18" name="sampled reward, accounting for uncertainty."/>
          <p:cNvSpPr txBox="1"/>
          <p:nvPr/>
        </p:nvSpPr>
        <p:spPr>
          <a:xfrm rot="0">
            <a:off x="895350" y="3093244"/>
            <a:ext cx="3814763"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sampled reward, accounting for uncertainty.</a:t>
            </a:r>
            <a:endParaRPr lang="en-US"/>
          </a:p>
        </p:txBody>
      </p:sp>
      <p:sp>
        <p:nvSpPr>
          <p:cNvPr id="19" name="R"/>
          <p:cNvSpPr txBox="1"/>
          <p:nvPr/>
        </p:nvSpPr>
        <p:spPr>
          <a:xfrm rot="0">
            <a:off x="590550" y="3950047"/>
            <a:ext cx="230326"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R</a:t>
            </a:r>
            <a:endParaRPr lang="en-US"/>
          </a:p>
        </p:txBody>
      </p:sp>
      <p:sp>
        <p:nvSpPr>
          <p:cNvPr id="20" name=": reward of pilot j for strategy k. R"/>
          <p:cNvSpPr txBox="1"/>
          <p:nvPr/>
        </p:nvSpPr>
        <p:spPr>
          <a:xfrm rot="0">
            <a:off x="842516" y="3950047"/>
            <a:ext cx="2489091"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 reward of pilot j for strategy k. R</a:t>
            </a:r>
            <a:endParaRPr lang="en-US"/>
          </a:p>
        </p:txBody>
      </p:sp>
      <p:sp>
        <p:nvSpPr>
          <p:cNvPr id="21" name=": parent reward."/>
          <p:cNvSpPr txBox="1"/>
          <p:nvPr/>
        </p:nvSpPr>
        <p:spPr>
          <a:xfrm rot="0">
            <a:off x="3293418" y="3950047"/>
            <a:ext cx="1247418"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 parent reward.</a:t>
            </a:r>
            <a:endParaRPr lang="en-US"/>
          </a:p>
        </p:txBody>
      </p:sp>
      <p:sp>
        <p:nvSpPr>
          <p:cNvPr id="22" name="k,j"/>
          <p:cNvSpPr txBox="1"/>
          <p:nvPr/>
        </p:nvSpPr>
        <p:spPr>
          <a:xfrm rot="0">
            <a:off x="707529" y="4010918"/>
            <a:ext cx="229444"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63" b="0" i="0" spc="0">
                <a:solidFill>
                  <a:srgbClr val="606873"/>
                </a:solidFill>
                <a:latin typeface="Arial"/>
              </a:rPr>
              <a:t xml:space="preserve">k,j</a:t>
            </a:r>
            <a:endParaRPr lang="en-US"/>
          </a:p>
        </p:txBody>
      </p:sp>
      <p:sp>
        <p:nvSpPr>
          <p:cNvPr id="23" name="p"/>
          <p:cNvSpPr txBox="1"/>
          <p:nvPr/>
        </p:nvSpPr>
        <p:spPr>
          <a:xfrm rot="0">
            <a:off x="3218259" y="4010918"/>
            <a:ext cx="169615"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63" b="0" i="0" spc="0">
                <a:solidFill>
                  <a:srgbClr val="606873"/>
                </a:solidFill>
                <a:latin typeface="Arial"/>
              </a:rPr>
              <a:t xml:space="preserve">p</a:t>
            </a:r>
            <a:endParaRPr lang="en-US"/>
          </a:p>
        </p:txBody>
      </p:sp>
      <p:sp>
        <p:nvSpPr>
          <p:cNvPr id="24" name="Z"/>
          <p:cNvSpPr txBox="1"/>
          <p:nvPr/>
        </p:nvSpPr>
        <p:spPr>
          <a:xfrm rot="0">
            <a:off x="590550" y="4193084"/>
            <a:ext cx="212318"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Z</a:t>
            </a:r>
            <a:endParaRPr lang="en-US"/>
          </a:p>
        </p:txBody>
      </p:sp>
      <p:sp>
        <p:nvSpPr>
          <p:cNvPr id="25" name=": improvement over the parent, set to zero for invalid outputs."/>
          <p:cNvSpPr txBox="1"/>
          <p:nvPr/>
        </p:nvSpPr>
        <p:spPr>
          <a:xfrm rot="0">
            <a:off x="824508" y="4193084"/>
            <a:ext cx="4478625"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 improvement over the parent, set to zero for invalid outputs.</a:t>
            </a:r>
            <a:endParaRPr lang="en-US"/>
          </a:p>
        </p:txBody>
      </p:sp>
      <p:sp>
        <p:nvSpPr>
          <p:cNvPr id="26" name="k,j"/>
          <p:cNvSpPr txBox="1"/>
          <p:nvPr/>
        </p:nvSpPr>
        <p:spPr>
          <a:xfrm rot="0">
            <a:off x="689521" y="4253954"/>
            <a:ext cx="229444"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63" b="0" i="0" spc="0">
                <a:solidFill>
                  <a:srgbClr val="606873"/>
                </a:solidFill>
                <a:latin typeface="Arial"/>
              </a:rPr>
              <a:t xml:space="preserve">k,j</a:t>
            </a:r>
            <a:endParaRPr lang="en-US"/>
          </a:p>
        </p:txBody>
      </p:sp>
      <p:sp>
        <p:nvSpPr>
          <p:cNvPr id="27" name="v"/>
          <p:cNvSpPr txBox="1"/>
          <p:nvPr/>
        </p:nvSpPr>
        <p:spPr>
          <a:xfrm rot="0">
            <a:off x="6296025" y="4255740"/>
            <a:ext cx="194310"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v</a:t>
            </a:r>
            <a:endParaRPr lang="en-US"/>
          </a:p>
        </p:txBody>
      </p:sp>
      <p:sp>
        <p:nvSpPr>
          <p:cNvPr id="28" name=": moving average of earlier G(r). β: strength of reward shaping."/>
          <p:cNvSpPr txBox="1"/>
          <p:nvPr/>
        </p:nvSpPr>
        <p:spPr>
          <a:xfrm rot="0">
            <a:off x="6568380" y="4255740"/>
            <a:ext cx="4598581"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 moving average of earlier G(r). β: strength of reward shaping.</a:t>
            </a:r>
            <a:endParaRPr lang="en-US"/>
          </a:p>
        </p:txBody>
      </p:sp>
      <p:sp>
        <p:nvSpPr>
          <p:cNvPr id="29" name="t−1"/>
          <p:cNvSpPr txBox="1"/>
          <p:nvPr/>
        </p:nvSpPr>
        <p:spPr>
          <a:xfrm rot="0">
            <a:off x="6376988" y="4316611"/>
            <a:ext cx="285849"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63" b="0" i="0" spc="0">
                <a:solidFill>
                  <a:srgbClr val="606873"/>
                </a:solidFill>
                <a:latin typeface="Arial"/>
              </a:rPr>
              <a:t xml:space="preserve">t−1</a:t>
            </a:r>
            <a:endParaRPr lang="en-US"/>
          </a:p>
        </p:txBody>
      </p:sp>
      <p:sp>
        <p:nvSpPr>
          <p:cNvPr id="30" name="r"/>
          <p:cNvSpPr txBox="1"/>
          <p:nvPr/>
        </p:nvSpPr>
        <p:spPr>
          <a:xfrm rot="0">
            <a:off x="6296025" y="4498777"/>
            <a:ext cx="167372"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r</a:t>
            </a:r>
            <a:endParaRPr lang="en-US"/>
          </a:p>
        </p:txBody>
      </p:sp>
      <p:sp>
        <p:nvSpPr>
          <p:cNvPr id="31" name=": reward. A"/>
          <p:cNvSpPr txBox="1"/>
          <p:nvPr/>
        </p:nvSpPr>
        <p:spPr>
          <a:xfrm rot="0">
            <a:off x="6454973" y="4498777"/>
            <a:ext cx="887403"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 reward. A</a:t>
            </a:r>
            <a:endParaRPr lang="en-US"/>
          </a:p>
        </p:txBody>
      </p:sp>
      <p:sp>
        <p:nvSpPr>
          <p:cNvPr id="32" name=": training weight for rollout i at step t."/>
          <p:cNvSpPr txBox="1"/>
          <p:nvPr/>
        </p:nvSpPr>
        <p:spPr>
          <a:xfrm rot="0">
            <a:off x="7333952" y="4498777"/>
            <a:ext cx="2714565"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 training weight for rollout i at step t.</a:t>
            </a:r>
            <a:endParaRPr lang="en-US"/>
          </a:p>
        </p:txBody>
      </p:sp>
      <p:sp>
        <p:nvSpPr>
          <p:cNvPr id="33" name="t,i"/>
          <p:cNvSpPr txBox="1"/>
          <p:nvPr/>
        </p:nvSpPr>
        <p:spPr>
          <a:xfrm rot="0">
            <a:off x="6350050" y="4559647"/>
            <a:ext cx="199380"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63" b="0" i="0" spc="0">
                <a:solidFill>
                  <a:srgbClr val="606873"/>
                </a:solidFill>
                <a:latin typeface="Arial"/>
              </a:rPr>
              <a:t xml:space="preserve">t,i</a:t>
            </a:r>
            <a:endParaRPr lang="en-US"/>
          </a:p>
        </p:txBody>
      </p:sp>
      <p:sp>
        <p:nvSpPr>
          <p:cNvPr id="34" name="t,i"/>
          <p:cNvSpPr txBox="1"/>
          <p:nvPr/>
        </p:nvSpPr>
        <p:spPr>
          <a:xfrm rot="0">
            <a:off x="7229029" y="4559647"/>
            <a:ext cx="199380"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63" b="0" i="0" spc="0">
                <a:solidFill>
                  <a:srgbClr val="606873"/>
                </a:solidFill>
                <a:latin typeface="Arial"/>
              </a:rPr>
              <a:t xml:space="preserve">t,i</a:t>
            </a:r>
            <a:endParaRPr lang="en-US"/>
          </a:p>
        </p:txBody>
      </p:sp>
      <p:sp>
        <p:nvSpPr>
          <p:cNvPr id="35" name="Positive A reinforces a program. Negative A discourages it. A tied gro"/>
          <p:cNvSpPr txBox="1"/>
          <p:nvPr/>
        </p:nvSpPr>
        <p:spPr>
          <a:xfrm rot="0">
            <a:off x="6296025" y="4913263"/>
            <a:ext cx="5208032"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Positive A reinforces a program. Negative A discourages it. A tied group</a:t>
            </a:r>
            <a:endParaRPr lang="en-US"/>
          </a:p>
        </p:txBody>
      </p:sp>
      <p:sp>
        <p:nvSpPr>
          <p:cNvPr id="36" name="can still receive a nonzero weight relative to earlier rewards. Hold β"/>
          <p:cNvSpPr txBox="1"/>
          <p:nvPr/>
        </p:nvSpPr>
        <p:spPr>
          <a:xfrm rot="0">
            <a:off x="6296025" y="5131743"/>
            <a:ext cx="5237649"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can still receive a nonzero weight relative to earlier rewards. Hold β and</a:t>
            </a:r>
            <a:endParaRPr lang="en-US"/>
          </a:p>
        </p:txBody>
      </p:sp>
      <p:sp>
        <p:nvSpPr>
          <p:cNvPr id="37" name="a"/>
          <p:cNvSpPr txBox="1"/>
          <p:nvPr/>
        </p:nvSpPr>
        <p:spPr>
          <a:xfrm rot="0">
            <a:off x="590550" y="5282357"/>
            <a:ext cx="203537"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a</a:t>
            </a:r>
            <a:endParaRPr lang="en-US"/>
          </a:p>
        </p:txBody>
      </p:sp>
      <p:sp>
        <p:nvSpPr>
          <p:cNvPr id="38" name=": follow-ups for strategy k."/>
          <p:cNvSpPr txBox="1"/>
          <p:nvPr/>
        </p:nvSpPr>
        <p:spPr>
          <a:xfrm rot="0">
            <a:off x="748308" y="5282357"/>
            <a:ext cx="1958221"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 follow-ups for strategy k.</a:t>
            </a:r>
            <a:endParaRPr lang="en-US"/>
          </a:p>
        </p:txBody>
      </p:sp>
      <p:sp>
        <p:nvSpPr>
          <p:cNvPr id="39" name="k"/>
          <p:cNvSpPr txBox="1"/>
          <p:nvPr/>
        </p:nvSpPr>
        <p:spPr>
          <a:xfrm rot="0">
            <a:off x="680740" y="5343227"/>
            <a:ext cx="162024"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63" b="0" i="0" spc="0">
                <a:solidFill>
                  <a:srgbClr val="606873"/>
                </a:solidFill>
                <a:latin typeface="Arial"/>
              </a:rPr>
              <a:t xml:space="preserve">k</a:t>
            </a:r>
            <a:endParaRPr lang="en-US"/>
          </a:p>
        </p:txBody>
      </p:sp>
      <p:sp>
        <p:nvSpPr>
          <p:cNvPr id="40" name="the baseline fixed within the step, then update the baseline."/>
          <p:cNvSpPr txBox="1"/>
          <p:nvPr/>
        </p:nvSpPr>
        <p:spPr>
          <a:xfrm rot="0">
            <a:off x="6296025" y="5350222"/>
            <a:ext cx="4362390"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the baseline fixed within the step, then update the baseline.</a:t>
            </a:r>
            <a:endParaRPr lang="en-US"/>
          </a:p>
        </p:txBody>
      </p:sp>
      <p:sp>
        <p:nvSpPr>
          <p:cNvPr id="41" name="N"/>
          <p:cNvSpPr txBox="1"/>
          <p:nvPr/>
        </p:nvSpPr>
        <p:spPr>
          <a:xfrm rot="0">
            <a:off x="590550" y="5525393"/>
            <a:ext cx="230326"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N</a:t>
            </a:r>
            <a:endParaRPr lang="en-US"/>
          </a:p>
        </p:txBody>
      </p:sp>
      <p:sp>
        <p:nvSpPr>
          <p:cNvPr id="42" name=": total planned programs for that parent."/>
          <p:cNvSpPr txBox="1"/>
          <p:nvPr/>
        </p:nvSpPr>
        <p:spPr>
          <a:xfrm rot="0">
            <a:off x="1090017" y="5525393"/>
            <a:ext cx="2957751"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 total planned programs for that parent.</a:t>
            </a:r>
            <a:endParaRPr lang="en-US"/>
          </a:p>
        </p:txBody>
      </p:sp>
      <p:sp>
        <p:nvSpPr>
          <p:cNvPr id="43" name="parent"/>
          <p:cNvSpPr txBox="1"/>
          <p:nvPr/>
        </p:nvSpPr>
        <p:spPr>
          <a:xfrm rot="0">
            <a:off x="707529" y="5586264"/>
            <a:ext cx="476945" cy="1714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063" b="0" i="0" spc="0">
                <a:solidFill>
                  <a:srgbClr val="606873"/>
                </a:solidFill>
                <a:latin typeface="Arial"/>
              </a:rPr>
              <a:t xml:space="preserve">parent</a:t>
            </a:r>
            <a:endParaRPr lang="en-US"/>
          </a:p>
        </p:txBody>
      </p:sp>
      <p:sp>
        <p:nvSpPr>
          <p:cNvPr id="44" name="R and r denote larger-is-better training rewards. Scientific plots sho"/>
          <p:cNvSpPr txBox="1"/>
          <p:nvPr/>
        </p:nvSpPr>
        <p:spPr>
          <a:xfrm rot="0">
            <a:off x="590550" y="5897017"/>
            <a:ext cx="6769209" cy="1619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75" b="0" i="0" spc="0">
                <a:solidFill>
                  <a:srgbClr val="666E78"/>
                </a:solidFill>
                <a:latin typeface="Arial"/>
              </a:rPr>
              <a:t xml:space="preserve">R and r denote larger-is-better training rewards. Scientific plots show the raw task score, minimized for the Erdős problem.</a:t>
            </a:r>
            <a:endParaRPr lang="en-US"/>
          </a:p>
        </p:txBody>
      </p:sp>
      <p:sp>
        <p:nvSpPr>
          <p:cNvPr id="45"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46"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47" name="Page 8"/>
          <p:cNvSpPr txBox="1"/>
          <p:nvPr/>
        </p:nvSpPr>
        <p:spPr>
          <a:xfrm rot="0">
            <a:off x="5985867" y="6434138"/>
            <a:ext cx="4424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8</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Observed Allocation: Equal Pilots, Targeted Follow-ups">
    <p:spTree>
      <p:nvGrpSpPr>
        <p:cNvPr id="1" name=""/>
        <p:cNvGrpSpPr/>
        <p:nvPr/>
      </p:nvGrpSpPr>
      <p:grpSpPr>
        <a:xfrm>
          <a:off x="0" y="0"/>
          <a:ext cx="0" cy="0"/>
          <a:chOff x="0" y="0"/>
          <a:chExt cx="0" cy="0"/>
        </a:xfrm>
      </p:grpSpPr>
      <p:pic>
        <p:nvPicPr>
          <p:cNvPr id="2" name="Observed Allocation: Equal Pilots, Targeted Follow-ups graphic elements" descr="Observed Allocation: Equal Pilots, Targeted Follow-ups graphic elements"/>
          <p:cNvPicPr>
            <a:picLocks noChangeAspect="1"/>
          </p:cNvPicPr>
          <p:nvPr/>
        </p:nvPicPr>
        <p:blipFill>
          <a:blip r:embed="rId2"/>
          <a:stretch>
            <a:fillRect/>
          </a:stretch>
        </p:blipFill>
        <p:spPr>
          <a:xfrm>
            <a:off x="0" y="0"/>
            <a:ext cx="12192000" cy="6858000"/>
          </a:xfrm>
          <a:prstGeom prst="rect">
            <a:avLst/>
          </a:prstGeom>
        </p:spPr>
      </p:pic>
      <p:sp>
        <p:nvSpPr>
          <p:cNvPr id="3" name="Observed Allocation: Equal Pilots, Targeted Follow-ups"/>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Observed Allocation: Equal Pilots, Targeted Follow-ups</a:t>
            </a:r>
            <a:endParaRPr lang="en-US"/>
          </a:p>
        </p:txBody>
      </p:sp>
      <p:sp>
        <p:nvSpPr>
          <p:cNvPr id="4" name="One parent has a budget of 64 programs. Generate 11 pilots for each of"/>
          <p:cNvSpPr txBox="1"/>
          <p:nvPr/>
        </p:nvSpPr>
        <p:spPr>
          <a:xfrm rot="0">
            <a:off x="590550" y="1362075"/>
            <a:ext cx="10475059"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One parent has a budget of 64 programs. Generate 11 pilots for each of four strategies, then use their results to</a:t>
            </a:r>
            <a:endParaRPr lang="en-US"/>
          </a:p>
        </p:txBody>
      </p:sp>
      <p:sp>
        <p:nvSpPr>
          <p:cNvPr id="5" name="allocate the remaining 20 programs."/>
          <p:cNvSpPr txBox="1"/>
          <p:nvPr/>
        </p:nvSpPr>
        <p:spPr>
          <a:xfrm rot="0">
            <a:off x="590550" y="1644848"/>
            <a:ext cx="348966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allocate the remaining 20 programs.</a:t>
            </a:r>
            <a:endParaRPr lang="en-US"/>
          </a:p>
        </p:txBody>
      </p:sp>
      <p:sp>
        <p:nvSpPr>
          <p:cNvPr id="6" name="Strategy"/>
          <p:cNvSpPr txBox="1"/>
          <p:nvPr/>
        </p:nvSpPr>
        <p:spPr>
          <a:xfrm rot="0">
            <a:off x="666750" y="2099072"/>
            <a:ext cx="615255" cy="184472"/>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Strategy</a:t>
            </a:r>
            <a:endParaRPr lang="en-US"/>
          </a:p>
        </p:txBody>
      </p:sp>
      <p:sp>
        <p:nvSpPr>
          <p:cNvPr id="7" name="Equal pilot budgets"/>
          <p:cNvSpPr txBox="1"/>
          <p:nvPr/>
        </p:nvSpPr>
        <p:spPr>
          <a:xfrm rot="0">
            <a:off x="2924175" y="2099072"/>
            <a:ext cx="1344067" cy="184472"/>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Equal pilot budgets</a:t>
            </a:r>
            <a:endParaRPr lang="en-US"/>
          </a:p>
        </p:txBody>
      </p:sp>
      <p:sp>
        <p:nvSpPr>
          <p:cNvPr id="8" name="Expected-best allocation"/>
          <p:cNvSpPr txBox="1"/>
          <p:nvPr/>
        </p:nvSpPr>
        <p:spPr>
          <a:xfrm rot="0">
            <a:off x="5761062" y="2099072"/>
            <a:ext cx="1708100" cy="182687"/>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Expected-best allocation</a:t>
            </a:r>
            <a:endParaRPr lang="en-US"/>
          </a:p>
        </p:txBody>
      </p:sp>
      <p:sp>
        <p:nvSpPr>
          <p:cNvPr id="9" name="Allocated follow-ups"/>
          <p:cNvSpPr txBox="1"/>
          <p:nvPr/>
        </p:nvSpPr>
        <p:spPr>
          <a:xfrm rot="0">
            <a:off x="8353202" y="2099072"/>
            <a:ext cx="1403226" cy="182687"/>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Allocated follow-ups</a:t>
            </a:r>
            <a:endParaRPr lang="en-US"/>
          </a:p>
        </p:txBody>
      </p:sp>
      <p:sp>
        <p:nvSpPr>
          <p:cNvPr id="10" name="Strategy 1"/>
          <p:cNvSpPr txBox="1"/>
          <p:nvPr/>
        </p:nvSpPr>
        <p:spPr>
          <a:xfrm rot="0">
            <a:off x="666750" y="2499122"/>
            <a:ext cx="1002804"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Strategy 1</a:t>
            </a:r>
            <a:endParaRPr lang="en-US"/>
          </a:p>
        </p:txBody>
      </p:sp>
      <p:sp>
        <p:nvSpPr>
          <p:cNvPr id="11" name="11"/>
          <p:cNvSpPr txBox="1"/>
          <p:nvPr/>
        </p:nvSpPr>
        <p:spPr>
          <a:xfrm rot="0">
            <a:off x="4533900" y="2499122"/>
            <a:ext cx="26521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11</a:t>
            </a:r>
            <a:endParaRPr lang="en-US"/>
          </a:p>
        </p:txBody>
      </p:sp>
      <p:sp>
        <p:nvSpPr>
          <p:cNvPr id="12" name="Strategy 2"/>
          <p:cNvSpPr txBox="1"/>
          <p:nvPr/>
        </p:nvSpPr>
        <p:spPr>
          <a:xfrm rot="0">
            <a:off x="666750" y="3022997"/>
            <a:ext cx="1002804"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Strategy 2</a:t>
            </a:r>
            <a:endParaRPr lang="en-US"/>
          </a:p>
        </p:txBody>
      </p:sp>
      <p:sp>
        <p:nvSpPr>
          <p:cNvPr id="13" name="11"/>
          <p:cNvSpPr txBox="1"/>
          <p:nvPr/>
        </p:nvSpPr>
        <p:spPr>
          <a:xfrm rot="0">
            <a:off x="4533900" y="3022997"/>
            <a:ext cx="26521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11</a:t>
            </a:r>
            <a:endParaRPr lang="en-US"/>
          </a:p>
        </p:txBody>
      </p:sp>
      <p:sp>
        <p:nvSpPr>
          <p:cNvPr id="14" name="Strategy 3"/>
          <p:cNvSpPr txBox="1"/>
          <p:nvPr/>
        </p:nvSpPr>
        <p:spPr>
          <a:xfrm rot="0">
            <a:off x="666750" y="3546872"/>
            <a:ext cx="1002804"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Strategy 3</a:t>
            </a:r>
            <a:endParaRPr lang="en-US"/>
          </a:p>
        </p:txBody>
      </p:sp>
      <p:sp>
        <p:nvSpPr>
          <p:cNvPr id="15" name="11"/>
          <p:cNvSpPr txBox="1"/>
          <p:nvPr/>
        </p:nvSpPr>
        <p:spPr>
          <a:xfrm rot="0">
            <a:off x="4533900" y="3546872"/>
            <a:ext cx="26521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11</a:t>
            </a:r>
            <a:endParaRPr lang="en-US"/>
          </a:p>
        </p:txBody>
      </p:sp>
      <p:sp>
        <p:nvSpPr>
          <p:cNvPr id="16" name="Strategy 4"/>
          <p:cNvSpPr txBox="1"/>
          <p:nvPr/>
        </p:nvSpPr>
        <p:spPr>
          <a:xfrm rot="0">
            <a:off x="666750" y="4070747"/>
            <a:ext cx="1002804"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Strategy 4</a:t>
            </a:r>
            <a:endParaRPr lang="en-US"/>
          </a:p>
        </p:txBody>
      </p:sp>
      <p:sp>
        <p:nvSpPr>
          <p:cNvPr id="17" name="11"/>
          <p:cNvSpPr txBox="1"/>
          <p:nvPr/>
        </p:nvSpPr>
        <p:spPr>
          <a:xfrm rot="0">
            <a:off x="4533900" y="4070747"/>
            <a:ext cx="26521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11</a:t>
            </a:r>
            <a:endParaRPr lang="en-US"/>
          </a:p>
        </p:txBody>
      </p:sp>
      <p:sp>
        <p:nvSpPr>
          <p:cNvPr id="18" name="44 initial programs"/>
          <p:cNvSpPr txBox="1"/>
          <p:nvPr/>
        </p:nvSpPr>
        <p:spPr>
          <a:xfrm rot="0">
            <a:off x="2924175" y="4623197"/>
            <a:ext cx="1292870" cy="184472"/>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44 initial programs</a:t>
            </a:r>
            <a:endParaRPr lang="en-US"/>
          </a:p>
        </p:txBody>
      </p:sp>
      <p:sp>
        <p:nvSpPr>
          <p:cNvPr id="19" name="Erdős minimum-overlap task. C₅ is the evaluated bound, lower is better"/>
          <p:cNvSpPr txBox="1"/>
          <p:nvPr/>
        </p:nvSpPr>
        <p:spPr>
          <a:xfrm rot="0">
            <a:off x="590550" y="5906542"/>
            <a:ext cx="3995946" cy="1619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75" b="0" i="0" spc="0">
                <a:solidFill>
                  <a:srgbClr val="666E78"/>
                </a:solidFill>
                <a:latin typeface="Arial"/>
              </a:rPr>
              <a:t xml:space="preserve">Erdős minimum-overlap task. C₅ is the evaluated bound, lower is better.</a:t>
            </a:r>
            <a:endParaRPr lang="en-US"/>
          </a:p>
        </p:txBody>
      </p:sp>
      <p:sp>
        <p:nvSpPr>
          <p:cNvPr id="20"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21"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22" name="Page 9"/>
          <p:cNvSpPr txBox="1"/>
          <p:nvPr/>
        </p:nvSpPr>
        <p:spPr>
          <a:xfrm rot="0">
            <a:off x="5985867" y="6434138"/>
            <a:ext cx="4424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9</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Observed Allocation: Equal Pilots, Targeted Follow-ups">
    <p:spTree>
      <p:nvGrpSpPr>
        <p:cNvPr id="1" name=""/>
        <p:cNvGrpSpPr/>
        <p:nvPr/>
      </p:nvGrpSpPr>
      <p:grpSpPr>
        <a:xfrm>
          <a:off x="0" y="0"/>
          <a:ext cx="0" cy="0"/>
          <a:chOff x="0" y="0"/>
          <a:chExt cx="0" cy="0"/>
        </a:xfrm>
      </p:grpSpPr>
      <p:pic>
        <p:nvPicPr>
          <p:cNvPr id="2" name="Observed Allocation: Equal Pilots, Targeted Follow-ups graphic elements" descr="Observed Allocation: Equal Pilots, Targeted Follow-ups graphic elements"/>
          <p:cNvPicPr>
            <a:picLocks noChangeAspect="1"/>
          </p:cNvPicPr>
          <p:nvPr/>
        </p:nvPicPr>
        <p:blipFill>
          <a:blip r:embed="rId2"/>
          <a:stretch>
            <a:fillRect/>
          </a:stretch>
        </p:blipFill>
        <p:spPr>
          <a:xfrm>
            <a:off x="0" y="0"/>
            <a:ext cx="12192000" cy="6858000"/>
          </a:xfrm>
          <a:prstGeom prst="rect">
            <a:avLst/>
          </a:prstGeom>
        </p:spPr>
      </p:pic>
      <p:sp>
        <p:nvSpPr>
          <p:cNvPr id="3" name="Observed Allocation: Equal Pilots, Targeted Follow-ups"/>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Observed Allocation: Equal Pilots, Targeted Follow-ups</a:t>
            </a:r>
            <a:endParaRPr lang="en-US"/>
          </a:p>
        </p:txBody>
      </p:sp>
      <p:sp>
        <p:nvSpPr>
          <p:cNvPr id="4" name="One parent has a budget of 64 programs. Generate 11 pilots for each of"/>
          <p:cNvSpPr txBox="1"/>
          <p:nvPr/>
        </p:nvSpPr>
        <p:spPr>
          <a:xfrm rot="0">
            <a:off x="590550" y="1362075"/>
            <a:ext cx="10475059"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One parent has a budget of 64 programs. Generate 11 pilots for each of four strategies, then use their results to</a:t>
            </a:r>
            <a:endParaRPr lang="en-US"/>
          </a:p>
        </p:txBody>
      </p:sp>
      <p:sp>
        <p:nvSpPr>
          <p:cNvPr id="5" name="allocate the remaining 20 programs."/>
          <p:cNvSpPr txBox="1"/>
          <p:nvPr/>
        </p:nvSpPr>
        <p:spPr>
          <a:xfrm rot="0">
            <a:off x="590550" y="1644848"/>
            <a:ext cx="348966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allocate the remaining 20 programs.</a:t>
            </a:r>
            <a:endParaRPr lang="en-US"/>
          </a:p>
        </p:txBody>
      </p:sp>
      <p:sp>
        <p:nvSpPr>
          <p:cNvPr id="6" name="Strategy"/>
          <p:cNvSpPr txBox="1"/>
          <p:nvPr/>
        </p:nvSpPr>
        <p:spPr>
          <a:xfrm rot="0">
            <a:off x="666750" y="2099072"/>
            <a:ext cx="615255" cy="184472"/>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Strategy</a:t>
            </a:r>
            <a:endParaRPr lang="en-US"/>
          </a:p>
        </p:txBody>
      </p:sp>
      <p:sp>
        <p:nvSpPr>
          <p:cNvPr id="7" name="Equal pilot budgets"/>
          <p:cNvSpPr txBox="1"/>
          <p:nvPr/>
        </p:nvSpPr>
        <p:spPr>
          <a:xfrm rot="0">
            <a:off x="2924175" y="2099072"/>
            <a:ext cx="1344067" cy="184472"/>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Equal pilot budgets</a:t>
            </a:r>
            <a:endParaRPr lang="en-US"/>
          </a:p>
        </p:txBody>
      </p:sp>
      <p:sp>
        <p:nvSpPr>
          <p:cNvPr id="8" name="Expected-best allocation"/>
          <p:cNvSpPr txBox="1"/>
          <p:nvPr/>
        </p:nvSpPr>
        <p:spPr>
          <a:xfrm rot="0">
            <a:off x="5761062" y="2099072"/>
            <a:ext cx="1708100" cy="182687"/>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Expected-best allocation</a:t>
            </a:r>
            <a:endParaRPr lang="en-US"/>
          </a:p>
        </p:txBody>
      </p:sp>
      <p:sp>
        <p:nvSpPr>
          <p:cNvPr id="9" name="Allocated follow-ups"/>
          <p:cNvSpPr txBox="1"/>
          <p:nvPr/>
        </p:nvSpPr>
        <p:spPr>
          <a:xfrm rot="0">
            <a:off x="8353202" y="2099072"/>
            <a:ext cx="1403226" cy="182687"/>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Allocated follow-ups</a:t>
            </a:r>
            <a:endParaRPr lang="en-US"/>
          </a:p>
        </p:txBody>
      </p:sp>
      <p:sp>
        <p:nvSpPr>
          <p:cNvPr id="10" name="Strategy 1"/>
          <p:cNvSpPr txBox="1"/>
          <p:nvPr/>
        </p:nvSpPr>
        <p:spPr>
          <a:xfrm rot="0">
            <a:off x="666750" y="2499122"/>
            <a:ext cx="1002804"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Strategy 1</a:t>
            </a:r>
            <a:endParaRPr lang="en-US"/>
          </a:p>
        </p:txBody>
      </p:sp>
      <p:sp>
        <p:nvSpPr>
          <p:cNvPr id="11" name="11"/>
          <p:cNvSpPr txBox="1"/>
          <p:nvPr/>
        </p:nvSpPr>
        <p:spPr>
          <a:xfrm rot="0">
            <a:off x="4533900" y="2499122"/>
            <a:ext cx="26521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11</a:t>
            </a:r>
            <a:endParaRPr lang="en-US"/>
          </a:p>
        </p:txBody>
      </p:sp>
      <p:sp>
        <p:nvSpPr>
          <p:cNvPr id="12" name="Strategy 2"/>
          <p:cNvSpPr txBox="1"/>
          <p:nvPr/>
        </p:nvSpPr>
        <p:spPr>
          <a:xfrm rot="0">
            <a:off x="666750" y="3022997"/>
            <a:ext cx="1002804"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Strategy 2</a:t>
            </a:r>
            <a:endParaRPr lang="en-US"/>
          </a:p>
        </p:txBody>
      </p:sp>
      <p:sp>
        <p:nvSpPr>
          <p:cNvPr id="13" name="11"/>
          <p:cNvSpPr txBox="1"/>
          <p:nvPr/>
        </p:nvSpPr>
        <p:spPr>
          <a:xfrm rot="0">
            <a:off x="4533900" y="3022997"/>
            <a:ext cx="26521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11</a:t>
            </a:r>
            <a:endParaRPr lang="en-US"/>
          </a:p>
        </p:txBody>
      </p:sp>
      <p:sp>
        <p:nvSpPr>
          <p:cNvPr id="14" name="Strategy 3"/>
          <p:cNvSpPr txBox="1"/>
          <p:nvPr/>
        </p:nvSpPr>
        <p:spPr>
          <a:xfrm rot="0">
            <a:off x="666750" y="3546872"/>
            <a:ext cx="1002804"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Strategy 3</a:t>
            </a:r>
            <a:endParaRPr lang="en-US"/>
          </a:p>
        </p:txBody>
      </p:sp>
      <p:sp>
        <p:nvSpPr>
          <p:cNvPr id="15" name="11"/>
          <p:cNvSpPr txBox="1"/>
          <p:nvPr/>
        </p:nvSpPr>
        <p:spPr>
          <a:xfrm rot="0">
            <a:off x="4533900" y="3546872"/>
            <a:ext cx="26521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11</a:t>
            </a:r>
            <a:endParaRPr lang="en-US"/>
          </a:p>
        </p:txBody>
      </p:sp>
      <p:sp>
        <p:nvSpPr>
          <p:cNvPr id="16" name="Strategy 4"/>
          <p:cNvSpPr txBox="1"/>
          <p:nvPr/>
        </p:nvSpPr>
        <p:spPr>
          <a:xfrm rot="0">
            <a:off x="666750" y="4070747"/>
            <a:ext cx="1002804"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Strategy 4</a:t>
            </a:r>
            <a:endParaRPr lang="en-US"/>
          </a:p>
        </p:txBody>
      </p:sp>
      <p:sp>
        <p:nvSpPr>
          <p:cNvPr id="17" name="11"/>
          <p:cNvSpPr txBox="1"/>
          <p:nvPr/>
        </p:nvSpPr>
        <p:spPr>
          <a:xfrm rot="0">
            <a:off x="4533900" y="4070747"/>
            <a:ext cx="26521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11</a:t>
            </a:r>
            <a:endParaRPr lang="en-US"/>
          </a:p>
        </p:txBody>
      </p:sp>
      <p:sp>
        <p:nvSpPr>
          <p:cNvPr id="18" name="44 initial programs"/>
          <p:cNvSpPr txBox="1"/>
          <p:nvPr/>
        </p:nvSpPr>
        <p:spPr>
          <a:xfrm rot="0">
            <a:off x="2924175" y="4623197"/>
            <a:ext cx="1292870" cy="184472"/>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44 initial programs</a:t>
            </a:r>
            <a:endParaRPr lang="en-US"/>
          </a:p>
        </p:txBody>
      </p:sp>
      <p:sp>
        <p:nvSpPr>
          <p:cNvPr id="19" name="Erdős minimum-overlap task. C₅ is the evaluated bound, lower is better"/>
          <p:cNvSpPr txBox="1"/>
          <p:nvPr/>
        </p:nvSpPr>
        <p:spPr>
          <a:xfrm rot="0">
            <a:off x="590550" y="5906542"/>
            <a:ext cx="3995946" cy="1619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75" b="0" i="0" spc="0">
                <a:solidFill>
                  <a:srgbClr val="666E78"/>
                </a:solidFill>
                <a:latin typeface="Arial"/>
              </a:rPr>
              <a:t xml:space="preserve">Erdős minimum-overlap task. C₅ is the evaluated bound, lower is better.</a:t>
            </a:r>
            <a:endParaRPr lang="en-US"/>
          </a:p>
        </p:txBody>
      </p:sp>
      <p:sp>
        <p:nvSpPr>
          <p:cNvPr id="20"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21"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22" name="Page 9"/>
          <p:cNvSpPr txBox="1"/>
          <p:nvPr/>
        </p:nvSpPr>
        <p:spPr>
          <a:xfrm rot="0">
            <a:off x="5985867" y="6434138"/>
            <a:ext cx="4424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9</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Observed Allocation: Equal Pilots, Targeted Follow-ups">
    <p:spTree>
      <p:nvGrpSpPr>
        <p:cNvPr id="1" name=""/>
        <p:cNvGrpSpPr/>
        <p:nvPr/>
      </p:nvGrpSpPr>
      <p:grpSpPr>
        <a:xfrm>
          <a:off x="0" y="0"/>
          <a:ext cx="0" cy="0"/>
          <a:chOff x="0" y="0"/>
          <a:chExt cx="0" cy="0"/>
        </a:xfrm>
      </p:grpSpPr>
      <p:pic>
        <p:nvPicPr>
          <p:cNvPr id="2" name="Observed Allocation: Equal Pilots, Targeted Follow-ups graphic elements" descr="Observed Allocation: Equal Pilots, Targeted Follow-ups graphic elements"/>
          <p:cNvPicPr>
            <a:picLocks noChangeAspect="1"/>
          </p:cNvPicPr>
          <p:nvPr/>
        </p:nvPicPr>
        <p:blipFill>
          <a:blip r:embed="rId2"/>
          <a:stretch>
            <a:fillRect/>
          </a:stretch>
        </p:blipFill>
        <p:spPr>
          <a:xfrm>
            <a:off x="0" y="0"/>
            <a:ext cx="12192000" cy="6858000"/>
          </a:xfrm>
          <a:prstGeom prst="rect">
            <a:avLst/>
          </a:prstGeom>
        </p:spPr>
      </p:pic>
      <p:sp>
        <p:nvSpPr>
          <p:cNvPr id="3" name="Observed Allocation: Equal Pilots, Targeted Follow-ups"/>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Observed Allocation: Equal Pilots, Targeted Follow-ups</a:t>
            </a:r>
            <a:endParaRPr lang="en-US"/>
          </a:p>
        </p:txBody>
      </p:sp>
      <p:sp>
        <p:nvSpPr>
          <p:cNvPr id="4" name="One parent has a budget of 64 programs. Generate 11 pilots for each of"/>
          <p:cNvSpPr txBox="1"/>
          <p:nvPr/>
        </p:nvSpPr>
        <p:spPr>
          <a:xfrm rot="0">
            <a:off x="590550" y="1362075"/>
            <a:ext cx="10475059"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One parent has a budget of 64 programs. Generate 11 pilots for each of four strategies, then use their results to</a:t>
            </a:r>
            <a:endParaRPr lang="en-US"/>
          </a:p>
        </p:txBody>
      </p:sp>
      <p:sp>
        <p:nvSpPr>
          <p:cNvPr id="5" name="allocate the remaining 20 programs."/>
          <p:cNvSpPr txBox="1"/>
          <p:nvPr/>
        </p:nvSpPr>
        <p:spPr>
          <a:xfrm rot="0">
            <a:off x="590550" y="1644848"/>
            <a:ext cx="348966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allocate the remaining 20 programs.</a:t>
            </a:r>
            <a:endParaRPr lang="en-US"/>
          </a:p>
        </p:txBody>
      </p:sp>
      <p:sp>
        <p:nvSpPr>
          <p:cNvPr id="6" name="Strategy"/>
          <p:cNvSpPr txBox="1"/>
          <p:nvPr/>
        </p:nvSpPr>
        <p:spPr>
          <a:xfrm rot="0">
            <a:off x="666750" y="2099072"/>
            <a:ext cx="615255" cy="184472"/>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Strategy</a:t>
            </a:r>
            <a:endParaRPr lang="en-US"/>
          </a:p>
        </p:txBody>
      </p:sp>
      <p:sp>
        <p:nvSpPr>
          <p:cNvPr id="7" name="Equal pilot budgets"/>
          <p:cNvSpPr txBox="1"/>
          <p:nvPr/>
        </p:nvSpPr>
        <p:spPr>
          <a:xfrm rot="0">
            <a:off x="2924175" y="2099072"/>
            <a:ext cx="1344067" cy="184472"/>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Equal pilot budgets</a:t>
            </a:r>
            <a:endParaRPr lang="en-US"/>
          </a:p>
        </p:txBody>
      </p:sp>
      <p:sp>
        <p:nvSpPr>
          <p:cNvPr id="8" name="Expected-best allocation"/>
          <p:cNvSpPr txBox="1"/>
          <p:nvPr/>
        </p:nvSpPr>
        <p:spPr>
          <a:xfrm rot="0">
            <a:off x="5761062" y="2099072"/>
            <a:ext cx="1708100" cy="182687"/>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Expected-best allocation</a:t>
            </a:r>
            <a:endParaRPr lang="en-US"/>
          </a:p>
        </p:txBody>
      </p:sp>
      <p:sp>
        <p:nvSpPr>
          <p:cNvPr id="9" name="Allocated follow-ups"/>
          <p:cNvSpPr txBox="1"/>
          <p:nvPr/>
        </p:nvSpPr>
        <p:spPr>
          <a:xfrm rot="0">
            <a:off x="8353202" y="2099072"/>
            <a:ext cx="1403226" cy="182687"/>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Allocated follow-ups</a:t>
            </a:r>
            <a:endParaRPr lang="en-US"/>
          </a:p>
        </p:txBody>
      </p:sp>
      <p:sp>
        <p:nvSpPr>
          <p:cNvPr id="10" name="Strategy 1"/>
          <p:cNvSpPr txBox="1"/>
          <p:nvPr/>
        </p:nvSpPr>
        <p:spPr>
          <a:xfrm rot="0">
            <a:off x="666750" y="2499122"/>
            <a:ext cx="1002804"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Strategy 1</a:t>
            </a:r>
            <a:endParaRPr lang="en-US"/>
          </a:p>
        </p:txBody>
      </p:sp>
      <p:sp>
        <p:nvSpPr>
          <p:cNvPr id="11" name="11"/>
          <p:cNvSpPr txBox="1"/>
          <p:nvPr/>
        </p:nvSpPr>
        <p:spPr>
          <a:xfrm rot="0">
            <a:off x="4533900" y="2499122"/>
            <a:ext cx="26521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11</a:t>
            </a:r>
            <a:endParaRPr lang="en-US"/>
          </a:p>
        </p:txBody>
      </p:sp>
      <p:sp>
        <p:nvSpPr>
          <p:cNvPr id="12" name="0"/>
          <p:cNvSpPr txBox="1"/>
          <p:nvPr/>
        </p:nvSpPr>
        <p:spPr>
          <a:xfrm rot="0">
            <a:off x="8496300" y="2499122"/>
            <a:ext cx="164306"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0</a:t>
            </a:r>
            <a:endParaRPr lang="en-US"/>
          </a:p>
        </p:txBody>
      </p:sp>
      <p:sp>
        <p:nvSpPr>
          <p:cNvPr id="13" name="Strategy 2"/>
          <p:cNvSpPr txBox="1"/>
          <p:nvPr/>
        </p:nvSpPr>
        <p:spPr>
          <a:xfrm rot="0">
            <a:off x="666750" y="3022997"/>
            <a:ext cx="1002804"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Strategy 2</a:t>
            </a:r>
            <a:endParaRPr lang="en-US"/>
          </a:p>
        </p:txBody>
      </p:sp>
      <p:sp>
        <p:nvSpPr>
          <p:cNvPr id="14" name="11"/>
          <p:cNvSpPr txBox="1"/>
          <p:nvPr/>
        </p:nvSpPr>
        <p:spPr>
          <a:xfrm rot="0">
            <a:off x="4533900" y="3022997"/>
            <a:ext cx="26521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11</a:t>
            </a:r>
            <a:endParaRPr lang="en-US"/>
          </a:p>
        </p:txBody>
      </p:sp>
      <p:sp>
        <p:nvSpPr>
          <p:cNvPr id="15" name="0"/>
          <p:cNvSpPr txBox="1"/>
          <p:nvPr/>
        </p:nvSpPr>
        <p:spPr>
          <a:xfrm rot="0">
            <a:off x="8496300" y="3022997"/>
            <a:ext cx="164306"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0</a:t>
            </a:r>
            <a:endParaRPr lang="en-US"/>
          </a:p>
        </p:txBody>
      </p:sp>
      <p:sp>
        <p:nvSpPr>
          <p:cNvPr id="16" name="Strategy 3"/>
          <p:cNvSpPr txBox="1"/>
          <p:nvPr/>
        </p:nvSpPr>
        <p:spPr>
          <a:xfrm rot="0">
            <a:off x="666750" y="3546872"/>
            <a:ext cx="1002804"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Strategy 3</a:t>
            </a:r>
            <a:endParaRPr lang="en-US"/>
          </a:p>
        </p:txBody>
      </p:sp>
      <p:sp>
        <p:nvSpPr>
          <p:cNvPr id="17" name="11"/>
          <p:cNvSpPr txBox="1"/>
          <p:nvPr/>
        </p:nvSpPr>
        <p:spPr>
          <a:xfrm rot="0">
            <a:off x="4533900" y="3546872"/>
            <a:ext cx="26521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11</a:t>
            </a:r>
            <a:endParaRPr lang="en-US"/>
          </a:p>
        </p:txBody>
      </p:sp>
      <p:sp>
        <p:nvSpPr>
          <p:cNvPr id="18" name="17"/>
          <p:cNvSpPr txBox="1"/>
          <p:nvPr/>
        </p:nvSpPr>
        <p:spPr>
          <a:xfrm rot="0">
            <a:off x="10763250" y="3546872"/>
            <a:ext cx="280839"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17</a:t>
            </a:r>
            <a:endParaRPr lang="en-US"/>
          </a:p>
        </p:txBody>
      </p:sp>
      <p:sp>
        <p:nvSpPr>
          <p:cNvPr id="19" name="Strategy 4"/>
          <p:cNvSpPr txBox="1"/>
          <p:nvPr/>
        </p:nvSpPr>
        <p:spPr>
          <a:xfrm rot="0">
            <a:off x="666750" y="4070747"/>
            <a:ext cx="1002804"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Strategy 4</a:t>
            </a:r>
            <a:endParaRPr lang="en-US"/>
          </a:p>
        </p:txBody>
      </p:sp>
      <p:sp>
        <p:nvSpPr>
          <p:cNvPr id="20" name="11"/>
          <p:cNvSpPr txBox="1"/>
          <p:nvPr/>
        </p:nvSpPr>
        <p:spPr>
          <a:xfrm rot="0">
            <a:off x="4533900" y="4070747"/>
            <a:ext cx="26521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11</a:t>
            </a:r>
            <a:endParaRPr lang="en-US"/>
          </a:p>
        </p:txBody>
      </p:sp>
      <p:sp>
        <p:nvSpPr>
          <p:cNvPr id="21" name="3"/>
          <p:cNvSpPr txBox="1"/>
          <p:nvPr/>
        </p:nvSpPr>
        <p:spPr>
          <a:xfrm rot="0">
            <a:off x="8896350" y="4070747"/>
            <a:ext cx="164306"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3</a:t>
            </a:r>
            <a:endParaRPr lang="en-US"/>
          </a:p>
        </p:txBody>
      </p:sp>
      <p:sp>
        <p:nvSpPr>
          <p:cNvPr id="22" name="44 initial programs"/>
          <p:cNvSpPr txBox="1"/>
          <p:nvPr/>
        </p:nvSpPr>
        <p:spPr>
          <a:xfrm rot="0">
            <a:off x="2924175" y="4623197"/>
            <a:ext cx="1292870" cy="184472"/>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44 initial programs</a:t>
            </a:r>
            <a:endParaRPr lang="en-US"/>
          </a:p>
        </p:txBody>
      </p:sp>
      <p:sp>
        <p:nvSpPr>
          <p:cNvPr id="23" name="20 additional programs"/>
          <p:cNvSpPr txBox="1"/>
          <p:nvPr/>
        </p:nvSpPr>
        <p:spPr>
          <a:xfrm rot="0">
            <a:off x="8353425" y="4623197"/>
            <a:ext cx="1597968" cy="184472"/>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20 additional programs</a:t>
            </a:r>
            <a:endParaRPr lang="en-US"/>
          </a:p>
        </p:txBody>
      </p:sp>
      <p:sp>
        <p:nvSpPr>
          <p:cNvPr id="24" name="Erdős minimum-overlap task. C₅ is the evaluated bound, lower is better"/>
          <p:cNvSpPr txBox="1"/>
          <p:nvPr/>
        </p:nvSpPr>
        <p:spPr>
          <a:xfrm rot="0">
            <a:off x="590550" y="5906542"/>
            <a:ext cx="3995946" cy="1619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75" b="0" i="0" spc="0">
                <a:solidFill>
                  <a:srgbClr val="666E78"/>
                </a:solidFill>
                <a:latin typeface="Arial"/>
              </a:rPr>
              <a:t xml:space="preserve">Erdős minimum-overlap task. C₅ is the evaluated bound, lower is better.</a:t>
            </a:r>
            <a:endParaRPr lang="en-US"/>
          </a:p>
        </p:txBody>
      </p:sp>
      <p:sp>
        <p:nvSpPr>
          <p:cNvPr id="25"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26"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27" name="Page 9"/>
          <p:cNvSpPr txBox="1"/>
          <p:nvPr/>
        </p:nvSpPr>
        <p:spPr>
          <a:xfrm rot="0">
            <a:off x="5985867" y="6434138"/>
            <a:ext cx="4424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9</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Observed Allocation: Equal Pilots, Targeted Follow-ups">
    <p:spTree>
      <p:nvGrpSpPr>
        <p:cNvPr id="1" name=""/>
        <p:cNvGrpSpPr/>
        <p:nvPr/>
      </p:nvGrpSpPr>
      <p:grpSpPr>
        <a:xfrm>
          <a:off x="0" y="0"/>
          <a:ext cx="0" cy="0"/>
          <a:chOff x="0" y="0"/>
          <a:chExt cx="0" cy="0"/>
        </a:xfrm>
      </p:grpSpPr>
      <p:pic>
        <p:nvPicPr>
          <p:cNvPr id="2" name="Observed Allocation: Equal Pilots, Targeted Follow-ups graphic elements" descr="Observed Allocation: Equal Pilots, Targeted Follow-ups graphic elements"/>
          <p:cNvPicPr>
            <a:picLocks noChangeAspect="1"/>
          </p:cNvPicPr>
          <p:nvPr/>
        </p:nvPicPr>
        <p:blipFill>
          <a:blip r:embed="rId2"/>
          <a:stretch>
            <a:fillRect/>
          </a:stretch>
        </p:blipFill>
        <p:spPr>
          <a:xfrm>
            <a:off x="0" y="0"/>
            <a:ext cx="12192000" cy="6858000"/>
          </a:xfrm>
          <a:prstGeom prst="rect">
            <a:avLst/>
          </a:prstGeom>
        </p:spPr>
      </p:pic>
      <p:sp>
        <p:nvSpPr>
          <p:cNvPr id="3" name="Observed Allocation: Equal Pilots, Targeted Follow-ups"/>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Observed Allocation: Equal Pilots, Targeted Follow-ups</a:t>
            </a:r>
            <a:endParaRPr lang="en-US"/>
          </a:p>
        </p:txBody>
      </p:sp>
      <p:sp>
        <p:nvSpPr>
          <p:cNvPr id="4" name="One parent has a budget of 64 programs. Generate 11 pilots for each of"/>
          <p:cNvSpPr txBox="1"/>
          <p:nvPr/>
        </p:nvSpPr>
        <p:spPr>
          <a:xfrm rot="0">
            <a:off x="590550" y="1362075"/>
            <a:ext cx="10475059"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One parent has a budget of 64 programs. Generate 11 pilots for each of four strategies, then use their results to</a:t>
            </a:r>
            <a:endParaRPr lang="en-US"/>
          </a:p>
        </p:txBody>
      </p:sp>
      <p:sp>
        <p:nvSpPr>
          <p:cNvPr id="5" name="allocate the remaining 20 programs."/>
          <p:cNvSpPr txBox="1"/>
          <p:nvPr/>
        </p:nvSpPr>
        <p:spPr>
          <a:xfrm rot="0">
            <a:off x="590550" y="1644848"/>
            <a:ext cx="348966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allocate the remaining 20 programs.</a:t>
            </a:r>
            <a:endParaRPr lang="en-US"/>
          </a:p>
        </p:txBody>
      </p:sp>
      <p:sp>
        <p:nvSpPr>
          <p:cNvPr id="6" name="Strategy"/>
          <p:cNvSpPr txBox="1"/>
          <p:nvPr/>
        </p:nvSpPr>
        <p:spPr>
          <a:xfrm rot="0">
            <a:off x="666750" y="2099072"/>
            <a:ext cx="615255" cy="184472"/>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Strategy</a:t>
            </a:r>
            <a:endParaRPr lang="en-US"/>
          </a:p>
        </p:txBody>
      </p:sp>
      <p:sp>
        <p:nvSpPr>
          <p:cNvPr id="7" name="Equal pilot budgets"/>
          <p:cNvSpPr txBox="1"/>
          <p:nvPr/>
        </p:nvSpPr>
        <p:spPr>
          <a:xfrm rot="0">
            <a:off x="2924175" y="2099072"/>
            <a:ext cx="1344067" cy="184472"/>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Equal pilot budgets</a:t>
            </a:r>
            <a:endParaRPr lang="en-US"/>
          </a:p>
        </p:txBody>
      </p:sp>
      <p:sp>
        <p:nvSpPr>
          <p:cNvPr id="8" name="Expected-best allocation"/>
          <p:cNvSpPr txBox="1"/>
          <p:nvPr/>
        </p:nvSpPr>
        <p:spPr>
          <a:xfrm rot="0">
            <a:off x="5761062" y="2099072"/>
            <a:ext cx="1708100" cy="182687"/>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Expected-best allocation</a:t>
            </a:r>
            <a:endParaRPr lang="en-US"/>
          </a:p>
        </p:txBody>
      </p:sp>
      <p:sp>
        <p:nvSpPr>
          <p:cNvPr id="9" name="Allocated follow-ups"/>
          <p:cNvSpPr txBox="1"/>
          <p:nvPr/>
        </p:nvSpPr>
        <p:spPr>
          <a:xfrm rot="0">
            <a:off x="8353202" y="2099072"/>
            <a:ext cx="1403226" cy="182687"/>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Allocated follow-ups</a:t>
            </a:r>
            <a:endParaRPr lang="en-US"/>
          </a:p>
        </p:txBody>
      </p:sp>
      <p:sp>
        <p:nvSpPr>
          <p:cNvPr id="10" name="Strategy 1"/>
          <p:cNvSpPr txBox="1"/>
          <p:nvPr/>
        </p:nvSpPr>
        <p:spPr>
          <a:xfrm rot="0">
            <a:off x="666750" y="2499122"/>
            <a:ext cx="1002804"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Strategy 1</a:t>
            </a:r>
            <a:endParaRPr lang="en-US"/>
          </a:p>
        </p:txBody>
      </p:sp>
      <p:sp>
        <p:nvSpPr>
          <p:cNvPr id="11" name="11"/>
          <p:cNvSpPr txBox="1"/>
          <p:nvPr/>
        </p:nvSpPr>
        <p:spPr>
          <a:xfrm rot="0">
            <a:off x="4533900" y="2499122"/>
            <a:ext cx="26521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11</a:t>
            </a:r>
            <a:endParaRPr lang="en-US"/>
          </a:p>
        </p:txBody>
      </p:sp>
      <p:sp>
        <p:nvSpPr>
          <p:cNvPr id="12" name="0"/>
          <p:cNvSpPr txBox="1"/>
          <p:nvPr/>
        </p:nvSpPr>
        <p:spPr>
          <a:xfrm rot="0">
            <a:off x="8496300" y="2499122"/>
            <a:ext cx="164306"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0</a:t>
            </a:r>
            <a:endParaRPr lang="en-US"/>
          </a:p>
        </p:txBody>
      </p:sp>
      <p:sp>
        <p:nvSpPr>
          <p:cNvPr id="13" name="Strategy 2"/>
          <p:cNvSpPr txBox="1"/>
          <p:nvPr/>
        </p:nvSpPr>
        <p:spPr>
          <a:xfrm rot="0">
            <a:off x="666750" y="3022997"/>
            <a:ext cx="1002804"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Strategy 2</a:t>
            </a:r>
            <a:endParaRPr lang="en-US"/>
          </a:p>
        </p:txBody>
      </p:sp>
      <p:sp>
        <p:nvSpPr>
          <p:cNvPr id="14" name="11"/>
          <p:cNvSpPr txBox="1"/>
          <p:nvPr/>
        </p:nvSpPr>
        <p:spPr>
          <a:xfrm rot="0">
            <a:off x="4533900" y="3022997"/>
            <a:ext cx="26521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11</a:t>
            </a:r>
            <a:endParaRPr lang="en-US"/>
          </a:p>
        </p:txBody>
      </p:sp>
      <p:sp>
        <p:nvSpPr>
          <p:cNvPr id="15" name="0"/>
          <p:cNvSpPr txBox="1"/>
          <p:nvPr/>
        </p:nvSpPr>
        <p:spPr>
          <a:xfrm rot="0">
            <a:off x="8496300" y="3022997"/>
            <a:ext cx="164306"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0</a:t>
            </a:r>
            <a:endParaRPr lang="en-US"/>
          </a:p>
        </p:txBody>
      </p:sp>
      <p:sp>
        <p:nvSpPr>
          <p:cNvPr id="16" name="Strategy 3"/>
          <p:cNvSpPr txBox="1"/>
          <p:nvPr/>
        </p:nvSpPr>
        <p:spPr>
          <a:xfrm rot="0">
            <a:off x="666750" y="3546872"/>
            <a:ext cx="1002804"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Strategy 3</a:t>
            </a:r>
            <a:endParaRPr lang="en-US"/>
          </a:p>
        </p:txBody>
      </p:sp>
      <p:sp>
        <p:nvSpPr>
          <p:cNvPr id="17" name="11"/>
          <p:cNvSpPr txBox="1"/>
          <p:nvPr/>
        </p:nvSpPr>
        <p:spPr>
          <a:xfrm rot="0">
            <a:off x="4533900" y="3546872"/>
            <a:ext cx="26521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11</a:t>
            </a:r>
            <a:endParaRPr lang="en-US"/>
          </a:p>
        </p:txBody>
      </p:sp>
      <p:sp>
        <p:nvSpPr>
          <p:cNvPr id="18" name="17"/>
          <p:cNvSpPr txBox="1"/>
          <p:nvPr/>
        </p:nvSpPr>
        <p:spPr>
          <a:xfrm rot="0">
            <a:off x="10763250" y="3546872"/>
            <a:ext cx="280839"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17</a:t>
            </a:r>
            <a:endParaRPr lang="en-US"/>
          </a:p>
        </p:txBody>
      </p:sp>
      <p:sp>
        <p:nvSpPr>
          <p:cNvPr id="19" name="Strategy 4"/>
          <p:cNvSpPr txBox="1"/>
          <p:nvPr/>
        </p:nvSpPr>
        <p:spPr>
          <a:xfrm rot="0">
            <a:off x="666750" y="4070747"/>
            <a:ext cx="1002804"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Strategy 4</a:t>
            </a:r>
            <a:endParaRPr lang="en-US"/>
          </a:p>
        </p:txBody>
      </p:sp>
      <p:sp>
        <p:nvSpPr>
          <p:cNvPr id="20" name="11"/>
          <p:cNvSpPr txBox="1"/>
          <p:nvPr/>
        </p:nvSpPr>
        <p:spPr>
          <a:xfrm rot="0">
            <a:off x="4533900" y="4070747"/>
            <a:ext cx="265212"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11</a:t>
            </a:r>
            <a:endParaRPr lang="en-US"/>
          </a:p>
        </p:txBody>
      </p:sp>
      <p:sp>
        <p:nvSpPr>
          <p:cNvPr id="21" name="3"/>
          <p:cNvSpPr txBox="1"/>
          <p:nvPr/>
        </p:nvSpPr>
        <p:spPr>
          <a:xfrm rot="0">
            <a:off x="8896350" y="4070747"/>
            <a:ext cx="164306"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3</a:t>
            </a:r>
            <a:endParaRPr lang="en-US"/>
          </a:p>
        </p:txBody>
      </p:sp>
      <p:sp>
        <p:nvSpPr>
          <p:cNvPr id="22" name="44 initial programs"/>
          <p:cNvSpPr txBox="1"/>
          <p:nvPr/>
        </p:nvSpPr>
        <p:spPr>
          <a:xfrm rot="0">
            <a:off x="2924175" y="4623197"/>
            <a:ext cx="1292870" cy="184472"/>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44 initial programs</a:t>
            </a:r>
            <a:endParaRPr lang="en-US"/>
          </a:p>
        </p:txBody>
      </p:sp>
      <p:sp>
        <p:nvSpPr>
          <p:cNvPr id="23" name="20 additional programs"/>
          <p:cNvSpPr txBox="1"/>
          <p:nvPr/>
        </p:nvSpPr>
        <p:spPr>
          <a:xfrm rot="0">
            <a:off x="8353425" y="4623197"/>
            <a:ext cx="1597968" cy="184472"/>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20 additional programs</a:t>
            </a:r>
            <a:endParaRPr lang="en-US"/>
          </a:p>
        </p:txBody>
      </p:sp>
      <p:sp>
        <p:nvSpPr>
          <p:cNvPr id="24" name="0.380979914"/>
          <p:cNvSpPr txBox="1"/>
          <p:nvPr/>
        </p:nvSpPr>
        <p:spPr>
          <a:xfrm rot="0">
            <a:off x="5734050" y="4994672"/>
            <a:ext cx="1660624" cy="3238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175" b="1" i="0" spc="0">
                <a:solidFill>
                  <a:srgbClr val="C7000B"/>
                </a:solidFill>
                <a:latin typeface="Arial"/>
              </a:rPr>
              <a:t xml:space="preserve">0.380979914</a:t>
            </a:r>
            <a:endParaRPr lang="en-US"/>
          </a:p>
        </p:txBody>
      </p:sp>
      <p:sp>
        <p:nvSpPr>
          <p:cNvPr id="25" name="0.381159145"/>
          <p:cNvSpPr txBox="1"/>
          <p:nvPr/>
        </p:nvSpPr>
        <p:spPr>
          <a:xfrm rot="0">
            <a:off x="2924175" y="5013722"/>
            <a:ext cx="1530400" cy="3048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025" b="0" i="0" spc="0">
                <a:solidFill>
                  <a:srgbClr val="202328"/>
                </a:solidFill>
                <a:latin typeface="Arial"/>
              </a:rPr>
              <a:t xml:space="preserve">0.381159145</a:t>
            </a:r>
            <a:endParaRPr lang="en-US"/>
          </a:p>
        </p:txBody>
      </p:sp>
      <p:sp>
        <p:nvSpPr>
          <p:cNvPr id="26" name="→"/>
          <p:cNvSpPr txBox="1"/>
          <p:nvPr/>
        </p:nvSpPr>
        <p:spPr>
          <a:xfrm rot="0">
            <a:off x="5162550" y="5023247"/>
            <a:ext cx="285750" cy="2857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875" b="0" i="0" spc="0">
                <a:solidFill>
                  <a:srgbClr val="202328"/>
                </a:solidFill>
                <a:latin typeface="Arial"/>
              </a:rPr>
              <a:t xml:space="preserve">→</a:t>
            </a:r>
            <a:endParaRPr lang="en-US"/>
          </a:p>
        </p:txBody>
      </p:sp>
      <p:sp>
        <p:nvSpPr>
          <p:cNvPr id="27" name="Best C₅: pilots"/>
          <p:cNvSpPr txBox="1"/>
          <p:nvPr/>
        </p:nvSpPr>
        <p:spPr>
          <a:xfrm rot="0">
            <a:off x="666750" y="5108972"/>
            <a:ext cx="987772" cy="20582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Best C₅: pilots</a:t>
            </a:r>
            <a:endParaRPr lang="en-US"/>
          </a:p>
        </p:txBody>
      </p:sp>
      <p:sp>
        <p:nvSpPr>
          <p:cNvPr id="28" name="After follow-ups"/>
          <p:cNvSpPr txBox="1"/>
          <p:nvPr/>
        </p:nvSpPr>
        <p:spPr>
          <a:xfrm rot="0">
            <a:off x="8448452" y="5108972"/>
            <a:ext cx="1098128" cy="182687"/>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After follow-ups</a:t>
            </a:r>
            <a:endParaRPr lang="en-US"/>
          </a:p>
        </p:txBody>
      </p:sp>
      <p:sp>
        <p:nvSpPr>
          <p:cNvPr id="29" name="Erdős minimum-overlap task. C₅ is the evaluated bound, lower is better"/>
          <p:cNvSpPr txBox="1"/>
          <p:nvPr/>
        </p:nvSpPr>
        <p:spPr>
          <a:xfrm rot="0">
            <a:off x="590550" y="5906542"/>
            <a:ext cx="3995946" cy="1619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75" b="0" i="0" spc="0">
                <a:solidFill>
                  <a:srgbClr val="666E78"/>
                </a:solidFill>
                <a:latin typeface="Arial"/>
              </a:rPr>
              <a:t xml:space="preserve">Erdős minimum-overlap task. C₅ is the evaluated bound, lower is better.</a:t>
            </a:r>
            <a:endParaRPr lang="en-US"/>
          </a:p>
        </p:txBody>
      </p:sp>
      <p:sp>
        <p:nvSpPr>
          <p:cNvPr id="30"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31"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32" name="Page 9"/>
          <p:cNvSpPr txBox="1"/>
          <p:nvPr/>
        </p:nvSpPr>
        <p:spPr>
          <a:xfrm rot="0">
            <a:off x="5985867" y="6434138"/>
            <a:ext cx="4424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9</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Technical Solution: Dependency-Aware Execution">
    <p:spTree>
      <p:nvGrpSpPr>
        <p:cNvPr id="1" name=""/>
        <p:cNvGrpSpPr/>
        <p:nvPr/>
      </p:nvGrpSpPr>
      <p:grpSpPr>
        <a:xfrm>
          <a:off x="0" y="0"/>
          <a:ext cx="0" cy="0"/>
          <a:chOff x="0" y="0"/>
          <a:chExt cx="0" cy="0"/>
        </a:xfrm>
      </p:grpSpPr>
      <p:pic>
        <p:nvPicPr>
          <p:cNvPr id="2" name="Technical Solution: Dependency-Aware Execution graphic elements" descr="Technical Solution: Dependency-Aware Execution graphic elements"/>
          <p:cNvPicPr>
            <a:picLocks noChangeAspect="1"/>
          </p:cNvPicPr>
          <p:nvPr/>
        </p:nvPicPr>
        <p:blipFill>
          <a:blip r:embed="rId2"/>
          <a:stretch>
            <a:fillRect/>
          </a:stretch>
        </p:blipFill>
        <p:spPr>
          <a:xfrm>
            <a:off x="0" y="0"/>
            <a:ext cx="12192000" cy="6858000"/>
          </a:xfrm>
          <a:prstGeom prst="rect">
            <a:avLst/>
          </a:prstGeom>
        </p:spPr>
      </p:pic>
      <p:sp>
        <p:nvSpPr>
          <p:cNvPr id="3" name="Technical Solution: Dependency-Aware Execution"/>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Technical Solution: Dependency-Aware Execution</a:t>
            </a:r>
            <a:endParaRPr lang="en-US"/>
          </a:p>
        </p:txBody>
      </p:sp>
      <p:sp>
        <p:nvSpPr>
          <p:cNvPr id="4" name="(a) Sequential execution"/>
          <p:cNvSpPr txBox="1"/>
          <p:nvPr/>
        </p:nvSpPr>
        <p:spPr>
          <a:xfrm rot="0">
            <a:off x="875315" y="1334650"/>
            <a:ext cx="2124968"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2" b="1" i="0" spc="0">
                <a:solidFill>
                  <a:srgbClr val="202328"/>
                </a:solidFill>
                <a:latin typeface="Arial"/>
              </a:rPr>
              <a:t xml:space="preserve">(a) Sequential execution</a:t>
            </a:r>
            <a:endParaRPr lang="en-US"/>
          </a:p>
        </p:txBody>
      </p:sp>
      <p:sp>
        <p:nvSpPr>
          <p:cNvPr id="5" name="Each stage waits for the previous stage"/>
          <p:cNvSpPr txBox="1"/>
          <p:nvPr/>
        </p:nvSpPr>
        <p:spPr>
          <a:xfrm rot="0">
            <a:off x="5210832" y="1363225"/>
            <a:ext cx="2569666"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Each stage waits for the previous stage</a:t>
            </a:r>
            <a:endParaRPr lang="en-US"/>
          </a:p>
        </p:txBody>
      </p:sp>
      <p:sp>
        <p:nvSpPr>
          <p:cNvPr id="6" name="Plans"/>
          <p:cNvSpPr txBox="1"/>
          <p:nvPr/>
        </p:nvSpPr>
        <p:spPr>
          <a:xfrm rot="0">
            <a:off x="2654578" y="1661291"/>
            <a:ext cx="409128"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Plans</a:t>
            </a:r>
            <a:endParaRPr lang="en-US"/>
          </a:p>
        </p:txBody>
      </p:sp>
      <p:sp>
        <p:nvSpPr>
          <p:cNvPr id="7" name="Strategist"/>
          <p:cNvSpPr txBox="1"/>
          <p:nvPr/>
        </p:nvSpPr>
        <p:spPr>
          <a:xfrm rot="0">
            <a:off x="875315" y="1670324"/>
            <a:ext cx="658118"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Strategist</a:t>
            </a:r>
            <a:endParaRPr lang="en-US"/>
          </a:p>
        </p:txBody>
      </p:sp>
      <p:sp>
        <p:nvSpPr>
          <p:cNvPr id="8" name="Pilot programs"/>
          <p:cNvSpPr txBox="1"/>
          <p:nvPr/>
        </p:nvSpPr>
        <p:spPr>
          <a:xfrm rot="0">
            <a:off x="3385635" y="1950326"/>
            <a:ext cx="979289"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Pilot programs</a:t>
            </a:r>
            <a:endParaRPr lang="en-US"/>
          </a:p>
        </p:txBody>
      </p:sp>
      <p:sp>
        <p:nvSpPr>
          <p:cNvPr id="9" name="Follow-up programs"/>
          <p:cNvSpPr txBox="1"/>
          <p:nvPr/>
        </p:nvSpPr>
        <p:spPr>
          <a:xfrm rot="0">
            <a:off x="6363018" y="1950326"/>
            <a:ext cx="1324570"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Follow-up programs</a:t>
            </a:r>
            <a:endParaRPr lang="en-US"/>
          </a:p>
        </p:txBody>
      </p:sp>
      <p:sp>
        <p:nvSpPr>
          <p:cNvPr id="10" name="Coder"/>
          <p:cNvSpPr txBox="1"/>
          <p:nvPr/>
        </p:nvSpPr>
        <p:spPr>
          <a:xfrm rot="0">
            <a:off x="875315" y="1959358"/>
            <a:ext cx="44315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Coder</a:t>
            </a:r>
            <a:endParaRPr lang="en-US"/>
          </a:p>
        </p:txBody>
      </p:sp>
      <p:sp>
        <p:nvSpPr>
          <p:cNvPr id="11" name="Evaluate pilots"/>
          <p:cNvSpPr txBox="1"/>
          <p:nvPr/>
        </p:nvSpPr>
        <p:spPr>
          <a:xfrm rot="0">
            <a:off x="4567035" y="2239360"/>
            <a:ext cx="987475"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Evaluate pilots</a:t>
            </a:r>
            <a:endParaRPr lang="en-US"/>
          </a:p>
        </p:txBody>
      </p:sp>
      <p:sp>
        <p:nvSpPr>
          <p:cNvPr id="12" name="Evaluate outputs"/>
          <p:cNvSpPr txBox="1"/>
          <p:nvPr/>
        </p:nvSpPr>
        <p:spPr>
          <a:xfrm rot="0">
            <a:off x="7784232" y="2239360"/>
            <a:ext cx="1124099"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Evaluate outputs</a:t>
            </a:r>
            <a:endParaRPr lang="en-US"/>
          </a:p>
        </p:txBody>
      </p:sp>
      <p:sp>
        <p:nvSpPr>
          <p:cNvPr id="13" name="CPU evaluation"/>
          <p:cNvSpPr txBox="1"/>
          <p:nvPr/>
        </p:nvSpPr>
        <p:spPr>
          <a:xfrm rot="0">
            <a:off x="875315" y="2248393"/>
            <a:ext cx="1051619"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CPU evaluation</a:t>
            </a:r>
            <a:endParaRPr lang="en-US"/>
          </a:p>
        </p:txBody>
      </p:sp>
      <p:sp>
        <p:nvSpPr>
          <p:cNvPr id="14" name="Allocate"/>
          <p:cNvSpPr txBox="1"/>
          <p:nvPr/>
        </p:nvSpPr>
        <p:spPr>
          <a:xfrm rot="0">
            <a:off x="5694170" y="2528395"/>
            <a:ext cx="562038"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Allocate</a:t>
            </a:r>
            <a:endParaRPr lang="en-US"/>
          </a:p>
        </p:txBody>
      </p:sp>
      <p:sp>
        <p:nvSpPr>
          <p:cNvPr id="15" name="Allocation"/>
          <p:cNvSpPr txBox="1"/>
          <p:nvPr/>
        </p:nvSpPr>
        <p:spPr>
          <a:xfrm rot="0">
            <a:off x="875103" y="2537427"/>
            <a:ext cx="674403"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Allocation</a:t>
            </a:r>
            <a:endParaRPr lang="en-US"/>
          </a:p>
        </p:txBody>
      </p:sp>
      <p:sp>
        <p:nvSpPr>
          <p:cNvPr id="16" name="Update"/>
          <p:cNvSpPr txBox="1"/>
          <p:nvPr/>
        </p:nvSpPr>
        <p:spPr>
          <a:xfrm rot="0">
            <a:off x="10324978" y="2817429"/>
            <a:ext cx="513606"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Update</a:t>
            </a:r>
            <a:endParaRPr lang="en-US"/>
          </a:p>
        </p:txBody>
      </p:sp>
      <p:sp>
        <p:nvSpPr>
          <p:cNvPr id="17" name="Scoring / backward"/>
          <p:cNvSpPr txBox="1"/>
          <p:nvPr/>
        </p:nvSpPr>
        <p:spPr>
          <a:xfrm rot="0">
            <a:off x="8995138" y="2817429"/>
            <a:ext cx="1276499"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Scoring / backward</a:t>
            </a:r>
            <a:endParaRPr lang="en-US"/>
          </a:p>
        </p:txBody>
      </p:sp>
      <p:sp>
        <p:nvSpPr>
          <p:cNvPr id="18" name="Trainer"/>
          <p:cNvSpPr txBox="1"/>
          <p:nvPr/>
        </p:nvSpPr>
        <p:spPr>
          <a:xfrm rot="0">
            <a:off x="875315" y="2826462"/>
            <a:ext cx="501921"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Trainer</a:t>
            </a:r>
            <a:endParaRPr lang="en-US"/>
          </a:p>
        </p:txBody>
      </p:sp>
      <p:sp>
        <p:nvSpPr>
          <p:cNvPr id="19" name="(b) Dependency-aware execution"/>
          <p:cNvSpPr txBox="1"/>
          <p:nvPr/>
        </p:nvSpPr>
        <p:spPr>
          <a:xfrm rot="0">
            <a:off x="875315" y="3222406"/>
            <a:ext cx="2867769"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2" b="1" i="0" spc="0">
                <a:solidFill>
                  <a:srgbClr val="202328"/>
                </a:solidFill>
                <a:latin typeface="Arial"/>
              </a:rPr>
              <a:t xml:space="preserve">(b) Dependency-aware execution</a:t>
            </a:r>
            <a:endParaRPr lang="en-US"/>
          </a:p>
        </p:txBody>
      </p:sp>
      <p:sp>
        <p:nvSpPr>
          <p:cNvPr id="20" name="Follow-ups start once a parent’s pilot results are complete"/>
          <p:cNvSpPr txBox="1"/>
          <p:nvPr/>
        </p:nvSpPr>
        <p:spPr>
          <a:xfrm rot="0">
            <a:off x="5210832" y="3250981"/>
            <a:ext cx="3739455"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Follow-ups start once a parent’s pilot results are complete</a:t>
            </a:r>
            <a:endParaRPr lang="en-US"/>
          </a:p>
        </p:txBody>
      </p:sp>
      <p:sp>
        <p:nvSpPr>
          <p:cNvPr id="21" name="Strategist"/>
          <p:cNvSpPr txBox="1"/>
          <p:nvPr/>
        </p:nvSpPr>
        <p:spPr>
          <a:xfrm rot="0">
            <a:off x="875315" y="3549048"/>
            <a:ext cx="658118"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Strategist</a:t>
            </a:r>
            <a:endParaRPr lang="en-US"/>
          </a:p>
        </p:txBody>
      </p:sp>
      <p:sp>
        <p:nvSpPr>
          <p:cNvPr id="22" name="Coder"/>
          <p:cNvSpPr txBox="1"/>
          <p:nvPr/>
        </p:nvSpPr>
        <p:spPr>
          <a:xfrm rot="0">
            <a:off x="875315" y="3838082"/>
            <a:ext cx="44315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Coder</a:t>
            </a:r>
            <a:endParaRPr lang="en-US"/>
          </a:p>
        </p:txBody>
      </p:sp>
      <p:sp>
        <p:nvSpPr>
          <p:cNvPr id="23" name="CPU evaluation"/>
          <p:cNvSpPr txBox="1"/>
          <p:nvPr/>
        </p:nvSpPr>
        <p:spPr>
          <a:xfrm rot="0">
            <a:off x="875315" y="4127116"/>
            <a:ext cx="1051619"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CPU evaluation</a:t>
            </a:r>
            <a:endParaRPr lang="en-US"/>
          </a:p>
        </p:txBody>
      </p:sp>
      <p:sp>
        <p:nvSpPr>
          <p:cNvPr id="24" name="Allocation"/>
          <p:cNvSpPr txBox="1"/>
          <p:nvPr/>
        </p:nvSpPr>
        <p:spPr>
          <a:xfrm rot="0">
            <a:off x="875103" y="4416151"/>
            <a:ext cx="674403"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Allocation</a:t>
            </a:r>
            <a:endParaRPr lang="en-US"/>
          </a:p>
        </p:txBody>
      </p:sp>
      <p:sp>
        <p:nvSpPr>
          <p:cNvPr id="25" name="Trainer"/>
          <p:cNvSpPr txBox="1"/>
          <p:nvPr/>
        </p:nvSpPr>
        <p:spPr>
          <a:xfrm rot="0">
            <a:off x="875315" y="4705186"/>
            <a:ext cx="501921"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Trainer</a:t>
            </a:r>
            <a:endParaRPr lang="en-US"/>
          </a:p>
        </p:txBody>
      </p:sp>
      <p:sp>
        <p:nvSpPr>
          <p:cNvPr id="26" name="Evaluate programs as they arrive. Once generation ends, train on evalu"/>
          <p:cNvSpPr txBox="1"/>
          <p:nvPr/>
        </p:nvSpPr>
        <p:spPr>
          <a:xfrm rot="0">
            <a:off x="590550" y="5143500"/>
            <a:ext cx="10690771"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Evaluate programs as they arrive. Once generation ends, train on evaluated programs while CPU evaluation continues. </a:t>
            </a:r>
            <a:r>
              <a:rPr lang="en-US" sz="1500" b="1" i="0" spc="0">
                <a:solidFill>
                  <a:srgbClr val="202328"/>
                </a:solidFill>
                <a:latin typeface="Arial"/>
              </a:rPr>
              <a:t xml:space="preserve">Keep</a:t>
            </a:r>
            <a:endParaRPr lang="en-US"/>
          </a:p>
        </p:txBody>
      </p:sp>
      <p:sp>
        <p:nvSpPr>
          <p:cNvPr id="27" name="parameters fixed until the step’s final optimizer update."/>
          <p:cNvSpPr txBox="1"/>
          <p:nvPr/>
        </p:nvSpPr>
        <p:spPr>
          <a:xfrm rot="0">
            <a:off x="590550" y="5400675"/>
            <a:ext cx="5122664"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1" i="0" spc="0">
                <a:solidFill>
                  <a:srgbClr val="202328"/>
                </a:solidFill>
                <a:latin typeface="Arial"/>
              </a:rPr>
              <a:t xml:space="preserve">parameters fixed until the step’s final optimizer update.</a:t>
            </a:r>
            <a:endParaRPr lang="en-US"/>
          </a:p>
        </p:txBody>
      </p:sp>
      <p:sp>
        <p:nvSpPr>
          <p:cNvPr id="28"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29"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30" name="Page 10"/>
          <p:cNvSpPr txBox="1"/>
          <p:nvPr/>
        </p:nvSpPr>
        <p:spPr>
          <a:xfrm rot="0">
            <a:off x="5985867" y="6434138"/>
            <a:ext cx="50595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10</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Technical Solution: Dependency-Aware Execution">
    <p:spTree>
      <p:nvGrpSpPr>
        <p:cNvPr id="1" name=""/>
        <p:cNvGrpSpPr/>
        <p:nvPr/>
      </p:nvGrpSpPr>
      <p:grpSpPr>
        <a:xfrm>
          <a:off x="0" y="0"/>
          <a:ext cx="0" cy="0"/>
          <a:chOff x="0" y="0"/>
          <a:chExt cx="0" cy="0"/>
        </a:xfrm>
      </p:grpSpPr>
      <p:pic>
        <p:nvPicPr>
          <p:cNvPr id="2" name="Technical Solution: Dependency-Aware Execution graphic elements" descr="Technical Solution: Dependency-Aware Execution graphic elements"/>
          <p:cNvPicPr>
            <a:picLocks noChangeAspect="1"/>
          </p:cNvPicPr>
          <p:nvPr/>
        </p:nvPicPr>
        <p:blipFill>
          <a:blip r:embed="rId2"/>
          <a:stretch>
            <a:fillRect/>
          </a:stretch>
        </p:blipFill>
        <p:spPr>
          <a:xfrm>
            <a:off x="0" y="0"/>
            <a:ext cx="12192000" cy="6858000"/>
          </a:xfrm>
          <a:prstGeom prst="rect">
            <a:avLst/>
          </a:prstGeom>
        </p:spPr>
      </p:pic>
      <p:sp>
        <p:nvSpPr>
          <p:cNvPr id="3" name="Technical Solution: Dependency-Aware Execution"/>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Technical Solution: Dependency-Aware Execution</a:t>
            </a:r>
            <a:endParaRPr lang="en-US"/>
          </a:p>
        </p:txBody>
      </p:sp>
      <p:sp>
        <p:nvSpPr>
          <p:cNvPr id="4" name="(a) Sequential execution"/>
          <p:cNvSpPr txBox="1"/>
          <p:nvPr/>
        </p:nvSpPr>
        <p:spPr>
          <a:xfrm rot="0">
            <a:off x="875315" y="1334650"/>
            <a:ext cx="2124968"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2" b="1" i="0" spc="0">
                <a:solidFill>
                  <a:srgbClr val="202328"/>
                </a:solidFill>
                <a:latin typeface="Arial"/>
              </a:rPr>
              <a:t xml:space="preserve">(a) Sequential execution</a:t>
            </a:r>
            <a:endParaRPr lang="en-US"/>
          </a:p>
        </p:txBody>
      </p:sp>
      <p:sp>
        <p:nvSpPr>
          <p:cNvPr id="5" name="Each stage waits for the previous stage"/>
          <p:cNvSpPr txBox="1"/>
          <p:nvPr/>
        </p:nvSpPr>
        <p:spPr>
          <a:xfrm rot="0">
            <a:off x="5210832" y="1363225"/>
            <a:ext cx="2569666"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Each stage waits for the previous stage</a:t>
            </a:r>
            <a:endParaRPr lang="en-US"/>
          </a:p>
        </p:txBody>
      </p:sp>
      <p:sp>
        <p:nvSpPr>
          <p:cNvPr id="6" name="Plans"/>
          <p:cNvSpPr txBox="1"/>
          <p:nvPr/>
        </p:nvSpPr>
        <p:spPr>
          <a:xfrm rot="0">
            <a:off x="2654578" y="1661291"/>
            <a:ext cx="409128"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Plans</a:t>
            </a:r>
            <a:endParaRPr lang="en-US"/>
          </a:p>
        </p:txBody>
      </p:sp>
      <p:sp>
        <p:nvSpPr>
          <p:cNvPr id="7" name="Strategist"/>
          <p:cNvSpPr txBox="1"/>
          <p:nvPr/>
        </p:nvSpPr>
        <p:spPr>
          <a:xfrm rot="0">
            <a:off x="875315" y="1670324"/>
            <a:ext cx="658118"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Strategist</a:t>
            </a:r>
            <a:endParaRPr lang="en-US"/>
          </a:p>
        </p:txBody>
      </p:sp>
      <p:sp>
        <p:nvSpPr>
          <p:cNvPr id="8" name="Pilot programs"/>
          <p:cNvSpPr txBox="1"/>
          <p:nvPr/>
        </p:nvSpPr>
        <p:spPr>
          <a:xfrm rot="0">
            <a:off x="3385635" y="1950326"/>
            <a:ext cx="979289"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Pilot programs</a:t>
            </a:r>
            <a:endParaRPr lang="en-US"/>
          </a:p>
        </p:txBody>
      </p:sp>
      <p:sp>
        <p:nvSpPr>
          <p:cNvPr id="9" name="Follow-up programs"/>
          <p:cNvSpPr txBox="1"/>
          <p:nvPr/>
        </p:nvSpPr>
        <p:spPr>
          <a:xfrm rot="0">
            <a:off x="6363018" y="1950326"/>
            <a:ext cx="1324570"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Follow-up programs</a:t>
            </a:r>
            <a:endParaRPr lang="en-US"/>
          </a:p>
        </p:txBody>
      </p:sp>
      <p:sp>
        <p:nvSpPr>
          <p:cNvPr id="10" name="Coder"/>
          <p:cNvSpPr txBox="1"/>
          <p:nvPr/>
        </p:nvSpPr>
        <p:spPr>
          <a:xfrm rot="0">
            <a:off x="875315" y="1959358"/>
            <a:ext cx="44315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Coder</a:t>
            </a:r>
            <a:endParaRPr lang="en-US"/>
          </a:p>
        </p:txBody>
      </p:sp>
      <p:sp>
        <p:nvSpPr>
          <p:cNvPr id="11" name="Evaluate pilots"/>
          <p:cNvSpPr txBox="1"/>
          <p:nvPr/>
        </p:nvSpPr>
        <p:spPr>
          <a:xfrm rot="0">
            <a:off x="4567035" y="2239360"/>
            <a:ext cx="987475"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Evaluate pilots</a:t>
            </a:r>
            <a:endParaRPr lang="en-US"/>
          </a:p>
        </p:txBody>
      </p:sp>
      <p:sp>
        <p:nvSpPr>
          <p:cNvPr id="12" name="Evaluate outputs"/>
          <p:cNvSpPr txBox="1"/>
          <p:nvPr/>
        </p:nvSpPr>
        <p:spPr>
          <a:xfrm rot="0">
            <a:off x="7784232" y="2239360"/>
            <a:ext cx="1124099"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Evaluate outputs</a:t>
            </a:r>
            <a:endParaRPr lang="en-US"/>
          </a:p>
        </p:txBody>
      </p:sp>
      <p:sp>
        <p:nvSpPr>
          <p:cNvPr id="13" name="CPU evaluation"/>
          <p:cNvSpPr txBox="1"/>
          <p:nvPr/>
        </p:nvSpPr>
        <p:spPr>
          <a:xfrm rot="0">
            <a:off x="875315" y="2248393"/>
            <a:ext cx="1051619"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CPU evaluation</a:t>
            </a:r>
            <a:endParaRPr lang="en-US"/>
          </a:p>
        </p:txBody>
      </p:sp>
      <p:sp>
        <p:nvSpPr>
          <p:cNvPr id="14" name="Allocate"/>
          <p:cNvSpPr txBox="1"/>
          <p:nvPr/>
        </p:nvSpPr>
        <p:spPr>
          <a:xfrm rot="0">
            <a:off x="5694170" y="2528395"/>
            <a:ext cx="562038"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Allocate</a:t>
            </a:r>
            <a:endParaRPr lang="en-US"/>
          </a:p>
        </p:txBody>
      </p:sp>
      <p:sp>
        <p:nvSpPr>
          <p:cNvPr id="15" name="Allocation"/>
          <p:cNvSpPr txBox="1"/>
          <p:nvPr/>
        </p:nvSpPr>
        <p:spPr>
          <a:xfrm rot="0">
            <a:off x="875103" y="2537427"/>
            <a:ext cx="674403"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Allocation</a:t>
            </a:r>
            <a:endParaRPr lang="en-US"/>
          </a:p>
        </p:txBody>
      </p:sp>
      <p:sp>
        <p:nvSpPr>
          <p:cNvPr id="16" name="Update"/>
          <p:cNvSpPr txBox="1"/>
          <p:nvPr/>
        </p:nvSpPr>
        <p:spPr>
          <a:xfrm rot="0">
            <a:off x="10324978" y="2817429"/>
            <a:ext cx="513606"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Update</a:t>
            </a:r>
            <a:endParaRPr lang="en-US"/>
          </a:p>
        </p:txBody>
      </p:sp>
      <p:sp>
        <p:nvSpPr>
          <p:cNvPr id="17" name="Scoring / backward"/>
          <p:cNvSpPr txBox="1"/>
          <p:nvPr/>
        </p:nvSpPr>
        <p:spPr>
          <a:xfrm rot="0">
            <a:off x="8995138" y="2817429"/>
            <a:ext cx="1276499"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Scoring / backward</a:t>
            </a:r>
            <a:endParaRPr lang="en-US"/>
          </a:p>
        </p:txBody>
      </p:sp>
      <p:sp>
        <p:nvSpPr>
          <p:cNvPr id="18" name="Trainer"/>
          <p:cNvSpPr txBox="1"/>
          <p:nvPr/>
        </p:nvSpPr>
        <p:spPr>
          <a:xfrm rot="0">
            <a:off x="875315" y="2826462"/>
            <a:ext cx="501921"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Trainer</a:t>
            </a:r>
            <a:endParaRPr lang="en-US"/>
          </a:p>
        </p:txBody>
      </p:sp>
      <p:sp>
        <p:nvSpPr>
          <p:cNvPr id="19" name="(b) Dependency-aware execution"/>
          <p:cNvSpPr txBox="1"/>
          <p:nvPr/>
        </p:nvSpPr>
        <p:spPr>
          <a:xfrm rot="0">
            <a:off x="875315" y="3222406"/>
            <a:ext cx="2867769"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2" b="1" i="0" spc="0">
                <a:solidFill>
                  <a:srgbClr val="202328"/>
                </a:solidFill>
                <a:latin typeface="Arial"/>
              </a:rPr>
              <a:t xml:space="preserve">(b) Dependency-aware execution</a:t>
            </a:r>
            <a:endParaRPr lang="en-US"/>
          </a:p>
        </p:txBody>
      </p:sp>
      <p:sp>
        <p:nvSpPr>
          <p:cNvPr id="20" name="Follow-ups start once a parent’s pilot results are complete"/>
          <p:cNvSpPr txBox="1"/>
          <p:nvPr/>
        </p:nvSpPr>
        <p:spPr>
          <a:xfrm rot="0">
            <a:off x="5210832" y="3250981"/>
            <a:ext cx="3739455"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Follow-ups start once a parent’s pilot results are complete</a:t>
            </a:r>
            <a:endParaRPr lang="en-US"/>
          </a:p>
        </p:txBody>
      </p:sp>
      <p:sp>
        <p:nvSpPr>
          <p:cNvPr id="21" name="Plans"/>
          <p:cNvSpPr txBox="1"/>
          <p:nvPr/>
        </p:nvSpPr>
        <p:spPr>
          <a:xfrm rot="0">
            <a:off x="2654578" y="3540015"/>
            <a:ext cx="409128"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Plans</a:t>
            </a:r>
            <a:endParaRPr lang="en-US"/>
          </a:p>
        </p:txBody>
      </p:sp>
      <p:sp>
        <p:nvSpPr>
          <p:cNvPr id="22" name="Strategist"/>
          <p:cNvSpPr txBox="1"/>
          <p:nvPr/>
        </p:nvSpPr>
        <p:spPr>
          <a:xfrm rot="0">
            <a:off x="875315" y="3549048"/>
            <a:ext cx="658118"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Strategist</a:t>
            </a:r>
            <a:endParaRPr lang="en-US"/>
          </a:p>
        </p:txBody>
      </p:sp>
      <p:sp>
        <p:nvSpPr>
          <p:cNvPr id="23" name="Pilot programs"/>
          <p:cNvSpPr txBox="1"/>
          <p:nvPr/>
        </p:nvSpPr>
        <p:spPr>
          <a:xfrm rot="0">
            <a:off x="3385635" y="3829050"/>
            <a:ext cx="979289"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Pilot programs</a:t>
            </a:r>
            <a:endParaRPr lang="en-US"/>
          </a:p>
        </p:txBody>
      </p:sp>
      <p:sp>
        <p:nvSpPr>
          <p:cNvPr id="24" name="Coder"/>
          <p:cNvSpPr txBox="1"/>
          <p:nvPr/>
        </p:nvSpPr>
        <p:spPr>
          <a:xfrm rot="0">
            <a:off x="875315" y="3838082"/>
            <a:ext cx="44315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Coder</a:t>
            </a:r>
            <a:endParaRPr lang="en-US"/>
          </a:p>
        </p:txBody>
      </p:sp>
      <p:sp>
        <p:nvSpPr>
          <p:cNvPr id="25" name="Evaluate pilots"/>
          <p:cNvSpPr txBox="1"/>
          <p:nvPr/>
        </p:nvSpPr>
        <p:spPr>
          <a:xfrm rot="0">
            <a:off x="3923481" y="4118084"/>
            <a:ext cx="987475"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Evaluate pilots</a:t>
            </a:r>
            <a:endParaRPr lang="en-US"/>
          </a:p>
        </p:txBody>
      </p:sp>
      <p:sp>
        <p:nvSpPr>
          <p:cNvPr id="26" name="CPU evaluation"/>
          <p:cNvSpPr txBox="1"/>
          <p:nvPr/>
        </p:nvSpPr>
        <p:spPr>
          <a:xfrm rot="0">
            <a:off x="875315" y="4127116"/>
            <a:ext cx="1051619"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CPU evaluation</a:t>
            </a:r>
            <a:endParaRPr lang="en-US"/>
          </a:p>
        </p:txBody>
      </p:sp>
      <p:sp>
        <p:nvSpPr>
          <p:cNvPr id="27" name="Allocation"/>
          <p:cNvSpPr txBox="1"/>
          <p:nvPr/>
        </p:nvSpPr>
        <p:spPr>
          <a:xfrm rot="0">
            <a:off x="875103" y="4416151"/>
            <a:ext cx="674403"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Allocation</a:t>
            </a:r>
            <a:endParaRPr lang="en-US"/>
          </a:p>
        </p:txBody>
      </p:sp>
      <p:sp>
        <p:nvSpPr>
          <p:cNvPr id="28" name="Trainer"/>
          <p:cNvSpPr txBox="1"/>
          <p:nvPr/>
        </p:nvSpPr>
        <p:spPr>
          <a:xfrm rot="0">
            <a:off x="875315" y="4705186"/>
            <a:ext cx="501921"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Trainer</a:t>
            </a:r>
            <a:endParaRPr lang="en-US"/>
          </a:p>
        </p:txBody>
      </p:sp>
      <p:sp>
        <p:nvSpPr>
          <p:cNvPr id="29" name="Evaluate programs as they arrive. Once generation ends, train on evalu"/>
          <p:cNvSpPr txBox="1"/>
          <p:nvPr/>
        </p:nvSpPr>
        <p:spPr>
          <a:xfrm rot="0">
            <a:off x="590550" y="5143500"/>
            <a:ext cx="10690771"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Evaluate programs as they arrive. Once generation ends, train on evaluated programs while CPU evaluation continues. </a:t>
            </a:r>
            <a:r>
              <a:rPr lang="en-US" sz="1500" b="1" i="0" spc="0">
                <a:solidFill>
                  <a:srgbClr val="202328"/>
                </a:solidFill>
                <a:latin typeface="Arial"/>
              </a:rPr>
              <a:t xml:space="preserve">Keep</a:t>
            </a:r>
            <a:endParaRPr lang="en-US"/>
          </a:p>
        </p:txBody>
      </p:sp>
      <p:sp>
        <p:nvSpPr>
          <p:cNvPr id="30" name="parameters fixed until the step’s final optimizer update."/>
          <p:cNvSpPr txBox="1"/>
          <p:nvPr/>
        </p:nvSpPr>
        <p:spPr>
          <a:xfrm rot="0">
            <a:off x="590550" y="5400675"/>
            <a:ext cx="5122664"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1" i="0" spc="0">
                <a:solidFill>
                  <a:srgbClr val="202328"/>
                </a:solidFill>
                <a:latin typeface="Arial"/>
              </a:rPr>
              <a:t xml:space="preserve">parameters fixed until the step’s final optimizer update.</a:t>
            </a:r>
            <a:endParaRPr lang="en-US"/>
          </a:p>
        </p:txBody>
      </p:sp>
      <p:sp>
        <p:nvSpPr>
          <p:cNvPr id="31"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32"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33" name="Page 10"/>
          <p:cNvSpPr txBox="1"/>
          <p:nvPr/>
        </p:nvSpPr>
        <p:spPr>
          <a:xfrm rot="0">
            <a:off x="5985867" y="6434138"/>
            <a:ext cx="50595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10</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Technical Solution: Dependency-Aware Execution">
    <p:spTree>
      <p:nvGrpSpPr>
        <p:cNvPr id="1" name=""/>
        <p:cNvGrpSpPr/>
        <p:nvPr/>
      </p:nvGrpSpPr>
      <p:grpSpPr>
        <a:xfrm>
          <a:off x="0" y="0"/>
          <a:ext cx="0" cy="0"/>
          <a:chOff x="0" y="0"/>
          <a:chExt cx="0" cy="0"/>
        </a:xfrm>
      </p:grpSpPr>
      <p:pic>
        <p:nvPicPr>
          <p:cNvPr id="2" name="Technical Solution: Dependency-Aware Execution graphic elements" descr="Technical Solution: Dependency-Aware Execution graphic elements"/>
          <p:cNvPicPr>
            <a:picLocks noChangeAspect="1"/>
          </p:cNvPicPr>
          <p:nvPr/>
        </p:nvPicPr>
        <p:blipFill>
          <a:blip r:embed="rId2"/>
          <a:stretch>
            <a:fillRect/>
          </a:stretch>
        </p:blipFill>
        <p:spPr>
          <a:xfrm>
            <a:off x="0" y="0"/>
            <a:ext cx="12192000" cy="6858000"/>
          </a:xfrm>
          <a:prstGeom prst="rect">
            <a:avLst/>
          </a:prstGeom>
        </p:spPr>
      </p:pic>
      <p:sp>
        <p:nvSpPr>
          <p:cNvPr id="3" name="Technical Solution: Dependency-Aware Execution"/>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Technical Solution: Dependency-Aware Execution</a:t>
            </a:r>
            <a:endParaRPr lang="en-US"/>
          </a:p>
        </p:txBody>
      </p:sp>
      <p:sp>
        <p:nvSpPr>
          <p:cNvPr id="4" name="(a) Sequential execution"/>
          <p:cNvSpPr txBox="1"/>
          <p:nvPr/>
        </p:nvSpPr>
        <p:spPr>
          <a:xfrm rot="0">
            <a:off x="875315" y="1334650"/>
            <a:ext cx="2124968"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2" b="1" i="0" spc="0">
                <a:solidFill>
                  <a:srgbClr val="202328"/>
                </a:solidFill>
                <a:latin typeface="Arial"/>
              </a:rPr>
              <a:t xml:space="preserve">(a) Sequential execution</a:t>
            </a:r>
            <a:endParaRPr lang="en-US"/>
          </a:p>
        </p:txBody>
      </p:sp>
      <p:sp>
        <p:nvSpPr>
          <p:cNvPr id="5" name="Each stage waits for the previous stage"/>
          <p:cNvSpPr txBox="1"/>
          <p:nvPr/>
        </p:nvSpPr>
        <p:spPr>
          <a:xfrm rot="0">
            <a:off x="5210832" y="1363225"/>
            <a:ext cx="2569666"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Each stage waits for the previous stage</a:t>
            </a:r>
            <a:endParaRPr lang="en-US"/>
          </a:p>
        </p:txBody>
      </p:sp>
      <p:sp>
        <p:nvSpPr>
          <p:cNvPr id="6" name="Plans"/>
          <p:cNvSpPr txBox="1"/>
          <p:nvPr/>
        </p:nvSpPr>
        <p:spPr>
          <a:xfrm rot="0">
            <a:off x="2654578" y="1661291"/>
            <a:ext cx="409128"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Plans</a:t>
            </a:r>
            <a:endParaRPr lang="en-US"/>
          </a:p>
        </p:txBody>
      </p:sp>
      <p:sp>
        <p:nvSpPr>
          <p:cNvPr id="7" name="Strategist"/>
          <p:cNvSpPr txBox="1"/>
          <p:nvPr/>
        </p:nvSpPr>
        <p:spPr>
          <a:xfrm rot="0">
            <a:off x="875315" y="1670324"/>
            <a:ext cx="658118"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Strategist</a:t>
            </a:r>
            <a:endParaRPr lang="en-US"/>
          </a:p>
        </p:txBody>
      </p:sp>
      <p:sp>
        <p:nvSpPr>
          <p:cNvPr id="8" name="Pilot programs"/>
          <p:cNvSpPr txBox="1"/>
          <p:nvPr/>
        </p:nvSpPr>
        <p:spPr>
          <a:xfrm rot="0">
            <a:off x="3385635" y="1950326"/>
            <a:ext cx="979289"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Pilot programs</a:t>
            </a:r>
            <a:endParaRPr lang="en-US"/>
          </a:p>
        </p:txBody>
      </p:sp>
      <p:sp>
        <p:nvSpPr>
          <p:cNvPr id="9" name="Follow-up programs"/>
          <p:cNvSpPr txBox="1"/>
          <p:nvPr/>
        </p:nvSpPr>
        <p:spPr>
          <a:xfrm rot="0">
            <a:off x="6363018" y="1950326"/>
            <a:ext cx="1324570"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Follow-up programs</a:t>
            </a:r>
            <a:endParaRPr lang="en-US"/>
          </a:p>
        </p:txBody>
      </p:sp>
      <p:sp>
        <p:nvSpPr>
          <p:cNvPr id="10" name="Coder"/>
          <p:cNvSpPr txBox="1"/>
          <p:nvPr/>
        </p:nvSpPr>
        <p:spPr>
          <a:xfrm rot="0">
            <a:off x="875315" y="1959358"/>
            <a:ext cx="44315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Coder</a:t>
            </a:r>
            <a:endParaRPr lang="en-US"/>
          </a:p>
        </p:txBody>
      </p:sp>
      <p:sp>
        <p:nvSpPr>
          <p:cNvPr id="11" name="Evaluate pilots"/>
          <p:cNvSpPr txBox="1"/>
          <p:nvPr/>
        </p:nvSpPr>
        <p:spPr>
          <a:xfrm rot="0">
            <a:off x="4567035" y="2239360"/>
            <a:ext cx="987475"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Evaluate pilots</a:t>
            </a:r>
            <a:endParaRPr lang="en-US"/>
          </a:p>
        </p:txBody>
      </p:sp>
      <p:sp>
        <p:nvSpPr>
          <p:cNvPr id="12" name="Evaluate outputs"/>
          <p:cNvSpPr txBox="1"/>
          <p:nvPr/>
        </p:nvSpPr>
        <p:spPr>
          <a:xfrm rot="0">
            <a:off x="7784232" y="2239360"/>
            <a:ext cx="1124099"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Evaluate outputs</a:t>
            </a:r>
            <a:endParaRPr lang="en-US"/>
          </a:p>
        </p:txBody>
      </p:sp>
      <p:sp>
        <p:nvSpPr>
          <p:cNvPr id="13" name="CPU evaluation"/>
          <p:cNvSpPr txBox="1"/>
          <p:nvPr/>
        </p:nvSpPr>
        <p:spPr>
          <a:xfrm rot="0">
            <a:off x="875315" y="2248393"/>
            <a:ext cx="1051619"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CPU evaluation</a:t>
            </a:r>
            <a:endParaRPr lang="en-US"/>
          </a:p>
        </p:txBody>
      </p:sp>
      <p:sp>
        <p:nvSpPr>
          <p:cNvPr id="14" name="Allocate"/>
          <p:cNvSpPr txBox="1"/>
          <p:nvPr/>
        </p:nvSpPr>
        <p:spPr>
          <a:xfrm rot="0">
            <a:off x="5694170" y="2528395"/>
            <a:ext cx="562038"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Allocate</a:t>
            </a:r>
            <a:endParaRPr lang="en-US"/>
          </a:p>
        </p:txBody>
      </p:sp>
      <p:sp>
        <p:nvSpPr>
          <p:cNvPr id="15" name="Allocation"/>
          <p:cNvSpPr txBox="1"/>
          <p:nvPr/>
        </p:nvSpPr>
        <p:spPr>
          <a:xfrm rot="0">
            <a:off x="875103" y="2537427"/>
            <a:ext cx="674403"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Allocation</a:t>
            </a:r>
            <a:endParaRPr lang="en-US"/>
          </a:p>
        </p:txBody>
      </p:sp>
      <p:sp>
        <p:nvSpPr>
          <p:cNvPr id="16" name="Update"/>
          <p:cNvSpPr txBox="1"/>
          <p:nvPr/>
        </p:nvSpPr>
        <p:spPr>
          <a:xfrm rot="0">
            <a:off x="10324978" y="2817429"/>
            <a:ext cx="513606"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Update</a:t>
            </a:r>
            <a:endParaRPr lang="en-US"/>
          </a:p>
        </p:txBody>
      </p:sp>
      <p:sp>
        <p:nvSpPr>
          <p:cNvPr id="17" name="Scoring / backward"/>
          <p:cNvSpPr txBox="1"/>
          <p:nvPr/>
        </p:nvSpPr>
        <p:spPr>
          <a:xfrm rot="0">
            <a:off x="8995138" y="2817429"/>
            <a:ext cx="1276499"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Scoring / backward</a:t>
            </a:r>
            <a:endParaRPr lang="en-US"/>
          </a:p>
        </p:txBody>
      </p:sp>
      <p:sp>
        <p:nvSpPr>
          <p:cNvPr id="18" name="Trainer"/>
          <p:cNvSpPr txBox="1"/>
          <p:nvPr/>
        </p:nvSpPr>
        <p:spPr>
          <a:xfrm rot="0">
            <a:off x="875315" y="2826462"/>
            <a:ext cx="501921"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Trainer</a:t>
            </a:r>
            <a:endParaRPr lang="en-US"/>
          </a:p>
        </p:txBody>
      </p:sp>
      <p:sp>
        <p:nvSpPr>
          <p:cNvPr id="19" name="(b) Dependency-aware execution"/>
          <p:cNvSpPr txBox="1"/>
          <p:nvPr/>
        </p:nvSpPr>
        <p:spPr>
          <a:xfrm rot="0">
            <a:off x="875315" y="3222406"/>
            <a:ext cx="2867769"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2" b="1" i="0" spc="0">
                <a:solidFill>
                  <a:srgbClr val="202328"/>
                </a:solidFill>
                <a:latin typeface="Arial"/>
              </a:rPr>
              <a:t xml:space="preserve">(b) Dependency-aware execution</a:t>
            </a:r>
            <a:endParaRPr lang="en-US"/>
          </a:p>
        </p:txBody>
      </p:sp>
      <p:sp>
        <p:nvSpPr>
          <p:cNvPr id="20" name="Follow-ups start once a parent’s pilot results are complete"/>
          <p:cNvSpPr txBox="1"/>
          <p:nvPr/>
        </p:nvSpPr>
        <p:spPr>
          <a:xfrm rot="0">
            <a:off x="5210832" y="3250981"/>
            <a:ext cx="3739455"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Follow-ups start once a parent’s pilot results are complete</a:t>
            </a:r>
            <a:endParaRPr lang="en-US"/>
          </a:p>
        </p:txBody>
      </p:sp>
      <p:sp>
        <p:nvSpPr>
          <p:cNvPr id="21" name="Plans"/>
          <p:cNvSpPr txBox="1"/>
          <p:nvPr/>
        </p:nvSpPr>
        <p:spPr>
          <a:xfrm rot="0">
            <a:off x="2654578" y="3540015"/>
            <a:ext cx="409128"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Plans</a:t>
            </a:r>
            <a:endParaRPr lang="en-US"/>
          </a:p>
        </p:txBody>
      </p:sp>
      <p:sp>
        <p:nvSpPr>
          <p:cNvPr id="22" name="Strategist"/>
          <p:cNvSpPr txBox="1"/>
          <p:nvPr/>
        </p:nvSpPr>
        <p:spPr>
          <a:xfrm rot="0">
            <a:off x="875315" y="3549048"/>
            <a:ext cx="658118"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Strategist</a:t>
            </a:r>
            <a:endParaRPr lang="en-US"/>
          </a:p>
        </p:txBody>
      </p:sp>
      <p:sp>
        <p:nvSpPr>
          <p:cNvPr id="23" name="Follow-ups start per ready parent"/>
          <p:cNvSpPr txBox="1"/>
          <p:nvPr/>
        </p:nvSpPr>
        <p:spPr>
          <a:xfrm rot="0">
            <a:off x="7152782" y="3665975"/>
            <a:ext cx="2300734" cy="194238"/>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9" b="0" i="0" spc="0">
                <a:solidFill>
                  <a:srgbClr val="25817C"/>
                </a:solidFill>
                <a:latin typeface="Arial"/>
              </a:rPr>
              <a:t xml:space="preserve">Follow-ups start per ready parent</a:t>
            </a:r>
            <a:endParaRPr lang="en-US"/>
          </a:p>
        </p:txBody>
      </p:sp>
      <p:sp>
        <p:nvSpPr>
          <p:cNvPr id="24" name="Pilot programs"/>
          <p:cNvSpPr txBox="1"/>
          <p:nvPr/>
        </p:nvSpPr>
        <p:spPr>
          <a:xfrm rot="0">
            <a:off x="3385635" y="3829050"/>
            <a:ext cx="979289"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Pilot programs</a:t>
            </a:r>
            <a:endParaRPr lang="en-US"/>
          </a:p>
        </p:txBody>
      </p:sp>
      <p:sp>
        <p:nvSpPr>
          <p:cNvPr id="25" name="Parent a"/>
          <p:cNvSpPr txBox="1"/>
          <p:nvPr/>
        </p:nvSpPr>
        <p:spPr>
          <a:xfrm rot="0">
            <a:off x="5204111" y="3829050"/>
            <a:ext cx="593973"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Parent a</a:t>
            </a:r>
            <a:endParaRPr lang="en-US"/>
          </a:p>
        </p:txBody>
      </p:sp>
      <p:sp>
        <p:nvSpPr>
          <p:cNvPr id="26" name="Parent b"/>
          <p:cNvSpPr txBox="1"/>
          <p:nvPr/>
        </p:nvSpPr>
        <p:spPr>
          <a:xfrm rot="0">
            <a:off x="6017021" y="3829050"/>
            <a:ext cx="593973"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Parent b</a:t>
            </a:r>
            <a:endParaRPr lang="en-US"/>
          </a:p>
        </p:txBody>
      </p:sp>
      <p:sp>
        <p:nvSpPr>
          <p:cNvPr id="27" name="Coder"/>
          <p:cNvSpPr txBox="1"/>
          <p:nvPr/>
        </p:nvSpPr>
        <p:spPr>
          <a:xfrm rot="0">
            <a:off x="875315" y="3838082"/>
            <a:ext cx="44315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Coder</a:t>
            </a:r>
            <a:endParaRPr lang="en-US"/>
          </a:p>
        </p:txBody>
      </p:sp>
      <p:sp>
        <p:nvSpPr>
          <p:cNvPr id="28" name="Evaluate pilots"/>
          <p:cNvSpPr txBox="1"/>
          <p:nvPr/>
        </p:nvSpPr>
        <p:spPr>
          <a:xfrm rot="0">
            <a:off x="3923481" y="4118084"/>
            <a:ext cx="987475"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Evaluate pilots</a:t>
            </a:r>
            <a:endParaRPr lang="en-US"/>
          </a:p>
        </p:txBody>
      </p:sp>
      <p:sp>
        <p:nvSpPr>
          <p:cNvPr id="29" name="Evaluate follow-ups"/>
          <p:cNvSpPr txBox="1"/>
          <p:nvPr/>
        </p:nvSpPr>
        <p:spPr>
          <a:xfrm rot="0">
            <a:off x="6070158" y="4118084"/>
            <a:ext cx="1300609"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Evaluate follow-ups</a:t>
            </a:r>
            <a:endParaRPr lang="en-US"/>
          </a:p>
        </p:txBody>
      </p:sp>
      <p:sp>
        <p:nvSpPr>
          <p:cNvPr id="30" name="CPU evaluation"/>
          <p:cNvSpPr txBox="1"/>
          <p:nvPr/>
        </p:nvSpPr>
        <p:spPr>
          <a:xfrm rot="0">
            <a:off x="875315" y="4127116"/>
            <a:ext cx="1051619"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CPU evaluation</a:t>
            </a:r>
            <a:endParaRPr lang="en-US"/>
          </a:p>
        </p:txBody>
      </p:sp>
      <p:sp>
        <p:nvSpPr>
          <p:cNvPr id="31" name="Allocate per parent"/>
          <p:cNvSpPr txBox="1"/>
          <p:nvPr/>
        </p:nvSpPr>
        <p:spPr>
          <a:xfrm rot="0">
            <a:off x="4498016" y="4407119"/>
            <a:ext cx="1260786"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Allocate per parent</a:t>
            </a:r>
            <a:endParaRPr lang="en-US"/>
          </a:p>
        </p:txBody>
      </p:sp>
      <p:sp>
        <p:nvSpPr>
          <p:cNvPr id="32" name="Allocation"/>
          <p:cNvSpPr txBox="1"/>
          <p:nvPr/>
        </p:nvSpPr>
        <p:spPr>
          <a:xfrm rot="0">
            <a:off x="875103" y="4416151"/>
            <a:ext cx="674403"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Allocation</a:t>
            </a:r>
            <a:endParaRPr lang="en-US"/>
          </a:p>
        </p:txBody>
      </p:sp>
      <p:sp>
        <p:nvSpPr>
          <p:cNvPr id="33" name="Trainer"/>
          <p:cNvSpPr txBox="1"/>
          <p:nvPr/>
        </p:nvSpPr>
        <p:spPr>
          <a:xfrm rot="0">
            <a:off x="875315" y="4705186"/>
            <a:ext cx="501921"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Trainer</a:t>
            </a:r>
            <a:endParaRPr lang="en-US"/>
          </a:p>
        </p:txBody>
      </p:sp>
      <p:sp>
        <p:nvSpPr>
          <p:cNvPr id="34" name="Evaluate programs as they arrive. Once generation ends, train on evalu"/>
          <p:cNvSpPr txBox="1"/>
          <p:nvPr/>
        </p:nvSpPr>
        <p:spPr>
          <a:xfrm rot="0">
            <a:off x="590550" y="5143500"/>
            <a:ext cx="10690771"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Evaluate programs as they arrive. Once generation ends, train on evaluated programs while CPU evaluation continues. </a:t>
            </a:r>
            <a:r>
              <a:rPr lang="en-US" sz="1500" b="1" i="0" spc="0">
                <a:solidFill>
                  <a:srgbClr val="202328"/>
                </a:solidFill>
                <a:latin typeface="Arial"/>
              </a:rPr>
              <a:t xml:space="preserve">Keep</a:t>
            </a:r>
            <a:endParaRPr lang="en-US"/>
          </a:p>
        </p:txBody>
      </p:sp>
      <p:sp>
        <p:nvSpPr>
          <p:cNvPr id="35" name="parameters fixed until the step’s final optimizer update."/>
          <p:cNvSpPr txBox="1"/>
          <p:nvPr/>
        </p:nvSpPr>
        <p:spPr>
          <a:xfrm rot="0">
            <a:off x="590550" y="5400675"/>
            <a:ext cx="5122664"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1" i="0" spc="0">
                <a:solidFill>
                  <a:srgbClr val="202328"/>
                </a:solidFill>
                <a:latin typeface="Arial"/>
              </a:rPr>
              <a:t xml:space="preserve">parameters fixed until the step’s final optimizer update.</a:t>
            </a:r>
            <a:endParaRPr lang="en-US"/>
          </a:p>
        </p:txBody>
      </p:sp>
      <p:sp>
        <p:nvSpPr>
          <p:cNvPr id="36"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37"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38" name="Page 10"/>
          <p:cNvSpPr txBox="1"/>
          <p:nvPr/>
        </p:nvSpPr>
        <p:spPr>
          <a:xfrm rot="0">
            <a:off x="5985867" y="6434138"/>
            <a:ext cx="50595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10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Technical Solution: Dependency-Aware Execution">
    <p:spTree>
      <p:nvGrpSpPr>
        <p:cNvPr id="1" name=""/>
        <p:cNvGrpSpPr/>
        <p:nvPr/>
      </p:nvGrpSpPr>
      <p:grpSpPr>
        <a:xfrm>
          <a:off x="0" y="0"/>
          <a:ext cx="0" cy="0"/>
          <a:chOff x="0" y="0"/>
          <a:chExt cx="0" cy="0"/>
        </a:xfrm>
      </p:grpSpPr>
      <p:pic>
        <p:nvPicPr>
          <p:cNvPr id="2" name="Technical Solution: Dependency-Aware Execution graphic elements" descr="Technical Solution: Dependency-Aware Execution graphic elements"/>
          <p:cNvPicPr>
            <a:picLocks noChangeAspect="1"/>
          </p:cNvPicPr>
          <p:nvPr/>
        </p:nvPicPr>
        <p:blipFill>
          <a:blip r:embed="rId2"/>
          <a:stretch>
            <a:fillRect/>
          </a:stretch>
        </p:blipFill>
        <p:spPr>
          <a:xfrm>
            <a:off x="0" y="0"/>
            <a:ext cx="12192000" cy="6858000"/>
          </a:xfrm>
          <a:prstGeom prst="rect">
            <a:avLst/>
          </a:prstGeom>
        </p:spPr>
      </p:pic>
      <p:sp>
        <p:nvSpPr>
          <p:cNvPr id="3" name="Technical Solution: Dependency-Aware Execution"/>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Technical Solution: Dependency-Aware Execution</a:t>
            </a:r>
            <a:endParaRPr lang="en-US"/>
          </a:p>
        </p:txBody>
      </p:sp>
      <p:sp>
        <p:nvSpPr>
          <p:cNvPr id="4" name="(a) Sequential execution"/>
          <p:cNvSpPr txBox="1"/>
          <p:nvPr/>
        </p:nvSpPr>
        <p:spPr>
          <a:xfrm rot="0">
            <a:off x="875315" y="1334650"/>
            <a:ext cx="2124968"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2" b="1" i="0" spc="0">
                <a:solidFill>
                  <a:srgbClr val="202328"/>
                </a:solidFill>
                <a:latin typeface="Arial"/>
              </a:rPr>
              <a:t xml:space="preserve">(a) Sequential execution</a:t>
            </a:r>
            <a:endParaRPr lang="en-US"/>
          </a:p>
        </p:txBody>
      </p:sp>
      <p:sp>
        <p:nvSpPr>
          <p:cNvPr id="5" name="Each stage waits for the previous stage"/>
          <p:cNvSpPr txBox="1"/>
          <p:nvPr/>
        </p:nvSpPr>
        <p:spPr>
          <a:xfrm rot="0">
            <a:off x="5210832" y="1363225"/>
            <a:ext cx="2569666"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Each stage waits for the previous stage</a:t>
            </a:r>
            <a:endParaRPr lang="en-US"/>
          </a:p>
        </p:txBody>
      </p:sp>
      <p:sp>
        <p:nvSpPr>
          <p:cNvPr id="6" name="Plans"/>
          <p:cNvSpPr txBox="1"/>
          <p:nvPr/>
        </p:nvSpPr>
        <p:spPr>
          <a:xfrm rot="0">
            <a:off x="2654578" y="1661291"/>
            <a:ext cx="409128"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Plans</a:t>
            </a:r>
            <a:endParaRPr lang="en-US"/>
          </a:p>
        </p:txBody>
      </p:sp>
      <p:sp>
        <p:nvSpPr>
          <p:cNvPr id="7" name="Strategist"/>
          <p:cNvSpPr txBox="1"/>
          <p:nvPr/>
        </p:nvSpPr>
        <p:spPr>
          <a:xfrm rot="0">
            <a:off x="875315" y="1670324"/>
            <a:ext cx="658118"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Strategist</a:t>
            </a:r>
            <a:endParaRPr lang="en-US"/>
          </a:p>
        </p:txBody>
      </p:sp>
      <p:sp>
        <p:nvSpPr>
          <p:cNvPr id="8" name="Pilot programs"/>
          <p:cNvSpPr txBox="1"/>
          <p:nvPr/>
        </p:nvSpPr>
        <p:spPr>
          <a:xfrm rot="0">
            <a:off x="3385635" y="1950326"/>
            <a:ext cx="979289"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Pilot programs</a:t>
            </a:r>
            <a:endParaRPr lang="en-US"/>
          </a:p>
        </p:txBody>
      </p:sp>
      <p:sp>
        <p:nvSpPr>
          <p:cNvPr id="9" name="Follow-up programs"/>
          <p:cNvSpPr txBox="1"/>
          <p:nvPr/>
        </p:nvSpPr>
        <p:spPr>
          <a:xfrm rot="0">
            <a:off x="6363018" y="1950326"/>
            <a:ext cx="1324570"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Follow-up programs</a:t>
            </a:r>
            <a:endParaRPr lang="en-US"/>
          </a:p>
        </p:txBody>
      </p:sp>
      <p:sp>
        <p:nvSpPr>
          <p:cNvPr id="10" name="Coder"/>
          <p:cNvSpPr txBox="1"/>
          <p:nvPr/>
        </p:nvSpPr>
        <p:spPr>
          <a:xfrm rot="0">
            <a:off x="875315" y="1959358"/>
            <a:ext cx="44315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Coder</a:t>
            </a:r>
            <a:endParaRPr lang="en-US"/>
          </a:p>
        </p:txBody>
      </p:sp>
      <p:sp>
        <p:nvSpPr>
          <p:cNvPr id="11" name="Evaluate pilots"/>
          <p:cNvSpPr txBox="1"/>
          <p:nvPr/>
        </p:nvSpPr>
        <p:spPr>
          <a:xfrm rot="0">
            <a:off x="4567035" y="2239360"/>
            <a:ext cx="987475"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Evaluate pilots</a:t>
            </a:r>
            <a:endParaRPr lang="en-US"/>
          </a:p>
        </p:txBody>
      </p:sp>
      <p:sp>
        <p:nvSpPr>
          <p:cNvPr id="12" name="Evaluate outputs"/>
          <p:cNvSpPr txBox="1"/>
          <p:nvPr/>
        </p:nvSpPr>
        <p:spPr>
          <a:xfrm rot="0">
            <a:off x="7784232" y="2239360"/>
            <a:ext cx="1124099"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Evaluate outputs</a:t>
            </a:r>
            <a:endParaRPr lang="en-US"/>
          </a:p>
        </p:txBody>
      </p:sp>
      <p:sp>
        <p:nvSpPr>
          <p:cNvPr id="13" name="CPU evaluation"/>
          <p:cNvSpPr txBox="1"/>
          <p:nvPr/>
        </p:nvSpPr>
        <p:spPr>
          <a:xfrm rot="0">
            <a:off x="875315" y="2248393"/>
            <a:ext cx="1051619"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CPU evaluation</a:t>
            </a:r>
            <a:endParaRPr lang="en-US"/>
          </a:p>
        </p:txBody>
      </p:sp>
      <p:sp>
        <p:nvSpPr>
          <p:cNvPr id="14" name="Allocate"/>
          <p:cNvSpPr txBox="1"/>
          <p:nvPr/>
        </p:nvSpPr>
        <p:spPr>
          <a:xfrm rot="0">
            <a:off x="5694170" y="2528395"/>
            <a:ext cx="562038"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Allocate</a:t>
            </a:r>
            <a:endParaRPr lang="en-US"/>
          </a:p>
        </p:txBody>
      </p:sp>
      <p:sp>
        <p:nvSpPr>
          <p:cNvPr id="15" name="Allocation"/>
          <p:cNvSpPr txBox="1"/>
          <p:nvPr/>
        </p:nvSpPr>
        <p:spPr>
          <a:xfrm rot="0">
            <a:off x="875103" y="2537427"/>
            <a:ext cx="674403"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Allocation</a:t>
            </a:r>
            <a:endParaRPr lang="en-US"/>
          </a:p>
        </p:txBody>
      </p:sp>
      <p:sp>
        <p:nvSpPr>
          <p:cNvPr id="16" name="Update"/>
          <p:cNvSpPr txBox="1"/>
          <p:nvPr/>
        </p:nvSpPr>
        <p:spPr>
          <a:xfrm rot="0">
            <a:off x="10324978" y="2817429"/>
            <a:ext cx="513606"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Update</a:t>
            </a:r>
            <a:endParaRPr lang="en-US"/>
          </a:p>
        </p:txBody>
      </p:sp>
      <p:sp>
        <p:nvSpPr>
          <p:cNvPr id="17" name="Scoring / backward"/>
          <p:cNvSpPr txBox="1"/>
          <p:nvPr/>
        </p:nvSpPr>
        <p:spPr>
          <a:xfrm rot="0">
            <a:off x="8995138" y="2817429"/>
            <a:ext cx="1276499"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Scoring / backward</a:t>
            </a:r>
            <a:endParaRPr lang="en-US"/>
          </a:p>
        </p:txBody>
      </p:sp>
      <p:sp>
        <p:nvSpPr>
          <p:cNvPr id="18" name="Trainer"/>
          <p:cNvSpPr txBox="1"/>
          <p:nvPr/>
        </p:nvSpPr>
        <p:spPr>
          <a:xfrm rot="0">
            <a:off x="875315" y="2826462"/>
            <a:ext cx="501921"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Trainer</a:t>
            </a:r>
            <a:endParaRPr lang="en-US"/>
          </a:p>
        </p:txBody>
      </p:sp>
      <p:sp>
        <p:nvSpPr>
          <p:cNvPr id="19" name="(b) Dependency-aware execution"/>
          <p:cNvSpPr txBox="1"/>
          <p:nvPr/>
        </p:nvSpPr>
        <p:spPr>
          <a:xfrm rot="0">
            <a:off x="875315" y="3222406"/>
            <a:ext cx="2867769"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2" b="1" i="0" spc="0">
                <a:solidFill>
                  <a:srgbClr val="202328"/>
                </a:solidFill>
                <a:latin typeface="Arial"/>
              </a:rPr>
              <a:t xml:space="preserve">(b) Dependency-aware execution</a:t>
            </a:r>
            <a:endParaRPr lang="en-US"/>
          </a:p>
        </p:txBody>
      </p:sp>
      <p:sp>
        <p:nvSpPr>
          <p:cNvPr id="20" name="Follow-ups start once a parent’s pilot results are complete"/>
          <p:cNvSpPr txBox="1"/>
          <p:nvPr/>
        </p:nvSpPr>
        <p:spPr>
          <a:xfrm rot="0">
            <a:off x="5210832" y="3250981"/>
            <a:ext cx="3739455"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Follow-ups start once a parent’s pilot results are complete</a:t>
            </a:r>
            <a:endParaRPr lang="en-US"/>
          </a:p>
        </p:txBody>
      </p:sp>
      <p:sp>
        <p:nvSpPr>
          <p:cNvPr id="21" name="Plans"/>
          <p:cNvSpPr txBox="1"/>
          <p:nvPr/>
        </p:nvSpPr>
        <p:spPr>
          <a:xfrm rot="0">
            <a:off x="2654578" y="3540015"/>
            <a:ext cx="409128"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Plans</a:t>
            </a:r>
            <a:endParaRPr lang="en-US"/>
          </a:p>
        </p:txBody>
      </p:sp>
      <p:sp>
        <p:nvSpPr>
          <p:cNvPr id="22" name="Strategist"/>
          <p:cNvSpPr txBox="1"/>
          <p:nvPr/>
        </p:nvSpPr>
        <p:spPr>
          <a:xfrm rot="0">
            <a:off x="875315" y="3549048"/>
            <a:ext cx="658118"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Strategist</a:t>
            </a:r>
            <a:endParaRPr lang="en-US"/>
          </a:p>
        </p:txBody>
      </p:sp>
      <p:sp>
        <p:nvSpPr>
          <p:cNvPr id="23" name="Follow-ups start per ready parent"/>
          <p:cNvSpPr txBox="1"/>
          <p:nvPr/>
        </p:nvSpPr>
        <p:spPr>
          <a:xfrm rot="0">
            <a:off x="7152782" y="3665975"/>
            <a:ext cx="2300734" cy="194238"/>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9" b="0" i="0" spc="0">
                <a:solidFill>
                  <a:srgbClr val="25817C"/>
                </a:solidFill>
                <a:latin typeface="Arial"/>
              </a:rPr>
              <a:t xml:space="preserve">Follow-ups start per ready parent</a:t>
            </a:r>
            <a:endParaRPr lang="en-US"/>
          </a:p>
        </p:txBody>
      </p:sp>
      <p:sp>
        <p:nvSpPr>
          <p:cNvPr id="24" name="Pilot programs"/>
          <p:cNvSpPr txBox="1"/>
          <p:nvPr/>
        </p:nvSpPr>
        <p:spPr>
          <a:xfrm rot="0">
            <a:off x="3385635" y="3829050"/>
            <a:ext cx="979289"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Pilot programs</a:t>
            </a:r>
            <a:endParaRPr lang="en-US"/>
          </a:p>
        </p:txBody>
      </p:sp>
      <p:sp>
        <p:nvSpPr>
          <p:cNvPr id="25" name="Parent a"/>
          <p:cNvSpPr txBox="1"/>
          <p:nvPr/>
        </p:nvSpPr>
        <p:spPr>
          <a:xfrm rot="0">
            <a:off x="5204111" y="3829050"/>
            <a:ext cx="593973"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Parent a</a:t>
            </a:r>
            <a:endParaRPr lang="en-US"/>
          </a:p>
        </p:txBody>
      </p:sp>
      <p:sp>
        <p:nvSpPr>
          <p:cNvPr id="26" name="Parent b"/>
          <p:cNvSpPr txBox="1"/>
          <p:nvPr/>
        </p:nvSpPr>
        <p:spPr>
          <a:xfrm rot="0">
            <a:off x="6017021" y="3829050"/>
            <a:ext cx="593973"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Parent b</a:t>
            </a:r>
            <a:endParaRPr lang="en-US"/>
          </a:p>
        </p:txBody>
      </p:sp>
      <p:sp>
        <p:nvSpPr>
          <p:cNvPr id="27" name="Coder"/>
          <p:cNvSpPr txBox="1"/>
          <p:nvPr/>
        </p:nvSpPr>
        <p:spPr>
          <a:xfrm rot="0">
            <a:off x="875315" y="3838082"/>
            <a:ext cx="44315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Coder</a:t>
            </a:r>
            <a:endParaRPr lang="en-US"/>
          </a:p>
        </p:txBody>
      </p:sp>
      <p:sp>
        <p:nvSpPr>
          <p:cNvPr id="28" name="Evaluate pilots"/>
          <p:cNvSpPr txBox="1"/>
          <p:nvPr/>
        </p:nvSpPr>
        <p:spPr>
          <a:xfrm rot="0">
            <a:off x="3923481" y="4118084"/>
            <a:ext cx="987475"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Evaluate pilots</a:t>
            </a:r>
            <a:endParaRPr lang="en-US"/>
          </a:p>
        </p:txBody>
      </p:sp>
      <p:sp>
        <p:nvSpPr>
          <p:cNvPr id="29" name="Evaluate follow-ups"/>
          <p:cNvSpPr txBox="1"/>
          <p:nvPr/>
        </p:nvSpPr>
        <p:spPr>
          <a:xfrm rot="0">
            <a:off x="6070158" y="4118084"/>
            <a:ext cx="1300609"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Evaluate follow-ups</a:t>
            </a:r>
            <a:endParaRPr lang="en-US"/>
          </a:p>
        </p:txBody>
      </p:sp>
      <p:sp>
        <p:nvSpPr>
          <p:cNvPr id="30" name="CPU evaluation"/>
          <p:cNvSpPr txBox="1"/>
          <p:nvPr/>
        </p:nvSpPr>
        <p:spPr>
          <a:xfrm rot="0">
            <a:off x="875315" y="4127116"/>
            <a:ext cx="1051619"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CPU evaluation</a:t>
            </a:r>
            <a:endParaRPr lang="en-US"/>
          </a:p>
        </p:txBody>
      </p:sp>
      <p:sp>
        <p:nvSpPr>
          <p:cNvPr id="31" name="Training overlaps remaining evaluations"/>
          <p:cNvSpPr txBox="1"/>
          <p:nvPr/>
        </p:nvSpPr>
        <p:spPr>
          <a:xfrm rot="0">
            <a:off x="7423752" y="4361464"/>
            <a:ext cx="2755999" cy="194238"/>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9" b="0" i="0" spc="0">
                <a:solidFill>
                  <a:srgbClr val="BD343A"/>
                </a:solidFill>
                <a:latin typeface="Arial"/>
              </a:rPr>
              <a:t xml:space="preserve">Training overlaps remaining evaluations</a:t>
            </a:r>
            <a:endParaRPr lang="en-US"/>
          </a:p>
        </p:txBody>
      </p:sp>
      <p:sp>
        <p:nvSpPr>
          <p:cNvPr id="32" name="Allocate per parent"/>
          <p:cNvSpPr txBox="1"/>
          <p:nvPr/>
        </p:nvSpPr>
        <p:spPr>
          <a:xfrm rot="0">
            <a:off x="4498016" y="4407119"/>
            <a:ext cx="1260786"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Allocate per parent</a:t>
            </a:r>
            <a:endParaRPr lang="en-US"/>
          </a:p>
        </p:txBody>
      </p:sp>
      <p:sp>
        <p:nvSpPr>
          <p:cNvPr id="33" name="Allocation"/>
          <p:cNvSpPr txBox="1"/>
          <p:nvPr/>
        </p:nvSpPr>
        <p:spPr>
          <a:xfrm rot="0">
            <a:off x="875103" y="4416151"/>
            <a:ext cx="674403"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Allocation</a:t>
            </a:r>
            <a:endParaRPr lang="en-US"/>
          </a:p>
        </p:txBody>
      </p:sp>
      <p:sp>
        <p:nvSpPr>
          <p:cNvPr id="34" name="Step complete"/>
          <p:cNvSpPr txBox="1"/>
          <p:nvPr/>
        </p:nvSpPr>
        <p:spPr>
          <a:xfrm rot="0">
            <a:off x="9067635" y="4695661"/>
            <a:ext cx="1158329"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80" b="1" i="0" spc="0">
                <a:solidFill>
                  <a:srgbClr val="202328"/>
                </a:solidFill>
                <a:latin typeface="Arial"/>
              </a:rPr>
              <a:t xml:space="preserve">Step complete</a:t>
            </a:r>
            <a:endParaRPr lang="en-US"/>
          </a:p>
        </p:txBody>
      </p:sp>
      <p:sp>
        <p:nvSpPr>
          <p:cNvPr id="35" name="Scoring / backward"/>
          <p:cNvSpPr txBox="1"/>
          <p:nvPr/>
        </p:nvSpPr>
        <p:spPr>
          <a:xfrm rot="0">
            <a:off x="6861251" y="4696153"/>
            <a:ext cx="1276499" cy="18280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Scoring / backward</a:t>
            </a:r>
            <a:endParaRPr lang="en-US"/>
          </a:p>
        </p:txBody>
      </p:sp>
      <p:sp>
        <p:nvSpPr>
          <p:cNvPr id="36" name="Update"/>
          <p:cNvSpPr txBox="1"/>
          <p:nvPr/>
        </p:nvSpPr>
        <p:spPr>
          <a:xfrm rot="0">
            <a:off x="8326576" y="4696153"/>
            <a:ext cx="513606" cy="18111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25323B"/>
                </a:solidFill>
                <a:latin typeface="Arial"/>
              </a:rPr>
              <a:t xml:space="preserve">Update</a:t>
            </a:r>
            <a:endParaRPr lang="en-US"/>
          </a:p>
        </p:txBody>
      </p:sp>
      <p:sp>
        <p:nvSpPr>
          <p:cNvPr id="37" name="Trainer"/>
          <p:cNvSpPr txBox="1"/>
          <p:nvPr/>
        </p:nvSpPr>
        <p:spPr>
          <a:xfrm rot="0">
            <a:off x="875315" y="4705186"/>
            <a:ext cx="501921"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38" b="0" i="0" spc="0">
                <a:solidFill>
                  <a:srgbClr val="606873"/>
                </a:solidFill>
                <a:latin typeface="Arial"/>
              </a:rPr>
              <a:t xml:space="preserve">Trainer</a:t>
            </a:r>
            <a:endParaRPr lang="en-US"/>
          </a:p>
        </p:txBody>
      </p:sp>
      <p:sp>
        <p:nvSpPr>
          <p:cNvPr id="38" name="Evaluate programs as they arrive. Once generation ends, train on evalu"/>
          <p:cNvSpPr txBox="1"/>
          <p:nvPr/>
        </p:nvSpPr>
        <p:spPr>
          <a:xfrm rot="0">
            <a:off x="590550" y="5143500"/>
            <a:ext cx="10690771"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Evaluate programs as they arrive. Once generation ends, train on evaluated programs while CPU evaluation continues. </a:t>
            </a:r>
            <a:r>
              <a:rPr lang="en-US" sz="1500" b="1" i="0" spc="0">
                <a:solidFill>
                  <a:srgbClr val="202328"/>
                </a:solidFill>
                <a:latin typeface="Arial"/>
              </a:rPr>
              <a:t xml:space="preserve">Keep</a:t>
            </a:r>
            <a:endParaRPr lang="en-US"/>
          </a:p>
        </p:txBody>
      </p:sp>
      <p:sp>
        <p:nvSpPr>
          <p:cNvPr id="39" name="parameters fixed until the step’s final optimizer update."/>
          <p:cNvSpPr txBox="1"/>
          <p:nvPr/>
        </p:nvSpPr>
        <p:spPr>
          <a:xfrm rot="0">
            <a:off x="590550" y="5400675"/>
            <a:ext cx="5122664"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1" i="0" spc="0">
                <a:solidFill>
                  <a:srgbClr val="202328"/>
                </a:solidFill>
                <a:latin typeface="Arial"/>
              </a:rPr>
              <a:t xml:space="preserve">parameters fixed until the step’s final optimizer update.</a:t>
            </a:r>
            <a:endParaRPr lang="en-US"/>
          </a:p>
        </p:txBody>
      </p:sp>
      <p:sp>
        <p:nvSpPr>
          <p:cNvPr id="40"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41"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42" name="Page 10"/>
          <p:cNvSpPr txBox="1"/>
          <p:nvPr/>
        </p:nvSpPr>
        <p:spPr>
          <a:xfrm rot="0">
            <a:off x="5985867" y="6434138"/>
            <a:ext cx="50595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10</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Distinguishing Features of the Idea">
    <p:spTree>
      <p:nvGrpSpPr>
        <p:cNvPr id="1" name=""/>
        <p:cNvGrpSpPr/>
        <p:nvPr/>
      </p:nvGrpSpPr>
      <p:grpSpPr>
        <a:xfrm>
          <a:off x="0" y="0"/>
          <a:ext cx="0" cy="0"/>
          <a:chOff x="0" y="0"/>
          <a:chExt cx="0" cy="0"/>
        </a:xfrm>
      </p:grpSpPr>
      <p:pic>
        <p:nvPicPr>
          <p:cNvPr id="2" name="Distinguishing Features of the Idea graphic elements" descr="Distinguishing Features of the Idea graphic elements"/>
          <p:cNvPicPr>
            <a:picLocks noChangeAspect="1"/>
          </p:cNvPicPr>
          <p:nvPr/>
        </p:nvPicPr>
        <p:blipFill>
          <a:blip r:embed="rId2"/>
          <a:stretch>
            <a:fillRect/>
          </a:stretch>
        </p:blipFill>
        <p:spPr>
          <a:xfrm>
            <a:off x="0" y="0"/>
            <a:ext cx="12192000" cy="6858000"/>
          </a:xfrm>
          <a:prstGeom prst="rect">
            <a:avLst/>
          </a:prstGeom>
        </p:spPr>
      </p:pic>
      <p:sp>
        <p:nvSpPr>
          <p:cNvPr id="3" name="Distinguishing Features of the Idea"/>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Distinguishing Features of the Idea</a:t>
            </a:r>
            <a:endParaRPr lang="en-US"/>
          </a:p>
        </p:txBody>
      </p:sp>
      <p:sp>
        <p:nvSpPr>
          <p:cNvPr id="4" name="•"/>
          <p:cNvSpPr txBox="1"/>
          <p:nvPr/>
        </p:nvSpPr>
        <p:spPr>
          <a:xfrm rot="0">
            <a:off x="645795" y="1362075"/>
            <a:ext cx="398145"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a:t>
            </a:r>
            <a:endParaRPr lang="en-US"/>
          </a:p>
        </p:txBody>
      </p:sp>
      <p:sp>
        <p:nvSpPr>
          <p:cNvPr id="5" name="Separate planning from learning: the strategist proposes plans with fi"/>
          <p:cNvSpPr txBox="1"/>
          <p:nvPr/>
        </p:nvSpPr>
        <p:spPr>
          <a:xfrm rot="0">
            <a:off x="876300" y="1362075"/>
            <a:ext cx="10675084"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1" i="0" spc="0">
                <a:solidFill>
                  <a:srgbClr val="202328"/>
                </a:solidFill>
                <a:latin typeface="Arial"/>
              </a:rPr>
              <a:t xml:space="preserve">Separate planning from learning:</a:t>
            </a:r>
            <a:r>
              <a:rPr lang="en-US" sz="1650" b="0" i="0" spc="0">
                <a:solidFill>
                  <a:srgbClr val="202328"/>
                </a:solidFill>
                <a:latin typeface="Arial"/>
              </a:rPr>
              <a:t xml:space="preserve"> the strategist proposes plans with fixed weights. Only the shared coder learns</a:t>
            </a:r>
            <a:endParaRPr lang="en-US"/>
          </a:p>
        </p:txBody>
      </p:sp>
      <p:sp>
        <p:nvSpPr>
          <p:cNvPr id="6" name="from evaluated programs."/>
          <p:cNvSpPr txBox="1"/>
          <p:nvPr/>
        </p:nvSpPr>
        <p:spPr>
          <a:xfrm rot="0">
            <a:off x="876300" y="1651248"/>
            <a:ext cx="2534335"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from evaluated programs.</a:t>
            </a:r>
            <a:endParaRPr lang="en-US"/>
          </a:p>
        </p:txBody>
      </p:sp>
      <p:sp>
        <p:nvSpPr>
          <p:cNvPr id="7" name="•"/>
          <p:cNvSpPr txBox="1"/>
          <p:nvPr/>
        </p:nvSpPr>
        <p:spPr>
          <a:xfrm rot="0">
            <a:off x="645795" y="2140446"/>
            <a:ext cx="398145"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a:t>
            </a:r>
            <a:endParaRPr lang="en-US"/>
          </a:p>
        </p:txBody>
      </p:sp>
      <p:sp>
        <p:nvSpPr>
          <p:cNvPr id="8" name="Compare each plan with its parent: estimate both improvement probabili"/>
          <p:cNvSpPr txBox="1"/>
          <p:nvPr/>
        </p:nvSpPr>
        <p:spPr>
          <a:xfrm rot="0">
            <a:off x="876300" y="2140446"/>
            <a:ext cx="10372368"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1" i="0" spc="0">
                <a:solidFill>
                  <a:srgbClr val="202328"/>
                </a:solidFill>
                <a:latin typeface="Arial"/>
              </a:rPr>
              <a:t xml:space="preserve">Compare each plan with its parent:</a:t>
            </a:r>
            <a:r>
              <a:rPr lang="en-US" sz="1650" b="0" i="0" spc="0">
                <a:solidFill>
                  <a:srgbClr val="202328"/>
                </a:solidFill>
                <a:latin typeface="Arial"/>
              </a:rPr>
              <a:t xml:space="preserve"> estimate both improvement probability and gain size, so rare large gains</a:t>
            </a:r>
            <a:endParaRPr lang="en-US"/>
          </a:p>
        </p:txBody>
      </p:sp>
      <p:sp>
        <p:nvSpPr>
          <p:cNvPr id="9" name="enter the allocation decision."/>
          <p:cNvSpPr txBox="1"/>
          <p:nvPr/>
        </p:nvSpPr>
        <p:spPr>
          <a:xfrm rot="0">
            <a:off x="876300" y="2429619"/>
            <a:ext cx="2802821"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enter the allocation decision.</a:t>
            </a:r>
            <a:endParaRPr lang="en-US"/>
          </a:p>
        </p:txBody>
      </p:sp>
      <p:sp>
        <p:nvSpPr>
          <p:cNvPr id="10" name="•"/>
          <p:cNvSpPr txBox="1"/>
          <p:nvPr/>
        </p:nvSpPr>
        <p:spPr>
          <a:xfrm rot="0">
            <a:off x="645795" y="2918817"/>
            <a:ext cx="398145"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a:t>
            </a:r>
            <a:endParaRPr lang="en-US"/>
          </a:p>
        </p:txBody>
      </p:sp>
      <p:sp>
        <p:nvSpPr>
          <p:cNvPr id="11" name="Allocate after observing the pilots: use their results to choose follo"/>
          <p:cNvSpPr txBox="1"/>
          <p:nvPr/>
        </p:nvSpPr>
        <p:spPr>
          <a:xfrm rot="0">
            <a:off x="876300" y="2918817"/>
            <a:ext cx="10640407"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1" i="0" spc="0">
                <a:solidFill>
                  <a:srgbClr val="202328"/>
                </a:solidFill>
                <a:latin typeface="Arial"/>
              </a:rPr>
              <a:t xml:space="preserve">Allocate after observing the pilots:</a:t>
            </a:r>
            <a:r>
              <a:rPr lang="en-US" sz="1650" b="0" i="0" spc="0">
                <a:solidFill>
                  <a:srgbClr val="202328"/>
                </a:solidFill>
                <a:latin typeface="Arial"/>
              </a:rPr>
              <a:t xml:space="preserve"> use their results to choose follow-up counts while keeping the total program</a:t>
            </a:r>
            <a:endParaRPr lang="en-US"/>
          </a:p>
        </p:txBody>
      </p:sp>
      <p:sp>
        <p:nvSpPr>
          <p:cNvPr id="12" name="budget fixed."/>
          <p:cNvSpPr txBox="1"/>
          <p:nvPr/>
        </p:nvSpPr>
        <p:spPr>
          <a:xfrm rot="0">
            <a:off x="876300" y="3207990"/>
            <a:ext cx="1346686"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budget fixed.</a:t>
            </a:r>
            <a:endParaRPr lang="en-US"/>
          </a:p>
        </p:txBody>
      </p:sp>
      <p:sp>
        <p:nvSpPr>
          <p:cNvPr id="13" name="•"/>
          <p:cNvSpPr txBox="1"/>
          <p:nvPr/>
        </p:nvSpPr>
        <p:spPr>
          <a:xfrm rot="0">
            <a:off x="645795" y="3697188"/>
            <a:ext cx="398145"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a:t>
            </a:r>
            <a:endParaRPr lang="en-US"/>
          </a:p>
        </p:txBody>
      </p:sp>
      <p:sp>
        <p:nvSpPr>
          <p:cNvPr id="14" name="Use one historical baseline across groups: compare outputs with earlie"/>
          <p:cNvSpPr txBox="1"/>
          <p:nvPr/>
        </p:nvSpPr>
        <p:spPr>
          <a:xfrm rot="0">
            <a:off x="876300" y="3697188"/>
            <a:ext cx="10780157"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1" i="0" spc="0">
                <a:solidFill>
                  <a:srgbClr val="202328"/>
                </a:solidFill>
                <a:latin typeface="Arial"/>
              </a:rPr>
              <a:t xml:space="preserve">Use one historical baseline across groups:</a:t>
            </a:r>
            <a:r>
              <a:rPr lang="en-US" sz="1650" b="0" i="0" spc="0">
                <a:solidFill>
                  <a:srgbClr val="202328"/>
                </a:solidFill>
                <a:latin typeface="Arial"/>
              </a:rPr>
              <a:t xml:space="preserve"> compare outputs with earlier rewards. Larger policy changes reduce</a:t>
            </a:r>
            <a:endParaRPr lang="en-US"/>
          </a:p>
        </p:txBody>
      </p:sp>
      <p:sp>
        <p:nvSpPr>
          <p:cNvPr id="15" name="the weight of older rewards."/>
          <p:cNvSpPr txBox="1"/>
          <p:nvPr/>
        </p:nvSpPr>
        <p:spPr>
          <a:xfrm rot="0">
            <a:off x="876300" y="3986361"/>
            <a:ext cx="2720965"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the weight of older rewards.</a:t>
            </a:r>
            <a:endParaRPr lang="en-US"/>
          </a:p>
        </p:txBody>
      </p:sp>
      <p:sp>
        <p:nvSpPr>
          <p:cNvPr id="16" name="•"/>
          <p:cNvSpPr txBox="1"/>
          <p:nvPr/>
        </p:nvSpPr>
        <p:spPr>
          <a:xfrm rot="0">
            <a:off x="645795" y="4475559"/>
            <a:ext cx="398145"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a:t>
            </a:r>
            <a:endParaRPr lang="en-US"/>
          </a:p>
        </p:txBody>
      </p:sp>
      <p:sp>
        <p:nvSpPr>
          <p:cNvPr id="17" name="Account for related archive states: update ancestor expansion counts a"/>
          <p:cNvSpPr txBox="1"/>
          <p:nvPr/>
        </p:nvSpPr>
        <p:spPr>
          <a:xfrm rot="0">
            <a:off x="876300" y="4475559"/>
            <a:ext cx="10792956"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1" i="0" spc="0">
                <a:solidFill>
                  <a:srgbClr val="202328"/>
                </a:solidFill>
                <a:latin typeface="Arial"/>
              </a:rPr>
              <a:t xml:space="preserve">Account for related archive states:</a:t>
            </a:r>
            <a:r>
              <a:rPr lang="en-US" sz="1650" b="0" i="0" spc="0">
                <a:solidFill>
                  <a:srgbClr val="202328"/>
                </a:solidFill>
                <a:latin typeface="Arial"/>
              </a:rPr>
              <a:t xml:space="preserve"> update ancestor expansion counts and avoid selecting a solution with its own</a:t>
            </a:r>
            <a:endParaRPr lang="en-US"/>
          </a:p>
        </p:txBody>
      </p:sp>
      <p:sp>
        <p:nvSpPr>
          <p:cNvPr id="18" name="descendant in the same batch."/>
          <p:cNvSpPr txBox="1"/>
          <p:nvPr/>
        </p:nvSpPr>
        <p:spPr>
          <a:xfrm rot="0">
            <a:off x="876300" y="4764732"/>
            <a:ext cx="3000911"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descendant in the same batch.</a:t>
            </a:r>
            <a:endParaRPr lang="en-US"/>
          </a:p>
        </p:txBody>
      </p:sp>
      <p:sp>
        <p:nvSpPr>
          <p:cNvPr id="19" name="•"/>
          <p:cNvSpPr txBox="1"/>
          <p:nvPr/>
        </p:nvSpPr>
        <p:spPr>
          <a:xfrm rot="0">
            <a:off x="645795" y="5253930"/>
            <a:ext cx="398145"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a:t>
            </a:r>
            <a:endParaRPr lang="en-US"/>
          </a:p>
        </p:txBody>
      </p:sp>
      <p:sp>
        <p:nvSpPr>
          <p:cNvPr id="20" name="Overlap work without changing the policy: train on evaluated outputs w"/>
          <p:cNvSpPr txBox="1"/>
          <p:nvPr/>
        </p:nvSpPr>
        <p:spPr>
          <a:xfrm rot="0">
            <a:off x="876300" y="5253930"/>
            <a:ext cx="10407640"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1" i="0" spc="0">
                <a:solidFill>
                  <a:srgbClr val="202328"/>
                </a:solidFill>
                <a:latin typeface="Arial"/>
              </a:rPr>
              <a:t xml:space="preserve">Overlap work without changing the policy:</a:t>
            </a:r>
            <a:r>
              <a:rPr lang="en-US" sz="1650" b="0" i="0" spc="0">
                <a:solidFill>
                  <a:srgbClr val="202328"/>
                </a:solidFill>
                <a:latin typeface="Arial"/>
              </a:rPr>
              <a:t xml:space="preserve"> train on evaluated outputs while other evaluations continue, then</a:t>
            </a:r>
            <a:endParaRPr lang="en-US"/>
          </a:p>
        </p:txBody>
      </p:sp>
      <p:sp>
        <p:nvSpPr>
          <p:cNvPr id="21" name="apply one final update."/>
          <p:cNvSpPr txBox="1"/>
          <p:nvPr/>
        </p:nvSpPr>
        <p:spPr>
          <a:xfrm rot="0">
            <a:off x="876300" y="5543104"/>
            <a:ext cx="2255580"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0" i="0" spc="0">
                <a:solidFill>
                  <a:srgbClr val="202328"/>
                </a:solidFill>
                <a:latin typeface="Arial"/>
              </a:rPr>
              <a:t xml:space="preserve">apply one final update.</a:t>
            </a:r>
            <a:endParaRPr lang="en-US"/>
          </a:p>
        </p:txBody>
      </p:sp>
      <p:sp>
        <p:nvSpPr>
          <p:cNvPr id="22"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23"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24" name="Page 11"/>
          <p:cNvSpPr txBox="1"/>
          <p:nvPr/>
        </p:nvSpPr>
        <p:spPr>
          <a:xfrm rot="0">
            <a:off x="5985867" y="6434138"/>
            <a:ext cx="497473"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11</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Advantageous Effects: Construction-Level Exploration">
    <p:spTree>
      <p:nvGrpSpPr>
        <p:cNvPr id="1" name=""/>
        <p:cNvGrpSpPr/>
        <p:nvPr/>
      </p:nvGrpSpPr>
      <p:grpSpPr>
        <a:xfrm>
          <a:off x="0" y="0"/>
          <a:ext cx="0" cy="0"/>
          <a:chOff x="0" y="0"/>
          <a:chExt cx="0" cy="0"/>
        </a:xfrm>
      </p:grpSpPr>
      <p:pic>
        <p:nvPicPr>
          <p:cNvPr id="2" name="Advantageous Effects: Construction-Level Exploration graphic elements" descr="Advantageous Effects: Construction-Level Exploration graphic elements"/>
          <p:cNvPicPr>
            <a:picLocks noChangeAspect="1"/>
          </p:cNvPicPr>
          <p:nvPr/>
        </p:nvPicPr>
        <p:blipFill>
          <a:blip r:embed="rId2"/>
          <a:stretch>
            <a:fillRect/>
          </a:stretch>
        </p:blipFill>
        <p:spPr>
          <a:xfrm>
            <a:off x="0" y="0"/>
            <a:ext cx="12192000" cy="6858000"/>
          </a:xfrm>
          <a:prstGeom prst="rect">
            <a:avLst/>
          </a:prstGeom>
        </p:spPr>
      </p:pic>
      <p:sp>
        <p:nvSpPr>
          <p:cNvPr id="3" name="Advantageous Effects: Construction-Level Exploration"/>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Advantageous Effects: Construction-Level Exploration</a:t>
            </a:r>
            <a:endParaRPr lang="en-US"/>
          </a:p>
        </p:txBody>
      </p:sp>
      <p:sp>
        <p:nvSpPr>
          <p:cNvPr id="4" name="Erdős task: train a Qwen3-8B coder on task + parent context, with or w"/>
          <p:cNvSpPr txBox="1"/>
          <p:nvPr/>
        </p:nvSpPr>
        <p:spPr>
          <a:xfrm rot="0">
            <a:off x="590550" y="1362075"/>
            <a:ext cx="9763095"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Erdős task: train a Qwen3-8B coder on task + parent context, with or without an added frozen-strategist plan.</a:t>
            </a:r>
            <a:endParaRPr lang="en-US"/>
          </a:p>
        </p:txBody>
      </p:sp>
      <p:sp>
        <p:nvSpPr>
          <p:cNvPr id="5" name="With strategist"/>
          <p:cNvSpPr txBox="1"/>
          <p:nvPr/>
        </p:nvSpPr>
        <p:spPr>
          <a:xfrm rot="0">
            <a:off x="914400" y="1727299"/>
            <a:ext cx="1206163"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0" i="0" spc="0">
                <a:solidFill>
                  <a:srgbClr val="202328"/>
                </a:solidFill>
                <a:latin typeface="Arial"/>
              </a:rPr>
              <a:t xml:space="preserve">With strategist</a:t>
            </a:r>
            <a:endParaRPr lang="en-US"/>
          </a:p>
        </p:txBody>
      </p:sp>
      <p:sp>
        <p:nvSpPr>
          <p:cNvPr id="6" name="Without strategist"/>
          <p:cNvSpPr txBox="1"/>
          <p:nvPr/>
        </p:nvSpPr>
        <p:spPr>
          <a:xfrm rot="0">
            <a:off x="2562523" y="1727299"/>
            <a:ext cx="1444585"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0" i="0" spc="0">
                <a:solidFill>
                  <a:srgbClr val="202328"/>
                </a:solidFill>
                <a:latin typeface="Arial"/>
              </a:rPr>
              <a:t xml:space="preserve">Without strategist</a:t>
            </a:r>
            <a:endParaRPr lang="en-US"/>
          </a:p>
        </p:txBody>
      </p:sp>
      <p:sp>
        <p:nvSpPr>
          <p:cNvPr id="7" name="192 coder attempts per step in both runs"/>
          <p:cNvSpPr txBox="1"/>
          <p:nvPr/>
        </p:nvSpPr>
        <p:spPr>
          <a:xfrm rot="0">
            <a:off x="8693944" y="1732062"/>
            <a:ext cx="3020854"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192 coder attempts per step in both runs</a:t>
            </a:r>
            <a:endParaRPr lang="en-US"/>
          </a:p>
        </p:txBody>
      </p:sp>
      <p:sp>
        <p:nvSpPr>
          <p:cNvPr id="8" name="Distinct non-parent outputs (%)"/>
          <p:cNvSpPr txBox="1"/>
          <p:nvPr/>
        </p:nvSpPr>
        <p:spPr>
          <a:xfrm rot="0">
            <a:off x="590550" y="2051149"/>
            <a:ext cx="3129082"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1" i="0" spc="0">
                <a:solidFill>
                  <a:srgbClr val="202328"/>
                </a:solidFill>
                <a:latin typeface="Arial"/>
              </a:rPr>
              <a:t xml:space="preserve">Distinct non-parent outputs (%)</a:t>
            </a:r>
            <a:endParaRPr lang="en-US"/>
          </a:p>
        </p:txBody>
      </p:sp>
      <p:sp>
        <p:nvSpPr>
          <p:cNvPr id="9" name="Parent-copy rate (%)"/>
          <p:cNvSpPr txBox="1"/>
          <p:nvPr/>
        </p:nvSpPr>
        <p:spPr>
          <a:xfrm rot="0">
            <a:off x="6253163" y="2051149"/>
            <a:ext cx="2085201"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1" i="0" spc="0">
                <a:solidFill>
                  <a:srgbClr val="202328"/>
                </a:solidFill>
                <a:latin typeface="Arial"/>
              </a:rPr>
              <a:t xml:space="preserve">Parent-copy rate (%)</a:t>
            </a:r>
            <a:endParaRPr lang="en-US"/>
          </a:p>
        </p:txBody>
      </p:sp>
      <p:sp>
        <p:nvSpPr>
          <p:cNvPr id="10" name="40"/>
          <p:cNvSpPr txBox="1"/>
          <p:nvPr/>
        </p:nvSpPr>
        <p:spPr>
          <a:xfrm rot="0">
            <a:off x="856804" y="2358330"/>
            <a:ext cx="21714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40</a:t>
            </a:r>
            <a:endParaRPr lang="en-US"/>
          </a:p>
        </p:txBody>
      </p:sp>
      <p:sp>
        <p:nvSpPr>
          <p:cNvPr id="11" name="100"/>
          <p:cNvSpPr txBox="1"/>
          <p:nvPr/>
        </p:nvSpPr>
        <p:spPr>
          <a:xfrm rot="0">
            <a:off x="6434584" y="2358330"/>
            <a:ext cx="301972"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100</a:t>
            </a:r>
            <a:endParaRPr lang="en-US"/>
          </a:p>
        </p:txBody>
      </p:sp>
      <p:sp>
        <p:nvSpPr>
          <p:cNvPr id="12" name="92.2%"/>
          <p:cNvSpPr txBox="1"/>
          <p:nvPr/>
        </p:nvSpPr>
        <p:spPr>
          <a:xfrm rot="0">
            <a:off x="10897046" y="2649141"/>
            <a:ext cx="506760"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26B76"/>
                </a:solidFill>
                <a:latin typeface="Arial"/>
              </a:rPr>
              <a:t xml:space="preserve">92.2%</a:t>
            </a:r>
            <a:endParaRPr lang="en-US"/>
          </a:p>
        </p:txBody>
      </p:sp>
      <p:sp>
        <p:nvSpPr>
          <p:cNvPr id="13" name="30"/>
          <p:cNvSpPr txBox="1"/>
          <p:nvPr/>
        </p:nvSpPr>
        <p:spPr>
          <a:xfrm rot="0">
            <a:off x="856804" y="2801243"/>
            <a:ext cx="21714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30</a:t>
            </a:r>
            <a:endParaRPr lang="en-US"/>
          </a:p>
        </p:txBody>
      </p:sp>
      <p:sp>
        <p:nvSpPr>
          <p:cNvPr id="14" name="75"/>
          <p:cNvSpPr txBox="1"/>
          <p:nvPr/>
        </p:nvSpPr>
        <p:spPr>
          <a:xfrm rot="0">
            <a:off x="6519416" y="2801243"/>
            <a:ext cx="21714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75</a:t>
            </a:r>
            <a:endParaRPr lang="en-US"/>
          </a:p>
        </p:txBody>
      </p:sp>
      <p:sp>
        <p:nvSpPr>
          <p:cNvPr id="15" name="20"/>
          <p:cNvSpPr txBox="1"/>
          <p:nvPr/>
        </p:nvSpPr>
        <p:spPr>
          <a:xfrm rot="0">
            <a:off x="856804" y="3244155"/>
            <a:ext cx="21714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20</a:t>
            </a:r>
            <a:endParaRPr lang="en-US"/>
          </a:p>
        </p:txBody>
      </p:sp>
      <p:sp>
        <p:nvSpPr>
          <p:cNvPr id="16" name="50"/>
          <p:cNvSpPr txBox="1"/>
          <p:nvPr/>
        </p:nvSpPr>
        <p:spPr>
          <a:xfrm rot="0">
            <a:off x="6519416" y="3244155"/>
            <a:ext cx="21714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50</a:t>
            </a:r>
            <a:endParaRPr lang="en-US"/>
          </a:p>
        </p:txBody>
      </p:sp>
      <p:sp>
        <p:nvSpPr>
          <p:cNvPr id="17" name="14.1%"/>
          <p:cNvSpPr txBox="1"/>
          <p:nvPr/>
        </p:nvSpPr>
        <p:spPr>
          <a:xfrm rot="0">
            <a:off x="5234434" y="3335685"/>
            <a:ext cx="506760"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C7000B"/>
                </a:solidFill>
                <a:latin typeface="Arial"/>
              </a:rPr>
              <a:t xml:space="preserve">14.1%</a:t>
            </a:r>
            <a:endParaRPr lang="en-US"/>
          </a:p>
        </p:txBody>
      </p:sp>
      <p:sp>
        <p:nvSpPr>
          <p:cNvPr id="18" name="10"/>
          <p:cNvSpPr txBox="1"/>
          <p:nvPr/>
        </p:nvSpPr>
        <p:spPr>
          <a:xfrm rot="0">
            <a:off x="856804" y="3687068"/>
            <a:ext cx="21714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10</a:t>
            </a:r>
            <a:endParaRPr lang="en-US"/>
          </a:p>
        </p:txBody>
      </p:sp>
      <p:sp>
        <p:nvSpPr>
          <p:cNvPr id="19" name="25"/>
          <p:cNvSpPr txBox="1"/>
          <p:nvPr/>
        </p:nvSpPr>
        <p:spPr>
          <a:xfrm rot="0">
            <a:off x="6519416" y="3687068"/>
            <a:ext cx="21714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25</a:t>
            </a:r>
            <a:endParaRPr lang="en-US"/>
          </a:p>
        </p:txBody>
      </p:sp>
      <p:sp>
        <p:nvSpPr>
          <p:cNvPr id="20" name="1.0%"/>
          <p:cNvSpPr txBox="1"/>
          <p:nvPr/>
        </p:nvSpPr>
        <p:spPr>
          <a:xfrm rot="0">
            <a:off x="5324475" y="3912394"/>
            <a:ext cx="416719"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26B76"/>
                </a:solidFill>
                <a:latin typeface="Arial"/>
              </a:rPr>
              <a:t xml:space="preserve">1.0%</a:t>
            </a:r>
            <a:endParaRPr lang="en-US"/>
          </a:p>
        </p:txBody>
      </p:sp>
      <p:sp>
        <p:nvSpPr>
          <p:cNvPr id="21" name="2.1%"/>
          <p:cNvSpPr txBox="1"/>
          <p:nvPr/>
        </p:nvSpPr>
        <p:spPr>
          <a:xfrm rot="0">
            <a:off x="10987088" y="3921621"/>
            <a:ext cx="416719"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C7000B"/>
                </a:solidFill>
                <a:latin typeface="Arial"/>
              </a:rPr>
              <a:t xml:space="preserve">2.1%</a:t>
            </a:r>
            <a:endParaRPr lang="en-US"/>
          </a:p>
        </p:txBody>
      </p:sp>
      <p:sp>
        <p:nvSpPr>
          <p:cNvPr id="22" name="0"/>
          <p:cNvSpPr txBox="1"/>
          <p:nvPr/>
        </p:nvSpPr>
        <p:spPr>
          <a:xfrm rot="0">
            <a:off x="941487" y="4129980"/>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a:t>
            </a:r>
            <a:endParaRPr lang="en-US"/>
          </a:p>
        </p:txBody>
      </p:sp>
      <p:sp>
        <p:nvSpPr>
          <p:cNvPr id="23" name="0"/>
          <p:cNvSpPr txBox="1"/>
          <p:nvPr/>
        </p:nvSpPr>
        <p:spPr>
          <a:xfrm rot="0">
            <a:off x="6604099" y="4129980"/>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a:t>
            </a:r>
            <a:endParaRPr lang="en-US"/>
          </a:p>
        </p:txBody>
      </p:sp>
      <p:sp>
        <p:nvSpPr>
          <p:cNvPr id="24" name="0"/>
          <p:cNvSpPr txBox="1"/>
          <p:nvPr/>
        </p:nvSpPr>
        <p:spPr>
          <a:xfrm rot="0">
            <a:off x="1079153" y="4310955"/>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a:t>
            </a:r>
            <a:endParaRPr lang="en-US"/>
          </a:p>
        </p:txBody>
      </p:sp>
      <p:sp>
        <p:nvSpPr>
          <p:cNvPr id="25" name="4"/>
          <p:cNvSpPr txBox="1"/>
          <p:nvPr/>
        </p:nvSpPr>
        <p:spPr>
          <a:xfrm rot="0">
            <a:off x="2047695" y="4310955"/>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4</a:t>
            </a:r>
            <a:endParaRPr lang="en-US"/>
          </a:p>
        </p:txBody>
      </p:sp>
      <p:sp>
        <p:nvSpPr>
          <p:cNvPr id="26" name="8"/>
          <p:cNvSpPr txBox="1"/>
          <p:nvPr/>
        </p:nvSpPr>
        <p:spPr>
          <a:xfrm rot="0">
            <a:off x="3016237" y="4310955"/>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8</a:t>
            </a:r>
            <a:endParaRPr lang="en-US"/>
          </a:p>
        </p:txBody>
      </p:sp>
      <p:sp>
        <p:nvSpPr>
          <p:cNvPr id="27" name="12"/>
          <p:cNvSpPr txBox="1"/>
          <p:nvPr/>
        </p:nvSpPr>
        <p:spPr>
          <a:xfrm rot="0">
            <a:off x="3942438" y="4310955"/>
            <a:ext cx="21714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12</a:t>
            </a:r>
            <a:endParaRPr lang="en-US"/>
          </a:p>
        </p:txBody>
      </p:sp>
      <p:sp>
        <p:nvSpPr>
          <p:cNvPr id="28" name="16"/>
          <p:cNvSpPr txBox="1"/>
          <p:nvPr/>
        </p:nvSpPr>
        <p:spPr>
          <a:xfrm rot="0">
            <a:off x="4910980" y="4310955"/>
            <a:ext cx="21714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16</a:t>
            </a:r>
            <a:endParaRPr lang="en-US"/>
          </a:p>
        </p:txBody>
      </p:sp>
      <p:sp>
        <p:nvSpPr>
          <p:cNvPr id="29" name="19"/>
          <p:cNvSpPr txBox="1"/>
          <p:nvPr/>
        </p:nvSpPr>
        <p:spPr>
          <a:xfrm rot="0">
            <a:off x="5637386" y="4310955"/>
            <a:ext cx="21714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19</a:t>
            </a:r>
            <a:endParaRPr lang="en-US"/>
          </a:p>
        </p:txBody>
      </p:sp>
      <p:sp>
        <p:nvSpPr>
          <p:cNvPr id="30" name="0"/>
          <p:cNvSpPr txBox="1"/>
          <p:nvPr/>
        </p:nvSpPr>
        <p:spPr>
          <a:xfrm rot="0">
            <a:off x="6741765" y="4310955"/>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a:t>
            </a:r>
            <a:endParaRPr lang="en-US"/>
          </a:p>
        </p:txBody>
      </p:sp>
      <p:sp>
        <p:nvSpPr>
          <p:cNvPr id="31" name="4"/>
          <p:cNvSpPr txBox="1"/>
          <p:nvPr/>
        </p:nvSpPr>
        <p:spPr>
          <a:xfrm rot="0">
            <a:off x="7710307" y="4310955"/>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4</a:t>
            </a:r>
            <a:endParaRPr lang="en-US"/>
          </a:p>
        </p:txBody>
      </p:sp>
      <p:sp>
        <p:nvSpPr>
          <p:cNvPr id="32" name="8"/>
          <p:cNvSpPr txBox="1"/>
          <p:nvPr/>
        </p:nvSpPr>
        <p:spPr>
          <a:xfrm rot="0">
            <a:off x="8678850" y="4310955"/>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8</a:t>
            </a:r>
            <a:endParaRPr lang="en-US"/>
          </a:p>
        </p:txBody>
      </p:sp>
      <p:sp>
        <p:nvSpPr>
          <p:cNvPr id="33" name="12"/>
          <p:cNvSpPr txBox="1"/>
          <p:nvPr/>
        </p:nvSpPr>
        <p:spPr>
          <a:xfrm rot="0">
            <a:off x="9605050" y="4310955"/>
            <a:ext cx="21714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12</a:t>
            </a:r>
            <a:endParaRPr lang="en-US"/>
          </a:p>
        </p:txBody>
      </p:sp>
      <p:sp>
        <p:nvSpPr>
          <p:cNvPr id="34" name="16"/>
          <p:cNvSpPr txBox="1"/>
          <p:nvPr/>
        </p:nvSpPr>
        <p:spPr>
          <a:xfrm rot="0">
            <a:off x="10573592" y="4310955"/>
            <a:ext cx="21714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16</a:t>
            </a:r>
            <a:endParaRPr lang="en-US"/>
          </a:p>
        </p:txBody>
      </p:sp>
      <p:sp>
        <p:nvSpPr>
          <p:cNvPr id="35" name="19"/>
          <p:cNvSpPr txBox="1"/>
          <p:nvPr/>
        </p:nvSpPr>
        <p:spPr>
          <a:xfrm rot="0">
            <a:off x="11299999" y="4310955"/>
            <a:ext cx="21714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19</a:t>
            </a:r>
            <a:endParaRPr lang="en-US"/>
          </a:p>
        </p:txBody>
      </p:sp>
      <p:sp>
        <p:nvSpPr>
          <p:cNvPr id="36" name="Training step"/>
          <p:cNvSpPr txBox="1"/>
          <p:nvPr/>
        </p:nvSpPr>
        <p:spPr>
          <a:xfrm rot="0">
            <a:off x="2984153" y="4501455"/>
            <a:ext cx="923032" cy="184472"/>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Training step</a:t>
            </a:r>
            <a:endParaRPr lang="en-US"/>
          </a:p>
        </p:txBody>
      </p:sp>
      <p:sp>
        <p:nvSpPr>
          <p:cNvPr id="37" name="Training step"/>
          <p:cNvSpPr txBox="1"/>
          <p:nvPr/>
        </p:nvSpPr>
        <p:spPr>
          <a:xfrm rot="0">
            <a:off x="8646765" y="4501455"/>
            <a:ext cx="923032" cy="184472"/>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Training step</a:t>
            </a:r>
            <a:endParaRPr lang="en-US"/>
          </a:p>
        </p:txBody>
      </p:sp>
      <p:sp>
        <p:nvSpPr>
          <p:cNvPr id="38" name="Left: unique valid constructions different from every selected parent,"/>
          <p:cNvSpPr txBox="1"/>
          <p:nvPr/>
        </p:nvSpPr>
        <p:spPr>
          <a:xfrm rot="0">
            <a:off x="590550" y="4718149"/>
            <a:ext cx="5006519"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1" i="0" spc="0">
                <a:solidFill>
                  <a:srgbClr val="202328"/>
                </a:solidFill>
                <a:latin typeface="Arial"/>
              </a:rPr>
              <a:t xml:space="preserve">Left:</a:t>
            </a:r>
            <a:r>
              <a:rPr lang="en-US" sz="1275" b="0" i="0" spc="0">
                <a:solidFill>
                  <a:srgbClr val="202328"/>
                </a:solidFill>
                <a:latin typeface="Arial"/>
              </a:rPr>
              <a:t xml:space="preserve"> unique valid constructions different from every selected parent,</a:t>
            </a:r>
            <a:endParaRPr lang="en-US"/>
          </a:p>
        </p:txBody>
      </p:sp>
      <p:sp>
        <p:nvSpPr>
          <p:cNvPr id="39" name="Right: valid constructions equivalent to any selected parent, includin"/>
          <p:cNvSpPr txBox="1"/>
          <p:nvPr/>
        </p:nvSpPr>
        <p:spPr>
          <a:xfrm rot="0">
            <a:off x="6253163" y="4718149"/>
            <a:ext cx="5108764"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1" i="0" spc="0">
                <a:solidFill>
                  <a:srgbClr val="202328"/>
                </a:solidFill>
                <a:latin typeface="Arial"/>
              </a:rPr>
              <a:t xml:space="preserve">Right:</a:t>
            </a:r>
            <a:r>
              <a:rPr lang="en-US" sz="1275" b="0" i="0" spc="0">
                <a:solidFill>
                  <a:srgbClr val="202328"/>
                </a:solidFill>
                <a:latin typeface="Arial"/>
              </a:rPr>
              <a:t xml:space="preserve"> valid constructions equivalent to any selected parent, including</a:t>
            </a:r>
            <a:endParaRPr lang="en-US"/>
          </a:p>
        </p:txBody>
      </p:sp>
      <p:sp>
        <p:nvSpPr>
          <p:cNvPr id="40" name="counted once per step."/>
          <p:cNvSpPr txBox="1"/>
          <p:nvPr/>
        </p:nvSpPr>
        <p:spPr>
          <a:xfrm rot="0">
            <a:off x="590550" y="4936629"/>
            <a:ext cx="1760875"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202328"/>
                </a:solidFill>
                <a:latin typeface="Arial"/>
              </a:rPr>
              <a:t xml:space="preserve">counted once per step.</a:t>
            </a:r>
            <a:endParaRPr lang="en-US"/>
          </a:p>
        </p:txBody>
      </p:sp>
      <p:sp>
        <p:nvSpPr>
          <p:cNvPr id="41" name="repeated copies."/>
          <p:cNvSpPr txBox="1"/>
          <p:nvPr/>
        </p:nvSpPr>
        <p:spPr>
          <a:xfrm rot="0">
            <a:off x="6253163" y="4936629"/>
            <a:ext cx="1310670"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202328"/>
                </a:solidFill>
                <a:latin typeface="Arial"/>
              </a:rPr>
              <a:t xml:space="preserve">repeated copies.</a:t>
            </a:r>
            <a:endParaRPr lang="en-US"/>
          </a:p>
        </p:txBody>
      </p:sp>
      <p:sp>
        <p:nvSpPr>
          <p:cNvPr id="42" name="Strategy conditioning sustains distinct outputs late in training. Dire"/>
          <p:cNvSpPr txBox="1"/>
          <p:nvPr/>
        </p:nvSpPr>
        <p:spPr>
          <a:xfrm rot="0">
            <a:off x="590550" y="5440859"/>
            <a:ext cx="10020568"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1" i="0" spc="0">
                <a:solidFill>
                  <a:srgbClr val="202328"/>
                </a:solidFill>
                <a:latin typeface="Arial"/>
              </a:rPr>
              <a:t xml:space="preserve">Strategy conditioning sustains distinct outputs late in training. Direct generation mostly copies parents.</a:t>
            </a:r>
            <a:endParaRPr lang="en-US"/>
          </a:p>
        </p:txBody>
      </p:sp>
      <p:sp>
        <p:nvSpPr>
          <p:cNvPr id="43"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44"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45" name="Page 12"/>
          <p:cNvSpPr txBox="1"/>
          <p:nvPr/>
        </p:nvSpPr>
        <p:spPr>
          <a:xfrm rot="0">
            <a:off x="5985867" y="6434138"/>
            <a:ext cx="50595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12</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Experiments: Coder Learning and Reward Design">
    <p:spTree>
      <p:nvGrpSpPr>
        <p:cNvPr id="1" name=""/>
        <p:cNvGrpSpPr/>
        <p:nvPr/>
      </p:nvGrpSpPr>
      <p:grpSpPr>
        <a:xfrm>
          <a:off x="0" y="0"/>
          <a:ext cx="0" cy="0"/>
          <a:chOff x="0" y="0"/>
          <a:chExt cx="0" cy="0"/>
        </a:xfrm>
      </p:grpSpPr>
      <p:pic>
        <p:nvPicPr>
          <p:cNvPr id="2" name="Experiments: Coder Learning and Reward Design graphic elements" descr="Experiments: Coder Learning and Reward Design graphic elements"/>
          <p:cNvPicPr>
            <a:picLocks noChangeAspect="1"/>
          </p:cNvPicPr>
          <p:nvPr/>
        </p:nvPicPr>
        <p:blipFill>
          <a:blip r:embed="rId2"/>
          <a:stretch>
            <a:fillRect/>
          </a:stretch>
        </p:blipFill>
        <p:spPr>
          <a:xfrm>
            <a:off x="0" y="0"/>
            <a:ext cx="12192000" cy="6858000"/>
          </a:xfrm>
          <a:prstGeom prst="rect">
            <a:avLst/>
          </a:prstGeom>
        </p:spPr>
      </p:pic>
      <p:sp>
        <p:nvSpPr>
          <p:cNvPr id="3" name="Experiments: Coder Learning and Reward Design"/>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Experiments: Coder Learning and Reward Design</a:t>
            </a:r>
            <a:endParaRPr lang="en-US"/>
          </a:p>
        </p:txBody>
      </p:sp>
      <p:sp>
        <p:nvSpPr>
          <p:cNvPr id="4" name="These runs compare binary success and score-based rewards, and group-r"/>
          <p:cNvSpPr txBox="1"/>
          <p:nvPr/>
        </p:nvSpPr>
        <p:spPr>
          <a:xfrm rot="0">
            <a:off x="590550" y="1362075"/>
            <a:ext cx="10202138"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These runs compare binary success and score-based rewards, and group-relative and historical-baseline training.</a:t>
            </a:r>
            <a:endParaRPr lang="en-US"/>
          </a:p>
        </p:txBody>
      </p:sp>
      <p:sp>
        <p:nvSpPr>
          <p:cNvPr id="5" name="Coder learning with a frozen strategist"/>
          <p:cNvSpPr txBox="1"/>
          <p:nvPr/>
        </p:nvSpPr>
        <p:spPr>
          <a:xfrm rot="0">
            <a:off x="590550" y="1832074"/>
            <a:ext cx="3965764"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1" i="0" spc="0">
                <a:solidFill>
                  <a:srgbClr val="202328"/>
                </a:solidFill>
                <a:latin typeface="Arial"/>
              </a:rPr>
              <a:t xml:space="preserve">Coder learning with a frozen strategist</a:t>
            </a:r>
            <a:endParaRPr lang="en-US"/>
          </a:p>
        </p:txBody>
      </p:sp>
      <p:sp>
        <p:nvSpPr>
          <p:cNvPr id="6" name="Direct Qwen3-8B coder"/>
          <p:cNvSpPr txBox="1"/>
          <p:nvPr/>
        </p:nvSpPr>
        <p:spPr>
          <a:xfrm rot="0">
            <a:off x="6381304" y="1832074"/>
            <a:ext cx="2452479" cy="2571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650" b="1" i="0" spc="0">
                <a:solidFill>
                  <a:srgbClr val="202328"/>
                </a:solidFill>
                <a:latin typeface="Arial"/>
              </a:rPr>
              <a:t xml:space="preserve">Direct Qwen3-8B coder</a:t>
            </a:r>
            <a:endParaRPr lang="en-US"/>
          </a:p>
        </p:txBody>
      </p:sp>
      <p:sp>
        <p:nvSpPr>
          <p:cNvPr id="7" name="R1-Distill-Qwen-32B strategist"/>
          <p:cNvSpPr txBox="1"/>
          <p:nvPr/>
        </p:nvSpPr>
        <p:spPr>
          <a:xfrm rot="0">
            <a:off x="590550" y="2179737"/>
            <a:ext cx="2282071"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R1-Distill-Qwen-32B strategist</a:t>
            </a:r>
            <a:endParaRPr lang="en-US"/>
          </a:p>
        </p:txBody>
      </p:sp>
      <p:sp>
        <p:nvSpPr>
          <p:cNvPr id="8" name="No strategist"/>
          <p:cNvSpPr txBox="1"/>
          <p:nvPr/>
        </p:nvSpPr>
        <p:spPr>
          <a:xfrm rot="0">
            <a:off x="6381304" y="2179737"/>
            <a:ext cx="1022390"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No strategist</a:t>
            </a:r>
            <a:endParaRPr lang="en-US"/>
          </a:p>
        </p:txBody>
      </p:sp>
      <p:sp>
        <p:nvSpPr>
          <p:cNvPr id="9" name="Qwen3-Coder-30B-A3B-Instruct coder, no bandit"/>
          <p:cNvSpPr txBox="1"/>
          <p:nvPr/>
        </p:nvSpPr>
        <p:spPr>
          <a:xfrm rot="0">
            <a:off x="590550" y="2398216"/>
            <a:ext cx="3605599"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Qwen3-Coder-30B-A3B-Instruct coder, no bandit</a:t>
            </a:r>
            <a:endParaRPr lang="en-US"/>
          </a:p>
        </p:txBody>
      </p:sp>
      <p:sp>
        <p:nvSpPr>
          <p:cNvPr id="10" name="Compare group-relative and historical-baseline learning"/>
          <p:cNvSpPr txBox="1"/>
          <p:nvPr/>
        </p:nvSpPr>
        <p:spPr>
          <a:xfrm rot="0">
            <a:off x="6381304" y="2398216"/>
            <a:ext cx="4091672"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Compare group-relative and historical-baseline learning</a:t>
            </a:r>
            <a:endParaRPr lang="en-US"/>
          </a:p>
        </p:txBody>
      </p:sp>
      <p:sp>
        <p:nvSpPr>
          <p:cNvPr id="11" name="Coder update"/>
          <p:cNvSpPr txBox="1"/>
          <p:nvPr/>
        </p:nvSpPr>
        <p:spPr>
          <a:xfrm rot="0">
            <a:off x="590550" y="2808387"/>
            <a:ext cx="1020961"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25" b="1" i="0" spc="0">
                <a:solidFill>
                  <a:srgbClr val="59616C"/>
                </a:solidFill>
                <a:latin typeface="Arial"/>
              </a:rPr>
              <a:t xml:space="preserve">Coder update</a:t>
            </a:r>
            <a:endParaRPr lang="en-US"/>
          </a:p>
        </p:txBody>
      </p:sp>
      <p:sp>
        <p:nvSpPr>
          <p:cNvPr id="12" name="Programs"/>
          <p:cNvSpPr txBox="1"/>
          <p:nvPr/>
        </p:nvSpPr>
        <p:spPr>
          <a:xfrm rot="0">
            <a:off x="2656880" y="2808387"/>
            <a:ext cx="76706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25" b="1" i="0" spc="0">
                <a:solidFill>
                  <a:srgbClr val="59616C"/>
                </a:solidFill>
                <a:latin typeface="Arial"/>
              </a:rPr>
              <a:t xml:space="preserve">Programs</a:t>
            </a:r>
            <a:endParaRPr lang="en-US"/>
          </a:p>
        </p:txBody>
      </p:sp>
      <p:sp>
        <p:nvSpPr>
          <p:cNvPr id="13" name="Reward &gt; 0"/>
          <p:cNvSpPr txBox="1"/>
          <p:nvPr/>
        </p:nvSpPr>
        <p:spPr>
          <a:xfrm rot="0">
            <a:off x="3899297" y="2808387"/>
            <a:ext cx="858441"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25" b="1" i="0" spc="0">
                <a:solidFill>
                  <a:srgbClr val="59616C"/>
                </a:solidFill>
                <a:latin typeface="Arial"/>
              </a:rPr>
              <a:t xml:space="preserve">Reward &gt; 0</a:t>
            </a:r>
            <a:endParaRPr lang="en-US"/>
          </a:p>
        </p:txBody>
      </p:sp>
      <p:sp>
        <p:nvSpPr>
          <p:cNvPr id="14" name="Best C₅ ↓"/>
          <p:cNvSpPr txBox="1"/>
          <p:nvPr/>
        </p:nvSpPr>
        <p:spPr>
          <a:xfrm rot="0">
            <a:off x="5320605" y="2808387"/>
            <a:ext cx="703511"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25" b="1" i="0" spc="0">
                <a:solidFill>
                  <a:srgbClr val="59616C"/>
                </a:solidFill>
                <a:latin typeface="Arial"/>
              </a:rPr>
              <a:t xml:space="preserve">Best C₅ ↓</a:t>
            </a:r>
            <a:endParaRPr lang="en-US"/>
          </a:p>
        </p:txBody>
      </p:sp>
      <p:sp>
        <p:nvSpPr>
          <p:cNvPr id="15" name="Coder update"/>
          <p:cNvSpPr txBox="1"/>
          <p:nvPr/>
        </p:nvSpPr>
        <p:spPr>
          <a:xfrm rot="0">
            <a:off x="6381304" y="2808387"/>
            <a:ext cx="1020961"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25" b="1" i="0" spc="0">
                <a:solidFill>
                  <a:srgbClr val="59616C"/>
                </a:solidFill>
                <a:latin typeface="Arial"/>
              </a:rPr>
              <a:t xml:space="preserve">Coder update</a:t>
            </a:r>
            <a:endParaRPr lang="en-US"/>
          </a:p>
        </p:txBody>
      </p:sp>
      <p:sp>
        <p:nvSpPr>
          <p:cNvPr id="16" name="Programs"/>
          <p:cNvSpPr txBox="1"/>
          <p:nvPr/>
        </p:nvSpPr>
        <p:spPr>
          <a:xfrm rot="0">
            <a:off x="8540502" y="2808387"/>
            <a:ext cx="76706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25" b="1" i="0" spc="0">
                <a:solidFill>
                  <a:srgbClr val="59616C"/>
                </a:solidFill>
                <a:latin typeface="Arial"/>
              </a:rPr>
              <a:t xml:space="preserve">Programs</a:t>
            </a:r>
            <a:endParaRPr lang="en-US"/>
          </a:p>
        </p:txBody>
      </p:sp>
      <p:sp>
        <p:nvSpPr>
          <p:cNvPr id="17" name="Reward &gt; 0"/>
          <p:cNvSpPr txBox="1"/>
          <p:nvPr/>
        </p:nvSpPr>
        <p:spPr>
          <a:xfrm rot="0">
            <a:off x="9628287" y="2808387"/>
            <a:ext cx="858441"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25" b="1" i="0" spc="0">
                <a:solidFill>
                  <a:srgbClr val="59616C"/>
                </a:solidFill>
                <a:latin typeface="Arial"/>
              </a:rPr>
              <a:t xml:space="preserve">Reward &gt; 0</a:t>
            </a:r>
            <a:endParaRPr lang="en-US"/>
          </a:p>
        </p:txBody>
      </p:sp>
      <p:sp>
        <p:nvSpPr>
          <p:cNvPr id="18" name="Best C₅ ↓"/>
          <p:cNvSpPr txBox="1"/>
          <p:nvPr/>
        </p:nvSpPr>
        <p:spPr>
          <a:xfrm rot="0">
            <a:off x="10902702" y="2808387"/>
            <a:ext cx="703511"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125" b="1" i="0" spc="0">
                <a:solidFill>
                  <a:srgbClr val="59616C"/>
                </a:solidFill>
                <a:latin typeface="Arial"/>
              </a:rPr>
              <a:t xml:space="preserve">Best C₅ ↓</a:t>
            </a:r>
            <a:endParaRPr lang="en-US"/>
          </a:p>
        </p:txBody>
      </p:sp>
      <p:sp>
        <p:nvSpPr>
          <p:cNvPr id="19" name="RL off"/>
          <p:cNvSpPr txBox="1"/>
          <p:nvPr/>
        </p:nvSpPr>
        <p:spPr>
          <a:xfrm rot="0">
            <a:off x="590550" y="3222724"/>
            <a:ext cx="612041"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1" i="0" spc="0">
                <a:solidFill>
                  <a:srgbClr val="202328"/>
                </a:solidFill>
                <a:latin typeface="Arial"/>
              </a:rPr>
              <a:t xml:space="preserve">RL off</a:t>
            </a:r>
            <a:endParaRPr lang="en-US"/>
          </a:p>
        </p:txBody>
      </p:sp>
      <p:sp>
        <p:nvSpPr>
          <p:cNvPr id="20" name="4.2k"/>
          <p:cNvSpPr txBox="1"/>
          <p:nvPr/>
        </p:nvSpPr>
        <p:spPr>
          <a:xfrm rot="0">
            <a:off x="2999780" y="3222724"/>
            <a:ext cx="444163"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0" i="0" spc="0">
                <a:solidFill>
                  <a:srgbClr val="202328"/>
                </a:solidFill>
                <a:latin typeface="Arial"/>
              </a:rPr>
              <a:t xml:space="preserve">4.2k</a:t>
            </a:r>
            <a:endParaRPr lang="en-US"/>
          </a:p>
        </p:txBody>
      </p:sp>
      <p:sp>
        <p:nvSpPr>
          <p:cNvPr id="21" name="70.38%"/>
          <p:cNvSpPr txBox="1"/>
          <p:nvPr/>
        </p:nvSpPr>
        <p:spPr>
          <a:xfrm rot="0">
            <a:off x="4076105" y="3222724"/>
            <a:ext cx="701635"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0" i="0" spc="0">
                <a:solidFill>
                  <a:srgbClr val="202328"/>
                </a:solidFill>
                <a:latin typeface="Arial"/>
              </a:rPr>
              <a:t xml:space="preserve">70.38%</a:t>
            </a:r>
            <a:endParaRPr lang="en-US"/>
          </a:p>
        </p:txBody>
      </p:sp>
      <p:sp>
        <p:nvSpPr>
          <p:cNvPr id="22" name="0.381009"/>
          <p:cNvSpPr txBox="1"/>
          <p:nvPr/>
        </p:nvSpPr>
        <p:spPr>
          <a:xfrm rot="0">
            <a:off x="5208984" y="3222724"/>
            <a:ext cx="835134"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0" i="0" spc="0">
                <a:solidFill>
                  <a:srgbClr val="C7000B"/>
                </a:solidFill>
                <a:latin typeface="Arial"/>
              </a:rPr>
              <a:t xml:space="preserve">0.381009</a:t>
            </a:r>
            <a:endParaRPr lang="en-US"/>
          </a:p>
        </p:txBody>
      </p:sp>
      <p:sp>
        <p:nvSpPr>
          <p:cNvPr id="23" name="Entropic-GRPO"/>
          <p:cNvSpPr txBox="1"/>
          <p:nvPr/>
        </p:nvSpPr>
        <p:spPr>
          <a:xfrm rot="0">
            <a:off x="6381304" y="3222724"/>
            <a:ext cx="1377464"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1" i="0" spc="0">
                <a:solidFill>
                  <a:srgbClr val="202328"/>
                </a:solidFill>
                <a:latin typeface="Arial"/>
              </a:rPr>
              <a:t xml:space="preserve">Entropic-GRPO</a:t>
            </a:r>
            <a:endParaRPr lang="en-US"/>
          </a:p>
        </p:txBody>
      </p:sp>
      <p:sp>
        <p:nvSpPr>
          <p:cNvPr id="24" name="12.2k"/>
          <p:cNvSpPr txBox="1"/>
          <p:nvPr/>
        </p:nvSpPr>
        <p:spPr>
          <a:xfrm rot="0">
            <a:off x="8788003" y="3222724"/>
            <a:ext cx="539561"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0" i="0" spc="0">
                <a:solidFill>
                  <a:srgbClr val="202328"/>
                </a:solidFill>
                <a:latin typeface="Arial"/>
              </a:rPr>
              <a:t xml:space="preserve">12.2k</a:t>
            </a:r>
            <a:endParaRPr lang="en-US"/>
          </a:p>
        </p:txBody>
      </p:sp>
      <p:sp>
        <p:nvSpPr>
          <p:cNvPr id="25" name="85.23%"/>
          <p:cNvSpPr txBox="1"/>
          <p:nvPr/>
        </p:nvSpPr>
        <p:spPr>
          <a:xfrm rot="0">
            <a:off x="9805095" y="3222724"/>
            <a:ext cx="701635"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0" i="0" spc="0">
                <a:solidFill>
                  <a:srgbClr val="202328"/>
                </a:solidFill>
                <a:latin typeface="Arial"/>
              </a:rPr>
              <a:t xml:space="preserve">85.23%</a:t>
            </a:r>
            <a:endParaRPr lang="en-US"/>
          </a:p>
        </p:txBody>
      </p:sp>
      <p:sp>
        <p:nvSpPr>
          <p:cNvPr id="26" name="0.380988"/>
          <p:cNvSpPr txBox="1"/>
          <p:nvPr/>
        </p:nvSpPr>
        <p:spPr>
          <a:xfrm rot="0">
            <a:off x="10791081" y="3222724"/>
            <a:ext cx="835134"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0" i="0" spc="0">
                <a:solidFill>
                  <a:srgbClr val="C7000B"/>
                </a:solidFill>
                <a:latin typeface="Arial"/>
              </a:rPr>
              <a:t xml:space="preserve">0.380988</a:t>
            </a:r>
            <a:endParaRPr lang="en-US"/>
          </a:p>
        </p:txBody>
      </p:sp>
      <p:sp>
        <p:nvSpPr>
          <p:cNvPr id="27" name="Binary-PPO"/>
          <p:cNvSpPr txBox="1"/>
          <p:nvPr/>
        </p:nvSpPr>
        <p:spPr>
          <a:xfrm rot="0">
            <a:off x="590550" y="3683645"/>
            <a:ext cx="1072813"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1" i="0" spc="0">
                <a:solidFill>
                  <a:srgbClr val="202328"/>
                </a:solidFill>
                <a:latin typeface="Arial"/>
              </a:rPr>
              <a:t xml:space="preserve">Binary-PPO</a:t>
            </a:r>
            <a:endParaRPr lang="en-US"/>
          </a:p>
        </p:txBody>
      </p:sp>
      <p:sp>
        <p:nvSpPr>
          <p:cNvPr id="28" name="2.3k"/>
          <p:cNvSpPr txBox="1"/>
          <p:nvPr/>
        </p:nvSpPr>
        <p:spPr>
          <a:xfrm rot="0">
            <a:off x="2999780" y="3683645"/>
            <a:ext cx="444163"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0" i="0" spc="0">
                <a:solidFill>
                  <a:srgbClr val="202328"/>
                </a:solidFill>
                <a:latin typeface="Arial"/>
              </a:rPr>
              <a:t xml:space="preserve">2.3k</a:t>
            </a:r>
            <a:endParaRPr lang="en-US"/>
          </a:p>
        </p:txBody>
      </p:sp>
      <p:sp>
        <p:nvSpPr>
          <p:cNvPr id="29" name="68.61%"/>
          <p:cNvSpPr txBox="1"/>
          <p:nvPr/>
        </p:nvSpPr>
        <p:spPr>
          <a:xfrm rot="0">
            <a:off x="4076105" y="3683645"/>
            <a:ext cx="701635"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0" i="0" spc="0">
                <a:solidFill>
                  <a:srgbClr val="202328"/>
                </a:solidFill>
                <a:latin typeface="Arial"/>
              </a:rPr>
              <a:t xml:space="preserve">68.61%</a:t>
            </a:r>
            <a:endParaRPr lang="en-US"/>
          </a:p>
        </p:txBody>
      </p:sp>
      <p:sp>
        <p:nvSpPr>
          <p:cNvPr id="30" name="0.381086"/>
          <p:cNvSpPr txBox="1"/>
          <p:nvPr/>
        </p:nvSpPr>
        <p:spPr>
          <a:xfrm rot="0">
            <a:off x="5208984" y="3683645"/>
            <a:ext cx="835134"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0" i="0" spc="0">
                <a:solidFill>
                  <a:srgbClr val="C7000B"/>
                </a:solidFill>
                <a:latin typeface="Arial"/>
              </a:rPr>
              <a:t xml:space="preserve">0.381086</a:t>
            </a:r>
            <a:endParaRPr lang="en-US"/>
          </a:p>
        </p:txBody>
      </p:sp>
      <p:sp>
        <p:nvSpPr>
          <p:cNvPr id="31" name="SPO²"/>
          <p:cNvSpPr txBox="1"/>
          <p:nvPr/>
        </p:nvSpPr>
        <p:spPr>
          <a:xfrm rot="0">
            <a:off x="6381304" y="3683645"/>
            <a:ext cx="539264"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1" i="0" spc="0">
                <a:solidFill>
                  <a:srgbClr val="202328"/>
                </a:solidFill>
                <a:latin typeface="Arial"/>
              </a:rPr>
              <a:t xml:space="preserve">SPO²</a:t>
            </a:r>
            <a:endParaRPr lang="en-US"/>
          </a:p>
        </p:txBody>
      </p:sp>
      <p:sp>
        <p:nvSpPr>
          <p:cNvPr id="32" name="4.6k"/>
          <p:cNvSpPr txBox="1"/>
          <p:nvPr/>
        </p:nvSpPr>
        <p:spPr>
          <a:xfrm rot="0">
            <a:off x="8883402" y="3683645"/>
            <a:ext cx="444163"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0" i="0" spc="0">
                <a:solidFill>
                  <a:srgbClr val="202328"/>
                </a:solidFill>
                <a:latin typeface="Arial"/>
              </a:rPr>
              <a:t xml:space="preserve">4.6k</a:t>
            </a:r>
            <a:endParaRPr lang="en-US"/>
          </a:p>
        </p:txBody>
      </p:sp>
      <p:sp>
        <p:nvSpPr>
          <p:cNvPr id="33" name="78.39%"/>
          <p:cNvSpPr txBox="1"/>
          <p:nvPr/>
        </p:nvSpPr>
        <p:spPr>
          <a:xfrm rot="0">
            <a:off x="9805095" y="3683645"/>
            <a:ext cx="701635"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0" i="0" spc="0">
                <a:solidFill>
                  <a:srgbClr val="202328"/>
                </a:solidFill>
                <a:latin typeface="Arial"/>
              </a:rPr>
              <a:t xml:space="preserve">78.39%</a:t>
            </a:r>
            <a:endParaRPr lang="en-US"/>
          </a:p>
        </p:txBody>
      </p:sp>
      <p:sp>
        <p:nvSpPr>
          <p:cNvPr id="34" name="0.380980"/>
          <p:cNvSpPr txBox="1"/>
          <p:nvPr/>
        </p:nvSpPr>
        <p:spPr>
          <a:xfrm rot="0">
            <a:off x="10791081" y="3683645"/>
            <a:ext cx="835134"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0" i="0" spc="0">
                <a:solidFill>
                  <a:srgbClr val="C7000B"/>
                </a:solidFill>
                <a:latin typeface="Arial"/>
              </a:rPr>
              <a:t xml:space="preserve">0.380980</a:t>
            </a:r>
            <a:endParaRPr lang="en-US"/>
          </a:p>
        </p:txBody>
      </p:sp>
      <p:sp>
        <p:nvSpPr>
          <p:cNvPr id="35" name="SPO²"/>
          <p:cNvSpPr txBox="1"/>
          <p:nvPr/>
        </p:nvSpPr>
        <p:spPr>
          <a:xfrm rot="0">
            <a:off x="590550" y="4144566"/>
            <a:ext cx="539264"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1" i="0" spc="0">
                <a:solidFill>
                  <a:srgbClr val="202328"/>
                </a:solidFill>
                <a:latin typeface="Arial"/>
              </a:rPr>
              <a:t xml:space="preserve">SPO²</a:t>
            </a:r>
            <a:endParaRPr lang="en-US"/>
          </a:p>
        </p:txBody>
      </p:sp>
      <p:sp>
        <p:nvSpPr>
          <p:cNvPr id="36" name="4.8k"/>
          <p:cNvSpPr txBox="1"/>
          <p:nvPr/>
        </p:nvSpPr>
        <p:spPr>
          <a:xfrm rot="0">
            <a:off x="2999780" y="4144566"/>
            <a:ext cx="444163"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0" i="0" spc="0">
                <a:solidFill>
                  <a:srgbClr val="202328"/>
                </a:solidFill>
                <a:latin typeface="Arial"/>
              </a:rPr>
              <a:t xml:space="preserve">4.8k</a:t>
            </a:r>
            <a:endParaRPr lang="en-US"/>
          </a:p>
        </p:txBody>
      </p:sp>
      <p:sp>
        <p:nvSpPr>
          <p:cNvPr id="37" name="63.74%"/>
          <p:cNvSpPr txBox="1"/>
          <p:nvPr/>
        </p:nvSpPr>
        <p:spPr>
          <a:xfrm rot="0">
            <a:off x="4076105" y="4144566"/>
            <a:ext cx="701635"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0" i="0" spc="0">
                <a:solidFill>
                  <a:srgbClr val="202328"/>
                </a:solidFill>
                <a:latin typeface="Arial"/>
              </a:rPr>
              <a:t xml:space="preserve">63.74%</a:t>
            </a:r>
            <a:endParaRPr lang="en-US"/>
          </a:p>
        </p:txBody>
      </p:sp>
      <p:sp>
        <p:nvSpPr>
          <p:cNvPr id="38" name="0.380971"/>
          <p:cNvSpPr txBox="1"/>
          <p:nvPr/>
        </p:nvSpPr>
        <p:spPr>
          <a:xfrm rot="0">
            <a:off x="5208984" y="4144566"/>
            <a:ext cx="835134"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0" i="0" spc="0">
                <a:solidFill>
                  <a:srgbClr val="C7000B"/>
                </a:solidFill>
                <a:latin typeface="Arial"/>
              </a:rPr>
              <a:t xml:space="preserve">0.380971</a:t>
            </a:r>
            <a:endParaRPr lang="en-US"/>
          </a:p>
        </p:txBody>
      </p:sp>
      <p:sp>
        <p:nvSpPr>
          <p:cNvPr id="39" name="Why a historical baseline"/>
          <p:cNvSpPr txBox="1"/>
          <p:nvPr/>
        </p:nvSpPr>
        <p:spPr>
          <a:xfrm rot="0">
            <a:off x="6381304" y="4239816"/>
            <a:ext cx="2530048"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1" i="0" spc="0">
                <a:solidFill>
                  <a:srgbClr val="202328"/>
                </a:solidFill>
                <a:latin typeface="Arial"/>
              </a:rPr>
              <a:t xml:space="preserve">Why a historical baseline</a:t>
            </a:r>
            <a:endParaRPr lang="en-US"/>
          </a:p>
        </p:txBody>
      </p:sp>
      <p:sp>
        <p:nvSpPr>
          <p:cNvPr id="40" name="When all rewards within a group are equal, group-relative"/>
          <p:cNvSpPr txBox="1"/>
          <p:nvPr/>
        </p:nvSpPr>
        <p:spPr>
          <a:xfrm rot="0">
            <a:off x="6381304" y="4582418"/>
            <a:ext cx="4961930"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When all rewards within a group are equal, group-relative</a:t>
            </a:r>
            <a:endParaRPr lang="en-US"/>
          </a:p>
        </p:txBody>
      </p:sp>
      <p:sp>
        <p:nvSpPr>
          <p:cNvPr id="41" name="Why score-based rewards"/>
          <p:cNvSpPr txBox="1"/>
          <p:nvPr/>
        </p:nvSpPr>
        <p:spPr>
          <a:xfrm rot="0">
            <a:off x="590550" y="4700736"/>
            <a:ext cx="2619048"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1" i="0" spc="0">
                <a:solidFill>
                  <a:srgbClr val="202328"/>
                </a:solidFill>
                <a:latin typeface="Arial"/>
              </a:rPr>
              <a:t xml:space="preserve">Why score-based rewards</a:t>
            </a:r>
            <a:endParaRPr lang="en-US"/>
          </a:p>
        </p:txBody>
      </p:sp>
      <p:sp>
        <p:nvSpPr>
          <p:cNvPr id="42" name="advantages are zero. A historical baseline can still assign a"/>
          <p:cNvSpPr txBox="1"/>
          <p:nvPr/>
        </p:nvSpPr>
        <p:spPr>
          <a:xfrm rot="0">
            <a:off x="6381304" y="4845248"/>
            <a:ext cx="5099893"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advantages are zero. A historical baseline can still assign a</a:t>
            </a:r>
            <a:endParaRPr lang="en-US"/>
          </a:p>
        </p:txBody>
      </p:sp>
      <p:sp>
        <p:nvSpPr>
          <p:cNvPr id="43" name="Two valid programs can return different C₅ bounds. Binary"/>
          <p:cNvSpPr txBox="1"/>
          <p:nvPr/>
        </p:nvSpPr>
        <p:spPr>
          <a:xfrm rot="0">
            <a:off x="590550" y="5043339"/>
            <a:ext cx="5000625"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Two valid programs can return different C₅ bounds. Binary</a:t>
            </a:r>
            <a:endParaRPr lang="en-US"/>
          </a:p>
        </p:txBody>
      </p:sp>
      <p:sp>
        <p:nvSpPr>
          <p:cNvPr id="44" name="nonzero advantage relative to past rewards."/>
          <p:cNvSpPr txBox="1"/>
          <p:nvPr/>
        </p:nvSpPr>
        <p:spPr>
          <a:xfrm rot="0">
            <a:off x="6381304" y="5108079"/>
            <a:ext cx="3839766"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nonzero advantage relative to past rewards.</a:t>
            </a:r>
            <a:endParaRPr lang="en-US"/>
          </a:p>
        </p:txBody>
      </p:sp>
      <p:sp>
        <p:nvSpPr>
          <p:cNvPr id="45" name="success gives them the same reward. A score-based reward"/>
          <p:cNvSpPr txBox="1"/>
          <p:nvPr/>
        </p:nvSpPr>
        <p:spPr>
          <a:xfrm rot="0">
            <a:off x="590550" y="5306169"/>
            <a:ext cx="5215682"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success gives them the same reward. A score-based reward</a:t>
            </a:r>
            <a:endParaRPr lang="en-US"/>
          </a:p>
        </p:txBody>
      </p:sp>
      <p:sp>
        <p:nvSpPr>
          <p:cNvPr id="46" name="retains this difference."/>
          <p:cNvSpPr txBox="1"/>
          <p:nvPr/>
        </p:nvSpPr>
        <p:spPr>
          <a:xfrm rot="0">
            <a:off x="590550" y="5569000"/>
            <a:ext cx="1993553"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0" i="0" spc="0">
                <a:solidFill>
                  <a:srgbClr val="202328"/>
                </a:solidFill>
                <a:latin typeface="Arial"/>
              </a:rPr>
              <a:t xml:space="preserve">retains this difference.</a:t>
            </a:r>
            <a:endParaRPr lang="en-US"/>
          </a:p>
        </p:txBody>
      </p:sp>
      <p:sp>
        <p:nvSpPr>
          <p:cNvPr id="47"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48"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49" name="Page 13"/>
          <p:cNvSpPr txBox="1"/>
          <p:nvPr/>
        </p:nvSpPr>
        <p:spPr>
          <a:xfrm rot="0">
            <a:off x="5985867" y="6434138"/>
            <a:ext cx="50595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13</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Experiments: Planning and Coding Models">
    <p:spTree>
      <p:nvGrpSpPr>
        <p:cNvPr id="1" name=""/>
        <p:cNvGrpSpPr/>
        <p:nvPr/>
      </p:nvGrpSpPr>
      <p:grpSpPr>
        <a:xfrm>
          <a:off x="0" y="0"/>
          <a:ext cx="0" cy="0"/>
          <a:chOff x="0" y="0"/>
          <a:chExt cx="0" cy="0"/>
        </a:xfrm>
      </p:grpSpPr>
      <p:pic>
        <p:nvPicPr>
          <p:cNvPr id="2" name="Experiments: Planning and Coding Models graphic elements" descr="Experiments: Planning and Coding Models graphic elements"/>
          <p:cNvPicPr>
            <a:picLocks noChangeAspect="1"/>
          </p:cNvPicPr>
          <p:nvPr/>
        </p:nvPicPr>
        <p:blipFill>
          <a:blip r:embed="rId2"/>
          <a:stretch>
            <a:fillRect/>
          </a:stretch>
        </p:blipFill>
        <p:spPr>
          <a:xfrm>
            <a:off x="0" y="0"/>
            <a:ext cx="12192000" cy="6858000"/>
          </a:xfrm>
          <a:prstGeom prst="rect">
            <a:avLst/>
          </a:prstGeom>
        </p:spPr>
      </p:pic>
      <p:sp>
        <p:nvSpPr>
          <p:cNvPr id="3" name="Experiments: Planning and Coding Models"/>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Experiments: Planning and Coding Models</a:t>
            </a:r>
            <a:endParaRPr lang="en-US"/>
          </a:p>
        </p:txBody>
      </p:sp>
      <p:sp>
        <p:nvSpPr>
          <p:cNvPr id="4" name="A higher reward-positive rate did not necessarily correspond to a lowe"/>
          <p:cNvSpPr txBox="1"/>
          <p:nvPr/>
        </p:nvSpPr>
        <p:spPr>
          <a:xfrm rot="0">
            <a:off x="590550" y="1362075"/>
            <a:ext cx="7300287"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A higher reward-positive rate did not necessarily correspond to a lower C₅ bound.</a:t>
            </a:r>
            <a:endParaRPr lang="en-US"/>
          </a:p>
        </p:txBody>
      </p:sp>
      <p:sp>
        <p:nvSpPr>
          <p:cNvPr id="5" name="Same Qwen3-8B coder and entropic-GRPO, different frozen strategists"/>
          <p:cNvSpPr txBox="1"/>
          <p:nvPr/>
        </p:nvSpPr>
        <p:spPr>
          <a:xfrm rot="0">
            <a:off x="590550" y="1832074"/>
            <a:ext cx="6853357"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1" i="0" spc="0">
                <a:solidFill>
                  <a:srgbClr val="202328"/>
                </a:solidFill>
                <a:latin typeface="Arial"/>
              </a:rPr>
              <a:t xml:space="preserve">Same Qwen3-8B coder and entropic-GRPO, different frozen strategists</a:t>
            </a:r>
            <a:endParaRPr lang="en-US"/>
          </a:p>
        </p:txBody>
      </p:sp>
      <p:sp>
        <p:nvSpPr>
          <p:cNvPr id="6" name="Frozen strategist"/>
          <p:cNvSpPr txBox="1"/>
          <p:nvPr/>
        </p:nvSpPr>
        <p:spPr>
          <a:xfrm rot="0">
            <a:off x="590550" y="2224980"/>
            <a:ext cx="1334661"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1" i="0" spc="0">
                <a:solidFill>
                  <a:srgbClr val="59616C"/>
                </a:solidFill>
                <a:latin typeface="Arial"/>
              </a:rPr>
              <a:t xml:space="preserve">Frozen strategist</a:t>
            </a:r>
            <a:endParaRPr lang="en-US"/>
          </a:p>
        </p:txBody>
      </p:sp>
      <p:sp>
        <p:nvSpPr>
          <p:cNvPr id="7" name="Programs"/>
          <p:cNvSpPr txBox="1"/>
          <p:nvPr/>
        </p:nvSpPr>
        <p:spPr>
          <a:xfrm rot="0">
            <a:off x="6630888" y="2224980"/>
            <a:ext cx="81822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1" i="0" spc="0">
                <a:solidFill>
                  <a:srgbClr val="59616C"/>
                </a:solidFill>
                <a:latin typeface="Arial"/>
              </a:rPr>
              <a:t xml:space="preserve">Programs</a:t>
            </a:r>
            <a:endParaRPr lang="en-US"/>
          </a:p>
        </p:txBody>
      </p:sp>
      <p:sp>
        <p:nvSpPr>
          <p:cNvPr id="8" name="Reward &gt; 0"/>
          <p:cNvSpPr txBox="1"/>
          <p:nvPr/>
        </p:nvSpPr>
        <p:spPr>
          <a:xfrm rot="0">
            <a:off x="8656439" y="2224980"/>
            <a:ext cx="91571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1" i="0" spc="0">
                <a:solidFill>
                  <a:srgbClr val="59616C"/>
                </a:solidFill>
                <a:latin typeface="Arial"/>
              </a:rPr>
              <a:t xml:space="preserve">Reward &gt; 0</a:t>
            </a:r>
            <a:endParaRPr lang="en-US"/>
          </a:p>
        </p:txBody>
      </p:sp>
      <p:sp>
        <p:nvSpPr>
          <p:cNvPr id="9" name="Best C₅ ↓"/>
          <p:cNvSpPr txBox="1"/>
          <p:nvPr/>
        </p:nvSpPr>
        <p:spPr>
          <a:xfrm rot="0">
            <a:off x="10862518" y="2224980"/>
            <a:ext cx="750362"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1" i="0" spc="0">
                <a:solidFill>
                  <a:srgbClr val="59616C"/>
                </a:solidFill>
                <a:latin typeface="Arial"/>
              </a:rPr>
              <a:t xml:space="preserve">Best C₅ ↓</a:t>
            </a:r>
            <a:endParaRPr lang="en-US"/>
          </a:p>
        </p:txBody>
      </p:sp>
      <p:sp>
        <p:nvSpPr>
          <p:cNvPr id="10" name="Qwen3-8B"/>
          <p:cNvSpPr txBox="1"/>
          <p:nvPr/>
        </p:nvSpPr>
        <p:spPr>
          <a:xfrm rot="0">
            <a:off x="590550" y="2623096"/>
            <a:ext cx="1011763"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1" i="0" spc="0">
                <a:solidFill>
                  <a:srgbClr val="202328"/>
                </a:solidFill>
                <a:latin typeface="Arial"/>
              </a:rPr>
              <a:t xml:space="preserve">Qwen3-8B</a:t>
            </a:r>
            <a:endParaRPr lang="en-US"/>
          </a:p>
        </p:txBody>
      </p:sp>
      <p:sp>
        <p:nvSpPr>
          <p:cNvPr id="11" name="6.6k"/>
          <p:cNvSpPr txBox="1"/>
          <p:nvPr/>
        </p:nvSpPr>
        <p:spPr>
          <a:xfrm rot="0">
            <a:off x="6981230" y="2623096"/>
            <a:ext cx="468838"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0" i="0" spc="0">
                <a:solidFill>
                  <a:srgbClr val="202328"/>
                </a:solidFill>
                <a:latin typeface="Arial"/>
              </a:rPr>
              <a:t xml:space="preserve">6.6k</a:t>
            </a:r>
            <a:endParaRPr lang="en-US"/>
          </a:p>
        </p:txBody>
      </p:sp>
      <p:sp>
        <p:nvSpPr>
          <p:cNvPr id="12" name="64.02%"/>
          <p:cNvSpPr txBox="1"/>
          <p:nvPr/>
        </p:nvSpPr>
        <p:spPr>
          <a:xfrm rot="0">
            <a:off x="8832503" y="2623096"/>
            <a:ext cx="740599"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0" i="0" spc="0">
                <a:solidFill>
                  <a:srgbClr val="202328"/>
                </a:solidFill>
                <a:latin typeface="Arial"/>
              </a:rPr>
              <a:t xml:space="preserve">64.02%</a:t>
            </a:r>
            <a:endParaRPr lang="en-US"/>
          </a:p>
        </p:txBody>
      </p:sp>
      <p:sp>
        <p:nvSpPr>
          <p:cNvPr id="13" name="0.381022"/>
          <p:cNvSpPr txBox="1"/>
          <p:nvPr/>
        </p:nvSpPr>
        <p:spPr>
          <a:xfrm rot="0">
            <a:off x="10732294" y="2623096"/>
            <a:ext cx="881539"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0" i="0" spc="0">
                <a:solidFill>
                  <a:srgbClr val="C7000B"/>
                </a:solidFill>
                <a:latin typeface="Arial"/>
              </a:rPr>
              <a:t xml:space="preserve">0.381022</a:t>
            </a:r>
            <a:endParaRPr lang="en-US"/>
          </a:p>
        </p:txBody>
      </p:sp>
      <p:sp>
        <p:nvSpPr>
          <p:cNvPr id="14" name="R1-Distill-Qwen-32B"/>
          <p:cNvSpPr txBox="1"/>
          <p:nvPr/>
        </p:nvSpPr>
        <p:spPr>
          <a:xfrm rot="0">
            <a:off x="590550" y="3039219"/>
            <a:ext cx="1856363"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1" i="0" spc="0">
                <a:solidFill>
                  <a:srgbClr val="202328"/>
                </a:solidFill>
                <a:latin typeface="Arial"/>
              </a:rPr>
              <a:t xml:space="preserve">R1-Distill-Qwen-32B</a:t>
            </a:r>
            <a:endParaRPr lang="en-US"/>
          </a:p>
        </p:txBody>
      </p:sp>
      <p:sp>
        <p:nvSpPr>
          <p:cNvPr id="15" name="3.1k"/>
          <p:cNvSpPr txBox="1"/>
          <p:nvPr/>
        </p:nvSpPr>
        <p:spPr>
          <a:xfrm rot="0">
            <a:off x="6981230" y="3039219"/>
            <a:ext cx="468838"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0" i="0" spc="0">
                <a:solidFill>
                  <a:srgbClr val="202328"/>
                </a:solidFill>
                <a:latin typeface="Arial"/>
              </a:rPr>
              <a:t xml:space="preserve">3.1k</a:t>
            </a:r>
            <a:endParaRPr lang="en-US"/>
          </a:p>
        </p:txBody>
      </p:sp>
      <p:sp>
        <p:nvSpPr>
          <p:cNvPr id="16" name="43.45%"/>
          <p:cNvSpPr txBox="1"/>
          <p:nvPr/>
        </p:nvSpPr>
        <p:spPr>
          <a:xfrm rot="0">
            <a:off x="8832503" y="3039219"/>
            <a:ext cx="740599"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0" i="0" spc="0">
                <a:solidFill>
                  <a:srgbClr val="202328"/>
                </a:solidFill>
                <a:latin typeface="Arial"/>
              </a:rPr>
              <a:t xml:space="preserve">43.45%</a:t>
            </a:r>
            <a:endParaRPr lang="en-US"/>
          </a:p>
        </p:txBody>
      </p:sp>
      <p:sp>
        <p:nvSpPr>
          <p:cNvPr id="17" name="0.380919"/>
          <p:cNvSpPr txBox="1"/>
          <p:nvPr/>
        </p:nvSpPr>
        <p:spPr>
          <a:xfrm rot="0">
            <a:off x="10732294" y="3039219"/>
            <a:ext cx="881539"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0" i="0" spc="0">
                <a:solidFill>
                  <a:srgbClr val="C7000B"/>
                </a:solidFill>
                <a:latin typeface="Arial"/>
              </a:rPr>
              <a:t xml:space="preserve">0.380919</a:t>
            </a:r>
            <a:endParaRPr lang="en-US"/>
          </a:p>
        </p:txBody>
      </p:sp>
      <p:sp>
        <p:nvSpPr>
          <p:cNvPr id="18" name="The R1 planner run reached a lower C₅ bound despite a lower positive-r"/>
          <p:cNvSpPr txBox="1"/>
          <p:nvPr/>
        </p:nvSpPr>
        <p:spPr>
          <a:xfrm rot="0">
            <a:off x="590550" y="3474393"/>
            <a:ext cx="6766054"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0" i="0" spc="0">
                <a:solidFill>
                  <a:srgbClr val="202328"/>
                </a:solidFill>
                <a:latin typeface="Arial"/>
              </a:rPr>
              <a:t xml:space="preserve">The R1 planner run reached a lower C₅ bound despite a lower positive-reward rate.</a:t>
            </a:r>
            <a:endParaRPr lang="en-US"/>
          </a:p>
        </p:txBody>
      </p:sp>
      <p:sp>
        <p:nvSpPr>
          <p:cNvPr id="19" name="Same R1-Distill-Qwen-32B strategist, different coder configurations"/>
          <p:cNvSpPr txBox="1"/>
          <p:nvPr/>
        </p:nvSpPr>
        <p:spPr>
          <a:xfrm rot="0">
            <a:off x="590550" y="3909120"/>
            <a:ext cx="6553170"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1" i="0" spc="0">
                <a:solidFill>
                  <a:srgbClr val="202328"/>
                </a:solidFill>
                <a:latin typeface="Arial"/>
              </a:rPr>
              <a:t xml:space="preserve">Same R1-Distill-Qwen-32B strategist, different coder configurations</a:t>
            </a:r>
            <a:endParaRPr lang="en-US"/>
          </a:p>
        </p:txBody>
      </p:sp>
      <p:sp>
        <p:nvSpPr>
          <p:cNvPr id="20" name="Coder and update"/>
          <p:cNvSpPr txBox="1"/>
          <p:nvPr/>
        </p:nvSpPr>
        <p:spPr>
          <a:xfrm rot="0">
            <a:off x="590550" y="4302026"/>
            <a:ext cx="1402229"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1" i="0" spc="0">
                <a:solidFill>
                  <a:srgbClr val="59616C"/>
                </a:solidFill>
                <a:latin typeface="Arial"/>
              </a:rPr>
              <a:t xml:space="preserve">Coder and update</a:t>
            </a:r>
            <a:endParaRPr lang="en-US"/>
          </a:p>
        </p:txBody>
      </p:sp>
      <p:sp>
        <p:nvSpPr>
          <p:cNvPr id="21" name="Programs"/>
          <p:cNvSpPr txBox="1"/>
          <p:nvPr/>
        </p:nvSpPr>
        <p:spPr>
          <a:xfrm rot="0">
            <a:off x="6630888" y="4302026"/>
            <a:ext cx="81822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1" i="0" spc="0">
                <a:solidFill>
                  <a:srgbClr val="59616C"/>
                </a:solidFill>
                <a:latin typeface="Arial"/>
              </a:rPr>
              <a:t xml:space="preserve">Programs</a:t>
            </a:r>
            <a:endParaRPr lang="en-US"/>
          </a:p>
        </p:txBody>
      </p:sp>
      <p:sp>
        <p:nvSpPr>
          <p:cNvPr id="22" name="Reward &gt; 0"/>
          <p:cNvSpPr txBox="1"/>
          <p:nvPr/>
        </p:nvSpPr>
        <p:spPr>
          <a:xfrm rot="0">
            <a:off x="8656439" y="4302026"/>
            <a:ext cx="91571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1" i="0" spc="0">
                <a:solidFill>
                  <a:srgbClr val="59616C"/>
                </a:solidFill>
                <a:latin typeface="Arial"/>
              </a:rPr>
              <a:t xml:space="preserve">Reward &gt; 0</a:t>
            </a:r>
            <a:endParaRPr lang="en-US"/>
          </a:p>
        </p:txBody>
      </p:sp>
      <p:sp>
        <p:nvSpPr>
          <p:cNvPr id="23" name="Best C₅ ↓"/>
          <p:cNvSpPr txBox="1"/>
          <p:nvPr/>
        </p:nvSpPr>
        <p:spPr>
          <a:xfrm rot="0">
            <a:off x="10862518" y="4302026"/>
            <a:ext cx="750362"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1" i="0" spc="0">
                <a:solidFill>
                  <a:srgbClr val="59616C"/>
                </a:solidFill>
                <a:latin typeface="Arial"/>
              </a:rPr>
              <a:t xml:space="preserve">Best C₅ ↓</a:t>
            </a:r>
            <a:endParaRPr lang="en-US"/>
          </a:p>
        </p:txBody>
      </p:sp>
      <p:sp>
        <p:nvSpPr>
          <p:cNvPr id="24" name="Qwen3-Coder-30B (SPO²)"/>
          <p:cNvSpPr txBox="1"/>
          <p:nvPr/>
        </p:nvSpPr>
        <p:spPr>
          <a:xfrm rot="0">
            <a:off x="590550" y="4700141"/>
            <a:ext cx="2308800"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1" i="0" spc="0">
                <a:solidFill>
                  <a:srgbClr val="202328"/>
                </a:solidFill>
                <a:latin typeface="Arial"/>
              </a:rPr>
              <a:t xml:space="preserve">Qwen3-Coder-30B (SPO²)</a:t>
            </a:r>
            <a:endParaRPr lang="en-US"/>
          </a:p>
        </p:txBody>
      </p:sp>
      <p:sp>
        <p:nvSpPr>
          <p:cNvPr id="25" name="4.8k"/>
          <p:cNvSpPr txBox="1"/>
          <p:nvPr/>
        </p:nvSpPr>
        <p:spPr>
          <a:xfrm rot="0">
            <a:off x="6981230" y="4700141"/>
            <a:ext cx="468838"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0" i="0" spc="0">
                <a:solidFill>
                  <a:srgbClr val="202328"/>
                </a:solidFill>
                <a:latin typeface="Arial"/>
              </a:rPr>
              <a:t xml:space="preserve">4.8k</a:t>
            </a:r>
            <a:endParaRPr lang="en-US"/>
          </a:p>
        </p:txBody>
      </p:sp>
      <p:sp>
        <p:nvSpPr>
          <p:cNvPr id="26" name="63.74%"/>
          <p:cNvSpPr txBox="1"/>
          <p:nvPr/>
        </p:nvSpPr>
        <p:spPr>
          <a:xfrm rot="0">
            <a:off x="8832503" y="4700141"/>
            <a:ext cx="740599"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0" i="0" spc="0">
                <a:solidFill>
                  <a:srgbClr val="202328"/>
                </a:solidFill>
                <a:latin typeface="Arial"/>
              </a:rPr>
              <a:t xml:space="preserve">63.74%</a:t>
            </a:r>
            <a:endParaRPr lang="en-US"/>
          </a:p>
        </p:txBody>
      </p:sp>
      <p:sp>
        <p:nvSpPr>
          <p:cNvPr id="27" name="0.380971"/>
          <p:cNvSpPr txBox="1"/>
          <p:nvPr/>
        </p:nvSpPr>
        <p:spPr>
          <a:xfrm rot="0">
            <a:off x="10732294" y="4700141"/>
            <a:ext cx="881539"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0" i="0" spc="0">
                <a:solidFill>
                  <a:srgbClr val="C7000B"/>
                </a:solidFill>
                <a:latin typeface="Arial"/>
              </a:rPr>
              <a:t xml:space="preserve">0.380971</a:t>
            </a:r>
            <a:endParaRPr lang="en-US"/>
          </a:p>
        </p:txBody>
      </p:sp>
      <p:sp>
        <p:nvSpPr>
          <p:cNvPr id="28" name="Qwen3-8B (Entropic-GRPO)"/>
          <p:cNvSpPr txBox="1"/>
          <p:nvPr/>
        </p:nvSpPr>
        <p:spPr>
          <a:xfrm rot="0">
            <a:off x="590550" y="5116264"/>
            <a:ext cx="2509718"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1" i="0" spc="0">
                <a:solidFill>
                  <a:srgbClr val="202328"/>
                </a:solidFill>
                <a:latin typeface="Arial"/>
              </a:rPr>
              <a:t xml:space="preserve">Qwen3-8B (Entropic-GRPO)</a:t>
            </a:r>
            <a:endParaRPr lang="en-US"/>
          </a:p>
        </p:txBody>
      </p:sp>
      <p:sp>
        <p:nvSpPr>
          <p:cNvPr id="29" name="3.1k"/>
          <p:cNvSpPr txBox="1"/>
          <p:nvPr/>
        </p:nvSpPr>
        <p:spPr>
          <a:xfrm rot="0">
            <a:off x="6981230" y="5116264"/>
            <a:ext cx="468838"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0" i="0" spc="0">
                <a:solidFill>
                  <a:srgbClr val="202328"/>
                </a:solidFill>
                <a:latin typeface="Arial"/>
              </a:rPr>
              <a:t xml:space="preserve">3.1k</a:t>
            </a:r>
            <a:endParaRPr lang="en-US"/>
          </a:p>
        </p:txBody>
      </p:sp>
      <p:sp>
        <p:nvSpPr>
          <p:cNvPr id="30" name="43.45%"/>
          <p:cNvSpPr txBox="1"/>
          <p:nvPr/>
        </p:nvSpPr>
        <p:spPr>
          <a:xfrm rot="0">
            <a:off x="8832503" y="5116264"/>
            <a:ext cx="740599"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0" i="0" spc="0">
                <a:solidFill>
                  <a:srgbClr val="202328"/>
                </a:solidFill>
                <a:latin typeface="Arial"/>
              </a:rPr>
              <a:t xml:space="preserve">43.45%</a:t>
            </a:r>
            <a:endParaRPr lang="en-US"/>
          </a:p>
        </p:txBody>
      </p:sp>
      <p:sp>
        <p:nvSpPr>
          <p:cNvPr id="31" name="0.380919"/>
          <p:cNvSpPr txBox="1"/>
          <p:nvPr/>
        </p:nvSpPr>
        <p:spPr>
          <a:xfrm rot="0">
            <a:off x="10732294" y="5116264"/>
            <a:ext cx="881539"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0" i="0" spc="0">
                <a:solidFill>
                  <a:srgbClr val="C7000B"/>
                </a:solidFill>
                <a:latin typeface="Arial"/>
              </a:rPr>
              <a:t xml:space="preserve">0.380919</a:t>
            </a:r>
            <a:endParaRPr lang="en-US"/>
          </a:p>
        </p:txBody>
      </p:sp>
      <p:sp>
        <p:nvSpPr>
          <p:cNvPr id="32" name="The Qwen3-8B run reached a lower bound than the Qwen3-Coder-30B run, b"/>
          <p:cNvSpPr txBox="1"/>
          <p:nvPr/>
        </p:nvSpPr>
        <p:spPr>
          <a:xfrm rot="0">
            <a:off x="590550" y="5551438"/>
            <a:ext cx="8828663"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0" i="0" spc="0">
                <a:solidFill>
                  <a:srgbClr val="202328"/>
                </a:solidFill>
                <a:latin typeface="Arial"/>
              </a:rPr>
              <a:t xml:space="preserve">The Qwen3-8B run reached a lower bound than the Qwen3-Coder-30B run, but its RL objective also differed.</a:t>
            </a:r>
            <a:endParaRPr lang="en-US"/>
          </a:p>
        </p:txBody>
      </p:sp>
      <p:sp>
        <p:nvSpPr>
          <p:cNvPr id="33"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34"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35" name="Page 14"/>
          <p:cNvSpPr txBox="1"/>
          <p:nvPr/>
        </p:nvSpPr>
        <p:spPr>
          <a:xfrm rot="0">
            <a:off x="5985867" y="6434138"/>
            <a:ext cx="50595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14</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Experiments: Two Runs of the Full Pipeline">
    <p:spTree>
      <p:nvGrpSpPr>
        <p:cNvPr id="1" name=""/>
        <p:cNvGrpSpPr/>
        <p:nvPr/>
      </p:nvGrpSpPr>
      <p:grpSpPr>
        <a:xfrm>
          <a:off x="0" y="0"/>
          <a:ext cx="0" cy="0"/>
          <a:chOff x="0" y="0"/>
          <a:chExt cx="0" cy="0"/>
        </a:xfrm>
      </p:grpSpPr>
      <p:pic>
        <p:nvPicPr>
          <p:cNvPr id="2" name="Experiments: Two Runs of the Full Pipeline graphic elements" descr="Experiments: Two Runs of the Full Pipeline graphic elements"/>
          <p:cNvPicPr>
            <a:picLocks noChangeAspect="1"/>
          </p:cNvPicPr>
          <p:nvPr/>
        </p:nvPicPr>
        <p:blipFill>
          <a:blip r:embed="rId2"/>
          <a:stretch>
            <a:fillRect/>
          </a:stretch>
        </p:blipFill>
        <p:spPr>
          <a:xfrm>
            <a:off x="0" y="0"/>
            <a:ext cx="12192000" cy="6858000"/>
          </a:xfrm>
          <a:prstGeom prst="rect">
            <a:avLst/>
          </a:prstGeom>
        </p:spPr>
      </p:pic>
      <p:sp>
        <p:nvSpPr>
          <p:cNvPr id="3" name="Experiments: Two Runs of the Full Pipeline"/>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Experiments: Two Runs of the Full Pipeline</a:t>
            </a:r>
            <a:endParaRPr lang="en-US"/>
          </a:p>
        </p:txBody>
      </p:sp>
      <p:sp>
        <p:nvSpPr>
          <p:cNvPr id="4" name="Same Qwen3.8-27B coder and frozen R1-0528-Qwen3-8B strategist. Both ru"/>
          <p:cNvSpPr txBox="1"/>
          <p:nvPr/>
        </p:nvSpPr>
        <p:spPr>
          <a:xfrm rot="0">
            <a:off x="590550" y="1362075"/>
            <a:ext cx="10069086"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Same Qwen3.8-27B coder and frozen R1-0528-Qwen3-8B strategist. Both runs use pilots and bandit follow-ups.</a:t>
            </a:r>
            <a:endParaRPr lang="en-US"/>
          </a:p>
        </p:txBody>
      </p:sp>
      <p:sp>
        <p:nvSpPr>
          <p:cNvPr id="5" name="SPO² run"/>
          <p:cNvSpPr txBox="1"/>
          <p:nvPr/>
        </p:nvSpPr>
        <p:spPr>
          <a:xfrm rot="0">
            <a:off x="885825" y="1860649"/>
            <a:ext cx="834688"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0" i="0" spc="0">
                <a:solidFill>
                  <a:srgbClr val="202328"/>
                </a:solidFill>
                <a:latin typeface="Arial"/>
              </a:rPr>
              <a:t xml:space="preserve">SPO² run</a:t>
            </a:r>
            <a:endParaRPr lang="en-US"/>
          </a:p>
        </p:txBody>
      </p:sp>
      <p:sp>
        <p:nvSpPr>
          <p:cNvPr id="6" name="Earlier entropic-GRPO run"/>
          <p:cNvSpPr txBox="1"/>
          <p:nvPr/>
        </p:nvSpPr>
        <p:spPr>
          <a:xfrm rot="0">
            <a:off x="2143423" y="1860649"/>
            <a:ext cx="2130534" cy="2095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350" b="0" i="0" spc="0">
                <a:solidFill>
                  <a:srgbClr val="202328"/>
                </a:solidFill>
                <a:latin typeface="Arial"/>
              </a:rPr>
              <a:t xml:space="preserve">Earlier entropic-GRPO run</a:t>
            </a:r>
            <a:endParaRPr lang="en-US"/>
          </a:p>
        </p:txBody>
      </p:sp>
      <p:sp>
        <p:nvSpPr>
          <p:cNvPr id="7" name="Best-so-far C₅ (lower is better)"/>
          <p:cNvSpPr txBox="1"/>
          <p:nvPr/>
        </p:nvSpPr>
        <p:spPr>
          <a:xfrm rot="0">
            <a:off x="1590675" y="2089249"/>
            <a:ext cx="2080171" cy="205829"/>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Best-so-far C₅ (lower is better)</a:t>
            </a:r>
            <a:endParaRPr lang="en-US"/>
          </a:p>
        </p:txBody>
      </p:sp>
      <p:sp>
        <p:nvSpPr>
          <p:cNvPr id="8" name="Observed bounds at step 6"/>
          <p:cNvSpPr txBox="1"/>
          <p:nvPr/>
        </p:nvSpPr>
        <p:spPr>
          <a:xfrm rot="0">
            <a:off x="7772400" y="2184499"/>
            <a:ext cx="2707749"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1" i="0" spc="0">
                <a:solidFill>
                  <a:srgbClr val="202328"/>
                </a:solidFill>
                <a:latin typeface="Arial"/>
              </a:rPr>
              <a:t xml:space="preserve">Observed bounds at step 6</a:t>
            </a:r>
            <a:endParaRPr lang="en-US"/>
          </a:p>
        </p:txBody>
      </p:sp>
      <p:sp>
        <p:nvSpPr>
          <p:cNvPr id="9" name="0.38098"/>
          <p:cNvSpPr txBox="1"/>
          <p:nvPr/>
        </p:nvSpPr>
        <p:spPr>
          <a:xfrm rot="0">
            <a:off x="944463" y="2477672"/>
            <a:ext cx="59858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0.38098</a:t>
            </a:r>
            <a:endParaRPr lang="en-US"/>
          </a:p>
        </p:txBody>
      </p:sp>
      <p:sp>
        <p:nvSpPr>
          <p:cNvPr id="10" name="Earlier entropic-GRPO"/>
          <p:cNvSpPr txBox="1"/>
          <p:nvPr/>
        </p:nvSpPr>
        <p:spPr>
          <a:xfrm rot="0">
            <a:off x="7772400" y="2596455"/>
            <a:ext cx="1937028"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0" i="0" spc="0">
                <a:solidFill>
                  <a:srgbClr val="202328"/>
                </a:solidFill>
                <a:latin typeface="Arial"/>
              </a:rPr>
              <a:t xml:space="preserve">Earlier entropic-GRPO</a:t>
            </a:r>
            <a:endParaRPr lang="en-US"/>
          </a:p>
        </p:txBody>
      </p:sp>
      <p:sp>
        <p:nvSpPr>
          <p:cNvPr id="11" name="0.380890913"/>
          <p:cNvSpPr txBox="1"/>
          <p:nvPr/>
        </p:nvSpPr>
        <p:spPr>
          <a:xfrm rot="0">
            <a:off x="7772400" y="2897386"/>
            <a:ext cx="1432679"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0" i="0" spc="0">
                <a:solidFill>
                  <a:srgbClr val="202328"/>
                </a:solidFill>
                <a:latin typeface="Arial"/>
              </a:rPr>
              <a:t xml:space="preserve">0.380890913</a:t>
            </a:r>
            <a:endParaRPr lang="en-US"/>
          </a:p>
        </p:txBody>
      </p:sp>
      <p:sp>
        <p:nvSpPr>
          <p:cNvPr id="12" name="0.38094"/>
          <p:cNvSpPr txBox="1"/>
          <p:nvPr/>
        </p:nvSpPr>
        <p:spPr>
          <a:xfrm rot="0">
            <a:off x="944463" y="3150334"/>
            <a:ext cx="59858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0.38094</a:t>
            </a:r>
            <a:endParaRPr lang="en-US"/>
          </a:p>
        </p:txBody>
      </p:sp>
      <p:sp>
        <p:nvSpPr>
          <p:cNvPr id="13" name="544 programs per step, 24 follow-ups per parent"/>
          <p:cNvSpPr txBox="1"/>
          <p:nvPr/>
        </p:nvSpPr>
        <p:spPr>
          <a:xfrm rot="0">
            <a:off x="7772400" y="3213497"/>
            <a:ext cx="3569732"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544 programs per step, 24 follow-ups per parent</a:t>
            </a:r>
            <a:endParaRPr lang="en-US"/>
          </a:p>
        </p:txBody>
      </p:sp>
      <p:sp>
        <p:nvSpPr>
          <p:cNvPr id="14" name="SPO²"/>
          <p:cNvSpPr txBox="1"/>
          <p:nvPr/>
        </p:nvSpPr>
        <p:spPr>
          <a:xfrm rot="0">
            <a:off x="7772400" y="3657302"/>
            <a:ext cx="569149" cy="2190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425" b="0" i="0" spc="0">
                <a:solidFill>
                  <a:srgbClr val="202328"/>
                </a:solidFill>
                <a:latin typeface="Arial"/>
              </a:rPr>
              <a:t xml:space="preserve">SPO²</a:t>
            </a:r>
            <a:endParaRPr lang="en-US"/>
          </a:p>
        </p:txBody>
      </p:sp>
      <p:sp>
        <p:nvSpPr>
          <p:cNvPr id="15" name="0.38090"/>
          <p:cNvSpPr txBox="1"/>
          <p:nvPr/>
        </p:nvSpPr>
        <p:spPr>
          <a:xfrm rot="0">
            <a:off x="944463" y="3822996"/>
            <a:ext cx="59858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0.38090</a:t>
            </a:r>
            <a:endParaRPr lang="en-US"/>
          </a:p>
        </p:txBody>
      </p:sp>
      <p:sp>
        <p:nvSpPr>
          <p:cNvPr id="16" name="0.380861410"/>
          <p:cNvSpPr txBox="1"/>
          <p:nvPr/>
        </p:nvSpPr>
        <p:spPr>
          <a:xfrm rot="0">
            <a:off x="7772400" y="3958233"/>
            <a:ext cx="1432679"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0" i="0" spc="0">
                <a:solidFill>
                  <a:srgbClr val="C7000B"/>
                </a:solidFill>
                <a:latin typeface="Arial"/>
              </a:rPr>
              <a:t xml:space="preserve">0.380861410</a:t>
            </a:r>
            <a:endParaRPr lang="en-US"/>
          </a:p>
        </p:txBody>
      </p:sp>
      <p:sp>
        <p:nvSpPr>
          <p:cNvPr id="17" name="512 programs per step, 20 follow-ups per parent"/>
          <p:cNvSpPr txBox="1"/>
          <p:nvPr/>
        </p:nvSpPr>
        <p:spPr>
          <a:xfrm rot="0">
            <a:off x="7772400" y="4274344"/>
            <a:ext cx="3569732"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512 programs per step, 20 follow-ups per parent</a:t>
            </a:r>
            <a:endParaRPr lang="en-US"/>
          </a:p>
        </p:txBody>
      </p:sp>
      <p:sp>
        <p:nvSpPr>
          <p:cNvPr id="18" name="0.38086"/>
          <p:cNvSpPr txBox="1"/>
          <p:nvPr/>
        </p:nvSpPr>
        <p:spPr>
          <a:xfrm rot="0">
            <a:off x="944463" y="4495658"/>
            <a:ext cx="59858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0.38086</a:t>
            </a:r>
            <a:endParaRPr lang="en-US"/>
          </a:p>
        </p:txBody>
      </p:sp>
      <p:sp>
        <p:nvSpPr>
          <p:cNvPr id="19" name="The runs also differ in context limits, reasoning"/>
          <p:cNvSpPr txBox="1"/>
          <p:nvPr/>
        </p:nvSpPr>
        <p:spPr>
          <a:xfrm rot="0">
            <a:off x="7772400" y="4718149"/>
            <a:ext cx="3449479"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The runs also differ in context limits, reasoning</a:t>
            </a:r>
            <a:endParaRPr lang="en-US"/>
          </a:p>
        </p:txBody>
      </p:sp>
      <p:sp>
        <p:nvSpPr>
          <p:cNvPr id="20" name="0"/>
          <p:cNvSpPr txBox="1"/>
          <p:nvPr/>
        </p:nvSpPr>
        <p:spPr>
          <a:xfrm rot="0">
            <a:off x="1548259" y="4794349"/>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a:t>
            </a:r>
            <a:endParaRPr lang="en-US"/>
          </a:p>
        </p:txBody>
      </p:sp>
      <p:sp>
        <p:nvSpPr>
          <p:cNvPr id="21" name="1"/>
          <p:cNvSpPr txBox="1"/>
          <p:nvPr/>
        </p:nvSpPr>
        <p:spPr>
          <a:xfrm rot="0">
            <a:off x="2497584" y="4794349"/>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a:t>
            </a:r>
            <a:endParaRPr lang="en-US"/>
          </a:p>
        </p:txBody>
      </p:sp>
      <p:sp>
        <p:nvSpPr>
          <p:cNvPr id="22" name="2"/>
          <p:cNvSpPr txBox="1"/>
          <p:nvPr/>
        </p:nvSpPr>
        <p:spPr>
          <a:xfrm rot="0">
            <a:off x="3446909" y="4794349"/>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2</a:t>
            </a:r>
            <a:endParaRPr lang="en-US"/>
          </a:p>
        </p:txBody>
      </p:sp>
      <p:sp>
        <p:nvSpPr>
          <p:cNvPr id="23" name="3"/>
          <p:cNvSpPr txBox="1"/>
          <p:nvPr/>
        </p:nvSpPr>
        <p:spPr>
          <a:xfrm rot="0">
            <a:off x="4396234" y="4794349"/>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3</a:t>
            </a:r>
            <a:endParaRPr lang="en-US"/>
          </a:p>
        </p:txBody>
      </p:sp>
      <p:sp>
        <p:nvSpPr>
          <p:cNvPr id="24" name="4"/>
          <p:cNvSpPr txBox="1"/>
          <p:nvPr/>
        </p:nvSpPr>
        <p:spPr>
          <a:xfrm rot="0">
            <a:off x="5345559" y="4794349"/>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4</a:t>
            </a:r>
            <a:endParaRPr lang="en-US"/>
          </a:p>
        </p:txBody>
      </p:sp>
      <p:sp>
        <p:nvSpPr>
          <p:cNvPr id="25" name="5"/>
          <p:cNvSpPr txBox="1"/>
          <p:nvPr/>
        </p:nvSpPr>
        <p:spPr>
          <a:xfrm rot="0">
            <a:off x="6294884" y="4794349"/>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5</a:t>
            </a:r>
            <a:endParaRPr lang="en-US"/>
          </a:p>
        </p:txBody>
      </p:sp>
      <p:sp>
        <p:nvSpPr>
          <p:cNvPr id="26" name="6"/>
          <p:cNvSpPr txBox="1"/>
          <p:nvPr/>
        </p:nvSpPr>
        <p:spPr>
          <a:xfrm rot="0">
            <a:off x="7244209" y="4794349"/>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6</a:t>
            </a:r>
            <a:endParaRPr lang="en-US"/>
          </a:p>
        </p:txBody>
      </p:sp>
      <p:sp>
        <p:nvSpPr>
          <p:cNvPr id="27" name="settings, and rollout budgets. This comparison"/>
          <p:cNvSpPr txBox="1"/>
          <p:nvPr/>
        </p:nvSpPr>
        <p:spPr>
          <a:xfrm rot="0">
            <a:off x="7772400" y="4944814"/>
            <a:ext cx="3413760"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settings, and rollout budgets. This comparison</a:t>
            </a:r>
            <a:endParaRPr lang="en-US"/>
          </a:p>
        </p:txBody>
      </p:sp>
      <p:sp>
        <p:nvSpPr>
          <p:cNvPr id="28" name="Completed step"/>
          <p:cNvSpPr txBox="1"/>
          <p:nvPr/>
        </p:nvSpPr>
        <p:spPr>
          <a:xfrm rot="0">
            <a:off x="3904952" y="4994374"/>
            <a:ext cx="1115020" cy="182687"/>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Completed step</a:t>
            </a:r>
            <a:endParaRPr lang="en-US"/>
          </a:p>
        </p:txBody>
      </p:sp>
      <p:sp>
        <p:nvSpPr>
          <p:cNvPr id="29" name="therefore cannot isolate the effect of the RL objective"/>
          <p:cNvSpPr txBox="1"/>
          <p:nvPr/>
        </p:nvSpPr>
        <p:spPr>
          <a:xfrm rot="0">
            <a:off x="7772400" y="5171480"/>
            <a:ext cx="3894028"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therefore cannot isolate the effect of the RL objective</a:t>
            </a:r>
            <a:endParaRPr lang="en-US"/>
          </a:p>
        </p:txBody>
      </p:sp>
      <p:sp>
        <p:nvSpPr>
          <p:cNvPr id="30" name="or allocator."/>
          <p:cNvSpPr txBox="1"/>
          <p:nvPr/>
        </p:nvSpPr>
        <p:spPr>
          <a:xfrm rot="0">
            <a:off x="7772400" y="5398145"/>
            <a:ext cx="950506"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or allocator.</a:t>
            </a:r>
            <a:endParaRPr lang="en-US"/>
          </a:p>
        </p:txBody>
      </p:sp>
      <p:sp>
        <p:nvSpPr>
          <p:cNvPr id="31"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32"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33" name="Page 15"/>
          <p:cNvSpPr txBox="1"/>
          <p:nvPr/>
        </p:nvSpPr>
        <p:spPr>
          <a:xfrm rot="0">
            <a:off x="5985867" y="6434138"/>
            <a:ext cx="50595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15</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Advantageous Effects: Saved Construction Evolution">
    <p:spTree>
      <p:nvGrpSpPr>
        <p:cNvPr id="1" name=""/>
        <p:cNvGrpSpPr/>
        <p:nvPr/>
      </p:nvGrpSpPr>
      <p:grpSpPr>
        <a:xfrm>
          <a:off x="0" y="0"/>
          <a:ext cx="0" cy="0"/>
          <a:chOff x="0" y="0"/>
          <a:chExt cx="0" cy="0"/>
        </a:xfrm>
      </p:grpSpPr>
      <p:pic>
        <p:nvPicPr>
          <p:cNvPr id="2" name="Advantageous Effects: Saved Construction Evolution graphic elements" descr="Advantageous Effects: Saved Construction Evolution graphic elements"/>
          <p:cNvPicPr>
            <a:picLocks noChangeAspect="1"/>
          </p:cNvPicPr>
          <p:nvPr/>
        </p:nvPicPr>
        <p:blipFill>
          <a:blip r:embed="rId2"/>
          <a:stretch>
            <a:fillRect/>
          </a:stretch>
        </p:blipFill>
        <p:spPr>
          <a:xfrm>
            <a:off x="0" y="0"/>
            <a:ext cx="12192000" cy="6858000"/>
          </a:xfrm>
          <a:prstGeom prst="rect">
            <a:avLst/>
          </a:prstGeom>
        </p:spPr>
      </p:pic>
      <p:sp>
        <p:nvSpPr>
          <p:cNvPr id="3" name="Advantageous Effects: Saved Construction Evolution"/>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Advantageous Effects: Saved Construction Evolution</a:t>
            </a:r>
            <a:endParaRPr lang="en-US"/>
          </a:p>
        </p:txBody>
      </p:sp>
      <p:sp>
        <p:nvSpPr>
          <p:cNvPr id="4" name="Each plot shows the step’s best h(x), with n equal-width pieces. Lower"/>
          <p:cNvSpPr txBox="1"/>
          <p:nvPr/>
        </p:nvSpPr>
        <p:spPr>
          <a:xfrm rot="0">
            <a:off x="590550" y="1362075"/>
            <a:ext cx="8674239"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Each plot shows the step’s best h(x), with n equal-width pieces. Lower C₅ means less peak overlap with shifted 1 − h(x).</a:t>
            </a:r>
            <a:endParaRPr lang="en-US"/>
          </a:p>
        </p:txBody>
      </p:sp>
      <p:sp>
        <p:nvSpPr>
          <p:cNvPr id="5" name="Step 0"/>
          <p:cNvSpPr txBox="1"/>
          <p:nvPr/>
        </p:nvSpPr>
        <p:spPr>
          <a:xfrm rot="0">
            <a:off x="590550" y="1722090"/>
            <a:ext cx="705148"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1" i="0" spc="0">
                <a:solidFill>
                  <a:srgbClr val="202328"/>
                </a:solidFill>
                <a:latin typeface="Arial"/>
              </a:rPr>
              <a:t xml:space="preserve">Step 0</a:t>
            </a:r>
            <a:endParaRPr lang="en-US"/>
          </a:p>
        </p:txBody>
      </p:sp>
      <p:sp>
        <p:nvSpPr>
          <p:cNvPr id="6" name="n = 180   C₅ = 0.380975069"/>
          <p:cNvSpPr txBox="1"/>
          <p:nvPr/>
        </p:nvSpPr>
        <p:spPr>
          <a:xfrm rot="0">
            <a:off x="3957489" y="1722090"/>
            <a:ext cx="2085171"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n = 180   C₅ = 0.380975069</a:t>
            </a:r>
            <a:endParaRPr lang="en-US"/>
          </a:p>
        </p:txBody>
      </p:sp>
      <p:sp>
        <p:nvSpPr>
          <p:cNvPr id="7" name="Step 3"/>
          <p:cNvSpPr txBox="1"/>
          <p:nvPr/>
        </p:nvSpPr>
        <p:spPr>
          <a:xfrm rot="0">
            <a:off x="6262688" y="1722090"/>
            <a:ext cx="705148"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1" i="0" spc="0">
                <a:solidFill>
                  <a:srgbClr val="202328"/>
                </a:solidFill>
                <a:latin typeface="Arial"/>
              </a:rPr>
              <a:t xml:space="preserve">Step 3</a:t>
            </a:r>
            <a:endParaRPr lang="en-US"/>
          </a:p>
        </p:txBody>
      </p:sp>
      <p:sp>
        <p:nvSpPr>
          <p:cNvPr id="8" name="n = 250   C₅ = 0.380870161"/>
          <p:cNvSpPr txBox="1"/>
          <p:nvPr/>
        </p:nvSpPr>
        <p:spPr>
          <a:xfrm rot="0">
            <a:off x="9629626" y="1722090"/>
            <a:ext cx="2085171"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n = 250   C₅ = 0.380870161</a:t>
            </a:r>
            <a:endParaRPr lang="en-US"/>
          </a:p>
        </p:txBody>
      </p:sp>
      <p:sp>
        <p:nvSpPr>
          <p:cNvPr id="9" name="1"/>
          <p:cNvSpPr txBox="1"/>
          <p:nvPr/>
        </p:nvSpPr>
        <p:spPr>
          <a:xfrm rot="0">
            <a:off x="1051024" y="1998315"/>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a:t>
            </a:r>
            <a:endParaRPr lang="en-US"/>
          </a:p>
        </p:txBody>
      </p:sp>
      <p:sp>
        <p:nvSpPr>
          <p:cNvPr id="10" name="1"/>
          <p:cNvSpPr txBox="1"/>
          <p:nvPr/>
        </p:nvSpPr>
        <p:spPr>
          <a:xfrm rot="0">
            <a:off x="6723162" y="1998315"/>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a:t>
            </a:r>
            <a:endParaRPr lang="en-US"/>
          </a:p>
        </p:txBody>
      </p:sp>
      <p:sp>
        <p:nvSpPr>
          <p:cNvPr id="11" name="0.5"/>
          <p:cNvSpPr txBox="1"/>
          <p:nvPr/>
        </p:nvSpPr>
        <p:spPr>
          <a:xfrm rot="0">
            <a:off x="923925" y="2526953"/>
            <a:ext cx="259556"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0.5</a:t>
            </a:r>
            <a:endParaRPr lang="en-US"/>
          </a:p>
        </p:txBody>
      </p:sp>
      <p:sp>
        <p:nvSpPr>
          <p:cNvPr id="12" name="0.5"/>
          <p:cNvSpPr txBox="1"/>
          <p:nvPr/>
        </p:nvSpPr>
        <p:spPr>
          <a:xfrm rot="0">
            <a:off x="6596063" y="2526953"/>
            <a:ext cx="259556"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0.5</a:t>
            </a:r>
            <a:endParaRPr lang="en-US"/>
          </a:p>
        </p:txBody>
      </p:sp>
      <p:sp>
        <p:nvSpPr>
          <p:cNvPr id="13" name="h(x)"/>
          <p:cNvSpPr txBox="1"/>
          <p:nvPr/>
        </p:nvSpPr>
        <p:spPr>
          <a:xfrm rot="0">
            <a:off x="611981" y="2476649"/>
            <a:ext cx="184472" cy="310158"/>
          </a:xfrm>
          <a:prstGeom prst="rect">
            <a:avLst/>
          </a:prstGeom>
          <a:noFill/>
          <a:ln>
            <a:noFill/>
          </a:ln>
        </p:spPr>
        <p:txBody>
          <a:bodyPr vert="vert270" wrap="none" lIns="0" tIns="0" rIns="0" bIns="0" anchor="ctr" vertOverflow="overflow" horzOverflow="overflow">
            <a:noAutofit/>
          </a:bodyPr>
          <a:lstStyle/>
          <a:p>
            <a:pPr algn="ctr">
              <a:lnSpc>
                <a:spcPct val="100000"/>
              </a:lnSpc>
              <a:spcBef>
                <a:spcPts val="0"/>
              </a:spcBef>
              <a:spcAft>
                <a:spcPts val="0"/>
              </a:spcAft>
              <a:buNone/>
            </a:pPr>
            <a:r>
              <a:rPr lang="en-US" sz="1200" b="0" i="0" spc="0">
                <a:solidFill>
                  <a:srgbClr val="606873"/>
                </a:solidFill>
                <a:latin typeface="Arial"/>
              </a:rPr>
              <a:t xml:space="preserve">h(x)</a:t>
            </a:r>
            <a:endParaRPr lang="en-US"/>
          </a:p>
        </p:txBody>
      </p:sp>
      <p:sp>
        <p:nvSpPr>
          <p:cNvPr id="14" name="h(x)"/>
          <p:cNvSpPr txBox="1"/>
          <p:nvPr/>
        </p:nvSpPr>
        <p:spPr>
          <a:xfrm rot="0">
            <a:off x="6284119" y="2476649"/>
            <a:ext cx="184472" cy="310158"/>
          </a:xfrm>
          <a:prstGeom prst="rect">
            <a:avLst/>
          </a:prstGeom>
          <a:noFill/>
          <a:ln>
            <a:noFill/>
          </a:ln>
        </p:spPr>
        <p:txBody>
          <a:bodyPr vert="vert270" wrap="none" lIns="0" tIns="0" rIns="0" bIns="0" anchor="ctr" vertOverflow="overflow" horzOverflow="overflow">
            <a:noAutofit/>
          </a:bodyPr>
          <a:lstStyle/>
          <a:p>
            <a:pPr algn="ctr">
              <a:lnSpc>
                <a:spcPct val="100000"/>
              </a:lnSpc>
              <a:spcBef>
                <a:spcPts val="0"/>
              </a:spcBef>
              <a:spcAft>
                <a:spcPts val="0"/>
              </a:spcAft>
              <a:buNone/>
            </a:pPr>
            <a:r>
              <a:rPr lang="en-US" sz="1200" b="0" i="0" spc="0">
                <a:solidFill>
                  <a:srgbClr val="606873"/>
                </a:solidFill>
                <a:latin typeface="Arial"/>
              </a:rPr>
              <a:t xml:space="preserve">h(x)</a:t>
            </a:r>
            <a:endParaRPr lang="en-US"/>
          </a:p>
        </p:txBody>
      </p:sp>
      <p:sp>
        <p:nvSpPr>
          <p:cNvPr id="15" name="0"/>
          <p:cNvSpPr txBox="1"/>
          <p:nvPr/>
        </p:nvSpPr>
        <p:spPr>
          <a:xfrm rot="0">
            <a:off x="1051024" y="3055590"/>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a:t>
            </a:r>
            <a:endParaRPr lang="en-US"/>
          </a:p>
        </p:txBody>
      </p:sp>
      <p:sp>
        <p:nvSpPr>
          <p:cNvPr id="16" name="0"/>
          <p:cNvSpPr txBox="1"/>
          <p:nvPr/>
        </p:nvSpPr>
        <p:spPr>
          <a:xfrm rot="0">
            <a:off x="6723162" y="3055590"/>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a:t>
            </a:r>
            <a:endParaRPr lang="en-US"/>
          </a:p>
        </p:txBody>
      </p:sp>
      <p:sp>
        <p:nvSpPr>
          <p:cNvPr id="17" name="0"/>
          <p:cNvSpPr txBox="1"/>
          <p:nvPr/>
        </p:nvSpPr>
        <p:spPr>
          <a:xfrm rot="0">
            <a:off x="1169640" y="3207990"/>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a:t>
            </a:r>
            <a:endParaRPr lang="en-US"/>
          </a:p>
        </p:txBody>
      </p:sp>
      <p:sp>
        <p:nvSpPr>
          <p:cNvPr id="18" name="1"/>
          <p:cNvSpPr txBox="1"/>
          <p:nvPr/>
        </p:nvSpPr>
        <p:spPr>
          <a:xfrm rot="0">
            <a:off x="3431828" y="3207990"/>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a:t>
            </a:r>
            <a:endParaRPr lang="en-US"/>
          </a:p>
        </p:txBody>
      </p:sp>
      <p:sp>
        <p:nvSpPr>
          <p:cNvPr id="19" name="2"/>
          <p:cNvSpPr txBox="1"/>
          <p:nvPr/>
        </p:nvSpPr>
        <p:spPr>
          <a:xfrm rot="0">
            <a:off x="5694015" y="3207990"/>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2</a:t>
            </a:r>
            <a:endParaRPr lang="en-US"/>
          </a:p>
        </p:txBody>
      </p:sp>
      <p:sp>
        <p:nvSpPr>
          <p:cNvPr id="20" name="0"/>
          <p:cNvSpPr txBox="1"/>
          <p:nvPr/>
        </p:nvSpPr>
        <p:spPr>
          <a:xfrm rot="0">
            <a:off x="6841778" y="3207990"/>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a:t>
            </a:r>
            <a:endParaRPr lang="en-US"/>
          </a:p>
        </p:txBody>
      </p:sp>
      <p:sp>
        <p:nvSpPr>
          <p:cNvPr id="21" name="1"/>
          <p:cNvSpPr txBox="1"/>
          <p:nvPr/>
        </p:nvSpPr>
        <p:spPr>
          <a:xfrm rot="0">
            <a:off x="9103965" y="3207990"/>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a:t>
            </a:r>
            <a:endParaRPr lang="en-US"/>
          </a:p>
        </p:txBody>
      </p:sp>
      <p:sp>
        <p:nvSpPr>
          <p:cNvPr id="22" name="2"/>
          <p:cNvSpPr txBox="1"/>
          <p:nvPr/>
        </p:nvSpPr>
        <p:spPr>
          <a:xfrm rot="0">
            <a:off x="11366153" y="3207990"/>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2</a:t>
            </a:r>
            <a:endParaRPr lang="en-US"/>
          </a:p>
        </p:txBody>
      </p:sp>
      <p:sp>
        <p:nvSpPr>
          <p:cNvPr id="23" name="x"/>
          <p:cNvSpPr txBox="1"/>
          <p:nvPr/>
        </p:nvSpPr>
        <p:spPr>
          <a:xfrm rot="0">
            <a:off x="3436144" y="3360390"/>
            <a:ext cx="123825"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x</a:t>
            </a:r>
            <a:endParaRPr lang="en-US"/>
          </a:p>
        </p:txBody>
      </p:sp>
      <p:sp>
        <p:nvSpPr>
          <p:cNvPr id="24" name="x"/>
          <p:cNvSpPr txBox="1"/>
          <p:nvPr/>
        </p:nvSpPr>
        <p:spPr>
          <a:xfrm rot="0">
            <a:off x="9108281" y="3360390"/>
            <a:ext cx="123825"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x</a:t>
            </a:r>
            <a:endParaRPr lang="en-US"/>
          </a:p>
        </p:txBody>
      </p:sp>
      <p:sp>
        <p:nvSpPr>
          <p:cNvPr id="25" name="Step 7"/>
          <p:cNvSpPr txBox="1"/>
          <p:nvPr/>
        </p:nvSpPr>
        <p:spPr>
          <a:xfrm rot="0">
            <a:off x="590550" y="3769965"/>
            <a:ext cx="705148"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1" i="0" spc="0">
                <a:solidFill>
                  <a:srgbClr val="202328"/>
                </a:solidFill>
                <a:latin typeface="Arial"/>
              </a:rPr>
              <a:t xml:space="preserve">Step 7</a:t>
            </a:r>
            <a:endParaRPr lang="en-US"/>
          </a:p>
        </p:txBody>
      </p:sp>
      <p:sp>
        <p:nvSpPr>
          <p:cNvPr id="26" name="n = 700   C₅ = 0.380861062"/>
          <p:cNvSpPr txBox="1"/>
          <p:nvPr/>
        </p:nvSpPr>
        <p:spPr>
          <a:xfrm rot="0">
            <a:off x="3957489" y="3769965"/>
            <a:ext cx="2085171"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n = 700   C₅ = 0.380861062</a:t>
            </a:r>
            <a:endParaRPr lang="en-US"/>
          </a:p>
        </p:txBody>
      </p:sp>
      <p:sp>
        <p:nvSpPr>
          <p:cNvPr id="27" name="Step 10"/>
          <p:cNvSpPr txBox="1"/>
          <p:nvPr/>
        </p:nvSpPr>
        <p:spPr>
          <a:xfrm rot="0">
            <a:off x="6262688" y="3769965"/>
            <a:ext cx="811113" cy="2286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00" b="1" i="0" spc="0">
                <a:solidFill>
                  <a:srgbClr val="202328"/>
                </a:solidFill>
                <a:latin typeface="Arial"/>
              </a:rPr>
              <a:t xml:space="preserve">Step 10</a:t>
            </a:r>
            <a:endParaRPr lang="en-US"/>
          </a:p>
        </p:txBody>
      </p:sp>
      <p:sp>
        <p:nvSpPr>
          <p:cNvPr id="28" name="n = 700   C₅ = 0.380860634"/>
          <p:cNvSpPr txBox="1"/>
          <p:nvPr/>
        </p:nvSpPr>
        <p:spPr>
          <a:xfrm rot="0">
            <a:off x="9629626" y="3769965"/>
            <a:ext cx="2085171"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n = 700   C₅ = 0.380860634</a:t>
            </a:r>
            <a:endParaRPr lang="en-US"/>
          </a:p>
        </p:txBody>
      </p:sp>
      <p:sp>
        <p:nvSpPr>
          <p:cNvPr id="29" name="1"/>
          <p:cNvSpPr txBox="1"/>
          <p:nvPr/>
        </p:nvSpPr>
        <p:spPr>
          <a:xfrm rot="0">
            <a:off x="1051024" y="4046190"/>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a:t>
            </a:r>
            <a:endParaRPr lang="en-US"/>
          </a:p>
        </p:txBody>
      </p:sp>
      <p:sp>
        <p:nvSpPr>
          <p:cNvPr id="30" name="1"/>
          <p:cNvSpPr txBox="1"/>
          <p:nvPr/>
        </p:nvSpPr>
        <p:spPr>
          <a:xfrm rot="0">
            <a:off x="6723162" y="4046190"/>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a:t>
            </a:r>
            <a:endParaRPr lang="en-US"/>
          </a:p>
        </p:txBody>
      </p:sp>
      <p:sp>
        <p:nvSpPr>
          <p:cNvPr id="31" name="0.5"/>
          <p:cNvSpPr txBox="1"/>
          <p:nvPr/>
        </p:nvSpPr>
        <p:spPr>
          <a:xfrm rot="0">
            <a:off x="923925" y="4574828"/>
            <a:ext cx="259556"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0.5</a:t>
            </a:r>
            <a:endParaRPr lang="en-US"/>
          </a:p>
        </p:txBody>
      </p:sp>
      <p:sp>
        <p:nvSpPr>
          <p:cNvPr id="32" name="0.5"/>
          <p:cNvSpPr txBox="1"/>
          <p:nvPr/>
        </p:nvSpPr>
        <p:spPr>
          <a:xfrm rot="0">
            <a:off x="6596063" y="4574828"/>
            <a:ext cx="259556"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0.5</a:t>
            </a:r>
            <a:endParaRPr lang="en-US"/>
          </a:p>
        </p:txBody>
      </p:sp>
      <p:sp>
        <p:nvSpPr>
          <p:cNvPr id="33" name="h(x)"/>
          <p:cNvSpPr txBox="1"/>
          <p:nvPr/>
        </p:nvSpPr>
        <p:spPr>
          <a:xfrm rot="0">
            <a:off x="611981" y="4524524"/>
            <a:ext cx="184472" cy="310158"/>
          </a:xfrm>
          <a:prstGeom prst="rect">
            <a:avLst/>
          </a:prstGeom>
          <a:noFill/>
          <a:ln>
            <a:noFill/>
          </a:ln>
        </p:spPr>
        <p:txBody>
          <a:bodyPr vert="vert270" wrap="none" lIns="0" tIns="0" rIns="0" bIns="0" anchor="ctr" vertOverflow="overflow" horzOverflow="overflow">
            <a:noAutofit/>
          </a:bodyPr>
          <a:lstStyle/>
          <a:p>
            <a:pPr algn="ctr">
              <a:lnSpc>
                <a:spcPct val="100000"/>
              </a:lnSpc>
              <a:spcBef>
                <a:spcPts val="0"/>
              </a:spcBef>
              <a:spcAft>
                <a:spcPts val="0"/>
              </a:spcAft>
              <a:buNone/>
            </a:pPr>
            <a:r>
              <a:rPr lang="en-US" sz="1200" b="0" i="0" spc="0">
                <a:solidFill>
                  <a:srgbClr val="606873"/>
                </a:solidFill>
                <a:latin typeface="Arial"/>
              </a:rPr>
              <a:t xml:space="preserve">h(x)</a:t>
            </a:r>
            <a:endParaRPr lang="en-US"/>
          </a:p>
        </p:txBody>
      </p:sp>
      <p:sp>
        <p:nvSpPr>
          <p:cNvPr id="34" name="h(x)"/>
          <p:cNvSpPr txBox="1"/>
          <p:nvPr/>
        </p:nvSpPr>
        <p:spPr>
          <a:xfrm rot="0">
            <a:off x="6284119" y="4524524"/>
            <a:ext cx="184472" cy="310158"/>
          </a:xfrm>
          <a:prstGeom prst="rect">
            <a:avLst/>
          </a:prstGeom>
          <a:noFill/>
          <a:ln>
            <a:noFill/>
          </a:ln>
        </p:spPr>
        <p:txBody>
          <a:bodyPr vert="vert270" wrap="none" lIns="0" tIns="0" rIns="0" bIns="0" anchor="ctr" vertOverflow="overflow" horzOverflow="overflow">
            <a:noAutofit/>
          </a:bodyPr>
          <a:lstStyle/>
          <a:p>
            <a:pPr algn="ctr">
              <a:lnSpc>
                <a:spcPct val="100000"/>
              </a:lnSpc>
              <a:spcBef>
                <a:spcPts val="0"/>
              </a:spcBef>
              <a:spcAft>
                <a:spcPts val="0"/>
              </a:spcAft>
              <a:buNone/>
            </a:pPr>
            <a:r>
              <a:rPr lang="en-US" sz="1200" b="0" i="0" spc="0">
                <a:solidFill>
                  <a:srgbClr val="606873"/>
                </a:solidFill>
                <a:latin typeface="Arial"/>
              </a:rPr>
              <a:t xml:space="preserve">h(x)</a:t>
            </a:r>
            <a:endParaRPr lang="en-US"/>
          </a:p>
        </p:txBody>
      </p:sp>
      <p:sp>
        <p:nvSpPr>
          <p:cNvPr id="35" name="0"/>
          <p:cNvSpPr txBox="1"/>
          <p:nvPr/>
        </p:nvSpPr>
        <p:spPr>
          <a:xfrm rot="0">
            <a:off x="1051024" y="5103465"/>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a:t>
            </a:r>
            <a:endParaRPr lang="en-US"/>
          </a:p>
        </p:txBody>
      </p:sp>
      <p:sp>
        <p:nvSpPr>
          <p:cNvPr id="36" name="0"/>
          <p:cNvSpPr txBox="1"/>
          <p:nvPr/>
        </p:nvSpPr>
        <p:spPr>
          <a:xfrm rot="0">
            <a:off x="6723162" y="5103465"/>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a:t>
            </a:r>
            <a:endParaRPr lang="en-US"/>
          </a:p>
        </p:txBody>
      </p:sp>
      <p:sp>
        <p:nvSpPr>
          <p:cNvPr id="37" name="0"/>
          <p:cNvSpPr txBox="1"/>
          <p:nvPr/>
        </p:nvSpPr>
        <p:spPr>
          <a:xfrm rot="0">
            <a:off x="1169640" y="5255865"/>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a:t>
            </a:r>
            <a:endParaRPr lang="en-US"/>
          </a:p>
        </p:txBody>
      </p:sp>
      <p:sp>
        <p:nvSpPr>
          <p:cNvPr id="38" name="1"/>
          <p:cNvSpPr txBox="1"/>
          <p:nvPr/>
        </p:nvSpPr>
        <p:spPr>
          <a:xfrm rot="0">
            <a:off x="3431828" y="5255865"/>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a:t>
            </a:r>
            <a:endParaRPr lang="en-US"/>
          </a:p>
        </p:txBody>
      </p:sp>
      <p:sp>
        <p:nvSpPr>
          <p:cNvPr id="39" name="2"/>
          <p:cNvSpPr txBox="1"/>
          <p:nvPr/>
        </p:nvSpPr>
        <p:spPr>
          <a:xfrm rot="0">
            <a:off x="5694015" y="5255865"/>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2</a:t>
            </a:r>
            <a:endParaRPr lang="en-US"/>
          </a:p>
        </p:txBody>
      </p:sp>
      <p:sp>
        <p:nvSpPr>
          <p:cNvPr id="40" name="0"/>
          <p:cNvSpPr txBox="1"/>
          <p:nvPr/>
        </p:nvSpPr>
        <p:spPr>
          <a:xfrm rot="0">
            <a:off x="6841778" y="5255865"/>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a:t>
            </a:r>
            <a:endParaRPr lang="en-US"/>
          </a:p>
        </p:txBody>
      </p:sp>
      <p:sp>
        <p:nvSpPr>
          <p:cNvPr id="41" name="1"/>
          <p:cNvSpPr txBox="1"/>
          <p:nvPr/>
        </p:nvSpPr>
        <p:spPr>
          <a:xfrm rot="0">
            <a:off x="9103965" y="5255865"/>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a:t>
            </a:r>
            <a:endParaRPr lang="en-US"/>
          </a:p>
        </p:txBody>
      </p:sp>
      <p:sp>
        <p:nvSpPr>
          <p:cNvPr id="42" name="2"/>
          <p:cNvSpPr txBox="1"/>
          <p:nvPr/>
        </p:nvSpPr>
        <p:spPr>
          <a:xfrm rot="0">
            <a:off x="11366153" y="5255865"/>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2</a:t>
            </a:r>
            <a:endParaRPr lang="en-US"/>
          </a:p>
        </p:txBody>
      </p:sp>
      <p:sp>
        <p:nvSpPr>
          <p:cNvPr id="43" name="x"/>
          <p:cNvSpPr txBox="1"/>
          <p:nvPr/>
        </p:nvSpPr>
        <p:spPr>
          <a:xfrm rot="0">
            <a:off x="3436144" y="5408265"/>
            <a:ext cx="123825"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x</a:t>
            </a:r>
            <a:endParaRPr lang="en-US"/>
          </a:p>
        </p:txBody>
      </p:sp>
      <p:sp>
        <p:nvSpPr>
          <p:cNvPr id="44" name="x"/>
          <p:cNvSpPr txBox="1"/>
          <p:nvPr/>
        </p:nvSpPr>
        <p:spPr>
          <a:xfrm rot="0">
            <a:off x="9108281" y="5408265"/>
            <a:ext cx="123825"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x</a:t>
            </a:r>
            <a:endParaRPr lang="en-US"/>
          </a:p>
        </p:txBody>
      </p:sp>
      <p:sp>
        <p:nvSpPr>
          <p:cNvPr id="45"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46"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47" name="Page 16"/>
          <p:cNvSpPr txBox="1"/>
          <p:nvPr/>
        </p:nvSpPr>
        <p:spPr>
          <a:xfrm rot="0">
            <a:off x="5985867" y="6434138"/>
            <a:ext cx="50595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16</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Advantageous Effects: Evaluated Scientific Result">
    <p:spTree>
      <p:nvGrpSpPr>
        <p:cNvPr id="1" name=""/>
        <p:cNvGrpSpPr/>
        <p:nvPr/>
      </p:nvGrpSpPr>
      <p:grpSpPr>
        <a:xfrm>
          <a:off x="0" y="0"/>
          <a:ext cx="0" cy="0"/>
          <a:chOff x="0" y="0"/>
          <a:chExt cx="0" cy="0"/>
        </a:xfrm>
      </p:grpSpPr>
      <p:pic>
        <p:nvPicPr>
          <p:cNvPr id="2" name="Advantageous Effects: Evaluated Scientific Result graphic elements" descr="Advantageous Effects: Evaluated Scientific Result graphic elements"/>
          <p:cNvPicPr>
            <a:picLocks noChangeAspect="1"/>
          </p:cNvPicPr>
          <p:nvPr/>
        </p:nvPicPr>
        <p:blipFill>
          <a:blip r:embed="rId2"/>
          <a:stretch>
            <a:fillRect/>
          </a:stretch>
        </p:blipFill>
        <p:spPr>
          <a:xfrm>
            <a:off x="0" y="0"/>
            <a:ext cx="12192000" cy="6858000"/>
          </a:xfrm>
          <a:prstGeom prst="rect">
            <a:avLst/>
          </a:prstGeom>
        </p:spPr>
      </p:pic>
      <p:sp>
        <p:nvSpPr>
          <p:cNvPr id="3" name="Advantageous Effects: Evaluated Scientific Result"/>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Advantageous Effects: Evaluated Scientific Result</a:t>
            </a:r>
            <a:endParaRPr lang="en-US"/>
          </a:p>
        </p:txBody>
      </p:sp>
      <p:sp>
        <p:nvSpPr>
          <p:cNvPr id="4" name="Best saved construction"/>
          <p:cNvSpPr txBox="1"/>
          <p:nvPr/>
        </p:nvSpPr>
        <p:spPr>
          <a:xfrm rot="0">
            <a:off x="590550" y="1352550"/>
            <a:ext cx="2697867"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1" i="0" spc="0">
                <a:solidFill>
                  <a:srgbClr val="202328"/>
                </a:solidFill>
                <a:latin typeface="Arial"/>
              </a:rPr>
              <a:t xml:space="preserve">Best saved construction</a:t>
            </a:r>
            <a:endParaRPr lang="en-US"/>
          </a:p>
        </p:txBody>
      </p:sp>
      <p:sp>
        <p:nvSpPr>
          <p:cNvPr id="5" name="Best-so-far C₅ bound"/>
          <p:cNvSpPr txBox="1"/>
          <p:nvPr/>
        </p:nvSpPr>
        <p:spPr>
          <a:xfrm rot="0">
            <a:off x="7231559" y="1352550"/>
            <a:ext cx="2319844" cy="2667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725" b="1" i="0" spc="0">
                <a:solidFill>
                  <a:srgbClr val="202328"/>
                </a:solidFill>
                <a:latin typeface="Arial"/>
              </a:rPr>
              <a:t xml:space="preserve">Best-so-far C₅ bound</a:t>
            </a:r>
            <a:endParaRPr lang="en-US"/>
          </a:p>
        </p:txBody>
      </p:sp>
      <p:sp>
        <p:nvSpPr>
          <p:cNvPr id="6" name="1"/>
          <p:cNvSpPr txBox="1"/>
          <p:nvPr/>
        </p:nvSpPr>
        <p:spPr>
          <a:xfrm rot="0">
            <a:off x="1073497" y="1835944"/>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a:t>
            </a:r>
            <a:endParaRPr lang="en-US"/>
          </a:p>
        </p:txBody>
      </p:sp>
      <p:sp>
        <p:nvSpPr>
          <p:cNvPr id="7" name="0.38098"/>
          <p:cNvSpPr txBox="1"/>
          <p:nvPr/>
        </p:nvSpPr>
        <p:spPr>
          <a:xfrm rot="0">
            <a:off x="7484418" y="2039656"/>
            <a:ext cx="59858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0.38098</a:t>
            </a:r>
            <a:endParaRPr lang="en-US"/>
          </a:p>
        </p:txBody>
      </p:sp>
      <p:sp>
        <p:nvSpPr>
          <p:cNvPr id="8" name="0.38094"/>
          <p:cNvSpPr txBox="1"/>
          <p:nvPr/>
        </p:nvSpPr>
        <p:spPr>
          <a:xfrm rot="0">
            <a:off x="7484418" y="2605523"/>
            <a:ext cx="59858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0.38094</a:t>
            </a:r>
            <a:endParaRPr lang="en-US"/>
          </a:p>
        </p:txBody>
      </p:sp>
      <p:sp>
        <p:nvSpPr>
          <p:cNvPr id="9" name="0.5"/>
          <p:cNvSpPr txBox="1"/>
          <p:nvPr/>
        </p:nvSpPr>
        <p:spPr>
          <a:xfrm rot="0">
            <a:off x="946398" y="2907506"/>
            <a:ext cx="259556"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0.5</a:t>
            </a:r>
            <a:endParaRPr lang="en-US"/>
          </a:p>
        </p:txBody>
      </p:sp>
      <p:sp>
        <p:nvSpPr>
          <p:cNvPr id="10" name="h(x)"/>
          <p:cNvSpPr txBox="1"/>
          <p:nvPr/>
        </p:nvSpPr>
        <p:spPr>
          <a:xfrm rot="0">
            <a:off x="634454" y="2857202"/>
            <a:ext cx="184472" cy="310158"/>
          </a:xfrm>
          <a:prstGeom prst="rect">
            <a:avLst/>
          </a:prstGeom>
          <a:noFill/>
          <a:ln>
            <a:noFill/>
          </a:ln>
        </p:spPr>
        <p:txBody>
          <a:bodyPr vert="vert270" wrap="none" lIns="0" tIns="0" rIns="0" bIns="0" anchor="ctr" vertOverflow="overflow" horzOverflow="overflow">
            <a:noAutofit/>
          </a:bodyPr>
          <a:lstStyle/>
          <a:p>
            <a:pPr algn="ctr">
              <a:lnSpc>
                <a:spcPct val="100000"/>
              </a:lnSpc>
              <a:spcBef>
                <a:spcPts val="0"/>
              </a:spcBef>
              <a:spcAft>
                <a:spcPts val="0"/>
              </a:spcAft>
              <a:buNone/>
            </a:pPr>
            <a:r>
              <a:rPr lang="en-US" sz="1200" b="0" i="0" spc="0">
                <a:solidFill>
                  <a:srgbClr val="606873"/>
                </a:solidFill>
                <a:latin typeface="Arial"/>
              </a:rPr>
              <a:t xml:space="preserve">h(x)</a:t>
            </a:r>
            <a:endParaRPr lang="en-US"/>
          </a:p>
        </p:txBody>
      </p:sp>
      <p:sp>
        <p:nvSpPr>
          <p:cNvPr id="11" name="0.38090"/>
          <p:cNvSpPr txBox="1"/>
          <p:nvPr/>
        </p:nvSpPr>
        <p:spPr>
          <a:xfrm rot="0">
            <a:off x="7484418" y="3171390"/>
            <a:ext cx="59858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0.38090</a:t>
            </a:r>
            <a:endParaRPr lang="en-US"/>
          </a:p>
        </p:txBody>
      </p:sp>
      <p:sp>
        <p:nvSpPr>
          <p:cNvPr id="12" name="SimpleTES reference: 0.380868"/>
          <p:cNvSpPr txBox="1"/>
          <p:nvPr/>
        </p:nvSpPr>
        <p:spPr>
          <a:xfrm rot="0">
            <a:off x="9162306" y="3494640"/>
            <a:ext cx="2216348" cy="182687"/>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SimpleTES reference: 0.380868</a:t>
            </a:r>
            <a:endParaRPr lang="en-US"/>
          </a:p>
        </p:txBody>
      </p:sp>
      <p:sp>
        <p:nvSpPr>
          <p:cNvPr id="13" name="0.38086"/>
          <p:cNvSpPr txBox="1"/>
          <p:nvPr/>
        </p:nvSpPr>
        <p:spPr>
          <a:xfrm rot="0">
            <a:off x="7484418" y="3737257"/>
            <a:ext cx="59858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0.38086</a:t>
            </a:r>
            <a:endParaRPr lang="en-US"/>
          </a:p>
        </p:txBody>
      </p:sp>
      <p:sp>
        <p:nvSpPr>
          <p:cNvPr id="14" name="0"/>
          <p:cNvSpPr txBox="1"/>
          <p:nvPr/>
        </p:nvSpPr>
        <p:spPr>
          <a:xfrm rot="0">
            <a:off x="1073497" y="3979069"/>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a:t>
            </a:r>
            <a:endParaRPr lang="en-US"/>
          </a:p>
        </p:txBody>
      </p:sp>
      <p:sp>
        <p:nvSpPr>
          <p:cNvPr id="15" name="0"/>
          <p:cNvSpPr txBox="1"/>
          <p:nvPr/>
        </p:nvSpPr>
        <p:spPr>
          <a:xfrm rot="0">
            <a:off x="8088213" y="4121944"/>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a:t>
            </a:r>
            <a:endParaRPr lang="en-US"/>
          </a:p>
        </p:txBody>
      </p:sp>
      <p:sp>
        <p:nvSpPr>
          <p:cNvPr id="16" name="2"/>
          <p:cNvSpPr txBox="1"/>
          <p:nvPr/>
        </p:nvSpPr>
        <p:spPr>
          <a:xfrm rot="0">
            <a:off x="8732103" y="4121944"/>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2</a:t>
            </a:r>
            <a:endParaRPr lang="en-US"/>
          </a:p>
        </p:txBody>
      </p:sp>
      <p:sp>
        <p:nvSpPr>
          <p:cNvPr id="17" name="4"/>
          <p:cNvSpPr txBox="1"/>
          <p:nvPr/>
        </p:nvSpPr>
        <p:spPr>
          <a:xfrm rot="0">
            <a:off x="9375993" y="4121944"/>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4</a:t>
            </a:r>
            <a:endParaRPr lang="en-US"/>
          </a:p>
        </p:txBody>
      </p:sp>
      <p:sp>
        <p:nvSpPr>
          <p:cNvPr id="18" name="6"/>
          <p:cNvSpPr txBox="1"/>
          <p:nvPr/>
        </p:nvSpPr>
        <p:spPr>
          <a:xfrm rot="0">
            <a:off x="10019883" y="4121944"/>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6</a:t>
            </a:r>
            <a:endParaRPr lang="en-US"/>
          </a:p>
        </p:txBody>
      </p:sp>
      <p:sp>
        <p:nvSpPr>
          <p:cNvPr id="19" name="8"/>
          <p:cNvSpPr txBox="1"/>
          <p:nvPr/>
        </p:nvSpPr>
        <p:spPr>
          <a:xfrm rot="0">
            <a:off x="10663773" y="4121944"/>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8</a:t>
            </a:r>
            <a:endParaRPr lang="en-US"/>
          </a:p>
        </p:txBody>
      </p:sp>
      <p:sp>
        <p:nvSpPr>
          <p:cNvPr id="20" name="10"/>
          <p:cNvSpPr txBox="1"/>
          <p:nvPr/>
        </p:nvSpPr>
        <p:spPr>
          <a:xfrm rot="0">
            <a:off x="11265322" y="4121944"/>
            <a:ext cx="217140"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10</a:t>
            </a:r>
            <a:endParaRPr lang="en-US"/>
          </a:p>
        </p:txBody>
      </p:sp>
      <p:sp>
        <p:nvSpPr>
          <p:cNvPr id="21" name="0"/>
          <p:cNvSpPr txBox="1"/>
          <p:nvPr/>
        </p:nvSpPr>
        <p:spPr>
          <a:xfrm rot="0">
            <a:off x="1192113" y="4131469"/>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0</a:t>
            </a:r>
            <a:endParaRPr lang="en-US"/>
          </a:p>
        </p:txBody>
      </p:sp>
      <p:sp>
        <p:nvSpPr>
          <p:cNvPr id="22" name="1"/>
          <p:cNvSpPr txBox="1"/>
          <p:nvPr/>
        </p:nvSpPr>
        <p:spPr>
          <a:xfrm rot="0">
            <a:off x="3930551" y="4131469"/>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1</a:t>
            </a:r>
            <a:endParaRPr lang="en-US"/>
          </a:p>
        </p:txBody>
      </p:sp>
      <p:sp>
        <p:nvSpPr>
          <p:cNvPr id="23" name="2"/>
          <p:cNvSpPr txBox="1"/>
          <p:nvPr/>
        </p:nvSpPr>
        <p:spPr>
          <a:xfrm rot="0">
            <a:off x="6668988" y="4131469"/>
            <a:ext cx="132457"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2</a:t>
            </a:r>
            <a:endParaRPr lang="en-US"/>
          </a:p>
        </p:txBody>
      </p:sp>
      <p:sp>
        <p:nvSpPr>
          <p:cNvPr id="24" name="x"/>
          <p:cNvSpPr txBox="1"/>
          <p:nvPr/>
        </p:nvSpPr>
        <p:spPr>
          <a:xfrm rot="0">
            <a:off x="3934867" y="4321969"/>
            <a:ext cx="123825" cy="1809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x</a:t>
            </a:r>
            <a:endParaRPr lang="en-US"/>
          </a:p>
        </p:txBody>
      </p:sp>
      <p:sp>
        <p:nvSpPr>
          <p:cNvPr id="25" name="Completed step"/>
          <p:cNvSpPr txBox="1"/>
          <p:nvPr/>
        </p:nvSpPr>
        <p:spPr>
          <a:xfrm rot="0">
            <a:off x="9206657" y="4321969"/>
            <a:ext cx="1115020" cy="182687"/>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00" b="0" i="0" spc="0">
                <a:solidFill>
                  <a:srgbClr val="606873"/>
                </a:solidFill>
                <a:latin typeface="Arial"/>
              </a:rPr>
              <a:t xml:space="preserve">Completed step</a:t>
            </a:r>
            <a:endParaRPr lang="en-US"/>
          </a:p>
        </p:txBody>
      </p:sp>
      <p:sp>
        <p:nvSpPr>
          <p:cNvPr id="26" name="700 equal-width pieces, Qwen3.8-27B coder"/>
          <p:cNvSpPr txBox="1"/>
          <p:nvPr/>
        </p:nvSpPr>
        <p:spPr>
          <a:xfrm rot="0">
            <a:off x="2165300" y="4502944"/>
            <a:ext cx="3299906"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700 equal-width pieces, Qwen3.8-27B coder</a:t>
            </a:r>
            <a:endParaRPr lang="en-US"/>
          </a:p>
        </p:txBody>
      </p:sp>
      <p:sp>
        <p:nvSpPr>
          <p:cNvPr id="27" name="The full pipeline found a construction below the"/>
          <p:cNvSpPr txBox="1"/>
          <p:nvPr/>
        </p:nvSpPr>
        <p:spPr>
          <a:xfrm rot="0">
            <a:off x="7839075" y="4943475"/>
            <a:ext cx="3489067"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The full pipeline found a construction below the</a:t>
            </a:r>
            <a:endParaRPr lang="en-US"/>
          </a:p>
        </p:txBody>
      </p:sp>
      <p:sp>
        <p:nvSpPr>
          <p:cNvPr id="28" name="C₅ ≤ 0.380860634340"/>
          <p:cNvSpPr txBox="1"/>
          <p:nvPr/>
        </p:nvSpPr>
        <p:spPr>
          <a:xfrm rot="0">
            <a:off x="590550" y="5026223"/>
            <a:ext cx="3711922" cy="4381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3000" b="1" i="0" spc="-90">
                <a:solidFill>
                  <a:srgbClr val="C7000B"/>
                </a:solidFill>
                <a:latin typeface="Arial"/>
              </a:rPr>
              <a:t xml:space="preserve">C₅ ≤ 0.380860634340</a:t>
            </a:r>
            <a:endParaRPr lang="en-US"/>
          </a:p>
        </p:txBody>
      </p:sp>
      <p:sp>
        <p:nvSpPr>
          <p:cNvPr id="29" name="historical reference of 0.380868. Re-evaluating its"/>
          <p:cNvSpPr txBox="1"/>
          <p:nvPr/>
        </p:nvSpPr>
        <p:spPr>
          <a:xfrm rot="0">
            <a:off x="7839075" y="5170140"/>
            <a:ext cx="3677781"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historical reference of 0.380868. Re-evaluating its</a:t>
            </a:r>
            <a:endParaRPr lang="en-US"/>
          </a:p>
        </p:txBody>
      </p:sp>
      <p:sp>
        <p:nvSpPr>
          <p:cNvPr id="30" name="saved array reproduces the bound shown here."/>
          <p:cNvSpPr txBox="1"/>
          <p:nvPr/>
        </p:nvSpPr>
        <p:spPr>
          <a:xfrm rot="0">
            <a:off x="7839075" y="5396805"/>
            <a:ext cx="3506926"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0" i="0" spc="0">
                <a:solidFill>
                  <a:srgbClr val="606873"/>
                </a:solidFill>
                <a:latin typeface="Arial"/>
              </a:rPr>
              <a:t xml:space="preserve">saved array reproduces the bound shown here.</a:t>
            </a:r>
            <a:endParaRPr lang="en-US"/>
          </a:p>
        </p:txBody>
      </p:sp>
      <p:sp>
        <p:nvSpPr>
          <p:cNvPr id="31"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32"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33" name="Page 17"/>
          <p:cNvSpPr txBox="1"/>
          <p:nvPr/>
        </p:nvSpPr>
        <p:spPr>
          <a:xfrm rot="0">
            <a:off x="5985867" y="6434138"/>
            <a:ext cx="50595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17</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Value Statement for Obtaining a Patent">
    <p:spTree>
      <p:nvGrpSpPr>
        <p:cNvPr id="1" name=""/>
        <p:cNvGrpSpPr/>
        <p:nvPr/>
      </p:nvGrpSpPr>
      <p:grpSpPr>
        <a:xfrm>
          <a:off x="0" y="0"/>
          <a:ext cx="0" cy="0"/>
          <a:chOff x="0" y="0"/>
          <a:chExt cx="0" cy="0"/>
        </a:xfrm>
      </p:grpSpPr>
      <p:pic>
        <p:nvPicPr>
          <p:cNvPr id="2" name="Value Statement for Obtaining a Patent graphic elements" descr="Value Statement for Obtaining a Patent graphic elements"/>
          <p:cNvPicPr>
            <a:picLocks noChangeAspect="1"/>
          </p:cNvPicPr>
          <p:nvPr/>
        </p:nvPicPr>
        <p:blipFill>
          <a:blip r:embed="rId2"/>
          <a:stretch>
            <a:fillRect/>
          </a:stretch>
        </p:blipFill>
        <p:spPr>
          <a:xfrm>
            <a:off x="0" y="0"/>
            <a:ext cx="12192000" cy="6858000"/>
          </a:xfrm>
          <a:prstGeom prst="rect">
            <a:avLst/>
          </a:prstGeom>
        </p:spPr>
      </p:pic>
      <p:sp>
        <p:nvSpPr>
          <p:cNvPr id="3" name="Value Statement for Obtaining a Patent"/>
          <p:cNvSpPr txBox="1"/>
          <p:nvPr/>
        </p:nvSpPr>
        <p:spPr>
          <a:xfrm rot="0">
            <a:off x="590550" y="438150"/>
            <a:ext cx="11010900" cy="3714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2475" b="1" i="0" spc="-45">
                <a:solidFill>
                  <a:srgbClr val="202328"/>
                </a:solidFill>
                <a:latin typeface="Arial"/>
              </a:rPr>
              <a:t xml:space="preserve">Value Statement for Obtaining a Patent</a:t>
            </a:r>
            <a:endParaRPr lang="en-US"/>
          </a:p>
        </p:txBody>
      </p:sp>
      <p:sp>
        <p:nvSpPr>
          <p:cNvPr id="4" name="Aspect"/>
          <p:cNvSpPr txBox="1"/>
          <p:nvPr/>
        </p:nvSpPr>
        <p:spPr>
          <a:xfrm rot="0">
            <a:off x="590550" y="1466850"/>
            <a:ext cx="653296"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1" i="0" spc="0">
                <a:solidFill>
                  <a:srgbClr val="59616C"/>
                </a:solidFill>
                <a:latin typeface="Arial"/>
              </a:rPr>
              <a:t xml:space="preserve">Aspect</a:t>
            </a:r>
            <a:endParaRPr lang="en-US"/>
          </a:p>
        </p:txBody>
      </p:sp>
      <p:sp>
        <p:nvSpPr>
          <p:cNvPr id="5" name="Proposed patent value"/>
          <p:cNvSpPr txBox="1"/>
          <p:nvPr/>
        </p:nvSpPr>
        <p:spPr>
          <a:xfrm rot="0">
            <a:off x="2590800" y="1466850"/>
            <a:ext cx="1850023" cy="2000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275" b="1" i="0" spc="0">
                <a:solidFill>
                  <a:srgbClr val="59616C"/>
                </a:solidFill>
                <a:latin typeface="Arial"/>
              </a:rPr>
              <a:t xml:space="preserve">Proposed patent value</a:t>
            </a:r>
            <a:endParaRPr lang="en-US"/>
          </a:p>
        </p:txBody>
      </p:sp>
      <p:sp>
        <p:nvSpPr>
          <p:cNvPr id="6" name="Technical"/>
          <p:cNvSpPr txBox="1"/>
          <p:nvPr/>
        </p:nvSpPr>
        <p:spPr>
          <a:xfrm rot="0">
            <a:off x="590550" y="1952030"/>
            <a:ext cx="1047869"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1" i="0" spc="0">
                <a:solidFill>
                  <a:srgbClr val="202328"/>
                </a:solidFill>
                <a:latin typeface="Arial"/>
              </a:rPr>
              <a:t xml:space="preserve">Technical</a:t>
            </a:r>
            <a:endParaRPr lang="en-US"/>
          </a:p>
        </p:txBody>
      </p:sp>
      <p:sp>
        <p:nvSpPr>
          <p:cNvPr id="7" name="A frozen LLM proposes plans. Pilot outcomes allocate further programs,"/>
          <p:cNvSpPr txBox="1"/>
          <p:nvPr/>
        </p:nvSpPr>
        <p:spPr>
          <a:xfrm rot="0">
            <a:off x="2590800" y="1952030"/>
            <a:ext cx="8823394"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A frozen LLM proposes plans. Pilot outcomes allocate further programs, while evaluated programs</a:t>
            </a:r>
            <a:endParaRPr lang="en-US"/>
          </a:p>
        </p:txBody>
      </p:sp>
      <p:sp>
        <p:nvSpPr>
          <p:cNvPr id="8" name="contribution"/>
          <p:cNvSpPr txBox="1"/>
          <p:nvPr/>
        </p:nvSpPr>
        <p:spPr>
          <a:xfrm rot="0">
            <a:off x="590550" y="2222004"/>
            <a:ext cx="1306681"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1" i="0" spc="0">
                <a:solidFill>
                  <a:srgbClr val="202328"/>
                </a:solidFill>
                <a:latin typeface="Arial"/>
              </a:rPr>
              <a:t xml:space="preserve">contribution</a:t>
            </a:r>
            <a:endParaRPr lang="en-US"/>
          </a:p>
        </p:txBody>
      </p:sp>
      <p:sp>
        <p:nvSpPr>
          <p:cNvPr id="9" name="train a shared LLM and update the search archive."/>
          <p:cNvSpPr txBox="1"/>
          <p:nvPr/>
        </p:nvSpPr>
        <p:spPr>
          <a:xfrm rot="0">
            <a:off x="2590800" y="2222004"/>
            <a:ext cx="4610070"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train a shared LLM and update the search archive.</a:t>
            </a:r>
            <a:endParaRPr lang="en-US"/>
          </a:p>
        </p:txBody>
      </p:sp>
      <p:sp>
        <p:nvSpPr>
          <p:cNvPr id="10" name="Potential use"/>
          <p:cNvSpPr txBox="1"/>
          <p:nvPr/>
        </p:nvSpPr>
        <p:spPr>
          <a:xfrm rot="0">
            <a:off x="590550" y="2730103"/>
            <a:ext cx="1384965"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1" i="0" spc="0">
                <a:solidFill>
                  <a:srgbClr val="202328"/>
                </a:solidFill>
                <a:latin typeface="Arial"/>
              </a:rPr>
              <a:t xml:space="preserve">Potential use</a:t>
            </a:r>
            <a:endParaRPr lang="en-US"/>
          </a:p>
        </p:txBody>
      </p:sp>
      <p:sp>
        <p:nvSpPr>
          <p:cNvPr id="11" name="Tasks where a generated program returns a candidate and an evaluator c"/>
          <p:cNvSpPr txBox="1"/>
          <p:nvPr/>
        </p:nvSpPr>
        <p:spPr>
          <a:xfrm rot="0">
            <a:off x="2590800" y="2730103"/>
            <a:ext cx="8835003"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Tasks where a generated program returns a candidate and an evaluator checks its constraints and</a:t>
            </a:r>
            <a:endParaRPr lang="en-US"/>
          </a:p>
        </p:txBody>
      </p:sp>
      <p:sp>
        <p:nvSpPr>
          <p:cNvPr id="12" name="score."/>
          <p:cNvSpPr txBox="1"/>
          <p:nvPr/>
        </p:nvSpPr>
        <p:spPr>
          <a:xfrm rot="0">
            <a:off x="2590800" y="3000077"/>
            <a:ext cx="684728"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score.</a:t>
            </a:r>
            <a:endParaRPr lang="en-US"/>
          </a:p>
        </p:txBody>
      </p:sp>
      <p:sp>
        <p:nvSpPr>
          <p:cNvPr id="13" name="Detection"/>
          <p:cNvSpPr txBox="1"/>
          <p:nvPr/>
        </p:nvSpPr>
        <p:spPr>
          <a:xfrm rot="0">
            <a:off x="590550" y="3508177"/>
            <a:ext cx="1051441"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1" i="0" spc="0">
                <a:solidFill>
                  <a:srgbClr val="202328"/>
                </a:solidFill>
                <a:latin typeface="Arial"/>
              </a:rPr>
              <a:t xml:space="preserve">Detection</a:t>
            </a:r>
            <a:endParaRPr lang="en-US"/>
          </a:p>
        </p:txBody>
      </p:sp>
      <p:sp>
        <p:nvSpPr>
          <p:cNvPr id="14" name="Prompt records show the two model roles. Allocation and training logs "/>
          <p:cNvSpPr txBox="1"/>
          <p:nvPr/>
        </p:nvSpPr>
        <p:spPr>
          <a:xfrm rot="0">
            <a:off x="2590800" y="3508177"/>
            <a:ext cx="8923407"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Prompt records show the two model roles. Allocation and training logs show how pilot outcomes set</a:t>
            </a:r>
            <a:endParaRPr lang="en-US"/>
          </a:p>
        </p:txBody>
      </p:sp>
      <p:sp>
        <p:nvSpPr>
          <p:cNvPr id="15" name="budgets, how the historical baseline changes, and when updates occur."/>
          <p:cNvSpPr txBox="1"/>
          <p:nvPr/>
        </p:nvSpPr>
        <p:spPr>
          <a:xfrm rot="0">
            <a:off x="2590800" y="3778151"/>
            <a:ext cx="6456283"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budgets, how the historical baseline changes, and when updates occur.</a:t>
            </a:r>
            <a:endParaRPr lang="en-US"/>
          </a:p>
        </p:txBody>
      </p:sp>
      <p:sp>
        <p:nvSpPr>
          <p:cNvPr id="16" name="Alternative designs"/>
          <p:cNvSpPr txBox="1"/>
          <p:nvPr/>
        </p:nvSpPr>
        <p:spPr>
          <a:xfrm rot="0">
            <a:off x="590550" y="4286250"/>
            <a:ext cx="1985337"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1" i="0" spc="0">
                <a:solidFill>
                  <a:srgbClr val="202328"/>
                </a:solidFill>
                <a:latin typeface="Arial"/>
              </a:rPr>
              <a:t xml:space="preserve">Alternative designs</a:t>
            </a:r>
            <a:endParaRPr lang="en-US"/>
          </a:p>
        </p:txBody>
      </p:sp>
      <p:sp>
        <p:nvSpPr>
          <p:cNvPr id="17" name="Uniform allocation and group-relative learning are alternatives. Isola"/>
          <p:cNvSpPr txBox="1"/>
          <p:nvPr/>
        </p:nvSpPr>
        <p:spPr>
          <a:xfrm rot="0">
            <a:off x="2590800" y="4286250"/>
            <a:ext cx="8319462"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Uniform allocation and group-relative learning are alternatives. Isolating their effects requires</a:t>
            </a:r>
            <a:endParaRPr lang="en-US"/>
          </a:p>
        </p:txBody>
      </p:sp>
      <p:sp>
        <p:nvSpPr>
          <p:cNvPr id="18" name="matched-setting experiments."/>
          <p:cNvSpPr txBox="1"/>
          <p:nvPr/>
        </p:nvSpPr>
        <p:spPr>
          <a:xfrm rot="0">
            <a:off x="2590800" y="4556224"/>
            <a:ext cx="2763857"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matched-setting experiments.</a:t>
            </a:r>
            <a:endParaRPr lang="en-US"/>
          </a:p>
        </p:txBody>
      </p:sp>
      <p:sp>
        <p:nvSpPr>
          <p:cNvPr id="19" name="Standards"/>
          <p:cNvSpPr txBox="1"/>
          <p:nvPr/>
        </p:nvSpPr>
        <p:spPr>
          <a:xfrm rot="0">
            <a:off x="590550" y="5064323"/>
            <a:ext cx="1118265"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1" i="0" spc="0">
                <a:solidFill>
                  <a:srgbClr val="202328"/>
                </a:solidFill>
                <a:latin typeface="Arial"/>
              </a:rPr>
              <a:t xml:space="preserve">Standards</a:t>
            </a:r>
            <a:endParaRPr lang="en-US"/>
          </a:p>
        </p:txBody>
      </p:sp>
      <p:sp>
        <p:nvSpPr>
          <p:cNvPr id="20" name="No direct mandatory standards relevance identified in the supplied mat"/>
          <p:cNvSpPr txBox="1"/>
          <p:nvPr/>
        </p:nvSpPr>
        <p:spPr>
          <a:xfrm rot="0">
            <a:off x="2590800" y="5064323"/>
            <a:ext cx="6922413"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0" i="0" spc="0">
                <a:solidFill>
                  <a:srgbClr val="202328"/>
                </a:solidFill>
                <a:latin typeface="Arial"/>
              </a:rPr>
              <a:t xml:space="preserve">No direct mandatory standards relevance identified in the supplied materials.</a:t>
            </a:r>
            <a:endParaRPr lang="en-US"/>
          </a:p>
        </p:txBody>
      </p:sp>
      <p:sp>
        <p:nvSpPr>
          <p:cNvPr id="21" name="relevance"/>
          <p:cNvSpPr txBox="1"/>
          <p:nvPr/>
        </p:nvSpPr>
        <p:spPr>
          <a:xfrm rot="0">
            <a:off x="590550" y="5334298"/>
            <a:ext cx="1063198" cy="23812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575" b="1" i="0" spc="0">
                <a:solidFill>
                  <a:srgbClr val="202328"/>
                </a:solidFill>
                <a:latin typeface="Arial"/>
              </a:rPr>
              <a:t xml:space="preserve">relevance</a:t>
            </a:r>
            <a:endParaRPr lang="en-US"/>
          </a:p>
        </p:txBody>
      </p:sp>
      <p:sp>
        <p:nvSpPr>
          <p:cNvPr id="22"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23"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24" name="Page 18"/>
          <p:cNvSpPr txBox="1"/>
          <p:nvPr/>
        </p:nvSpPr>
        <p:spPr>
          <a:xfrm rot="0">
            <a:off x="5985867" y="6434138"/>
            <a:ext cx="50595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18</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Thank you">
    <p:spTree>
      <p:nvGrpSpPr>
        <p:cNvPr id="1" name=""/>
        <p:cNvGrpSpPr/>
        <p:nvPr/>
      </p:nvGrpSpPr>
      <p:grpSpPr>
        <a:xfrm>
          <a:off x="0" y="0"/>
          <a:ext cx="0" cy="0"/>
          <a:chOff x="0" y="0"/>
          <a:chExt cx="0" cy="0"/>
        </a:xfrm>
      </p:grpSpPr>
      <p:pic>
        <p:nvPicPr>
          <p:cNvPr id="2" name="Thank you graphic elements" descr="Thank you graphic elements"/>
          <p:cNvPicPr>
            <a:picLocks noChangeAspect="1"/>
          </p:cNvPicPr>
          <p:nvPr/>
        </p:nvPicPr>
        <p:blipFill>
          <a:blip r:embed="rId2"/>
          <a:stretch>
            <a:fillRect/>
          </a:stretch>
        </p:blipFill>
        <p:spPr>
          <a:xfrm>
            <a:off x="0" y="0"/>
            <a:ext cx="12192000" cy="6858000"/>
          </a:xfrm>
          <a:prstGeom prst="rect">
            <a:avLst/>
          </a:prstGeom>
        </p:spPr>
      </p:pic>
      <p:sp>
        <p:nvSpPr>
          <p:cNvPr id="3" name="Thank you"/>
          <p:cNvSpPr txBox="1"/>
          <p:nvPr/>
        </p:nvSpPr>
        <p:spPr>
          <a:xfrm rot="0">
            <a:off x="619125" y="2333625"/>
            <a:ext cx="3195786" cy="714375"/>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4875" b="0" i="0" spc="-112">
                <a:solidFill>
                  <a:srgbClr val="202328"/>
                </a:solidFill>
                <a:latin typeface="Arial"/>
              </a:rPr>
              <a:t xml:space="preserve">Thank you</a:t>
            </a:r>
            <a:endParaRPr lang="en-US"/>
          </a:p>
        </p:txBody>
      </p:sp>
      <p:sp>
        <p:nvSpPr>
          <p:cNvPr id="4" name="Hierarchical scientific discovery"/>
          <p:cNvSpPr txBox="1"/>
          <p:nvPr/>
        </p:nvSpPr>
        <p:spPr>
          <a:xfrm rot="0">
            <a:off x="619125" y="3352800"/>
            <a:ext cx="3474988" cy="2857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875" b="0" i="0" spc="0">
                <a:solidFill>
                  <a:srgbClr val="606873"/>
                </a:solidFill>
                <a:latin typeface="Arial"/>
              </a:rPr>
              <a:t xml:space="preserve">Hierarchical scientific discovery</a:t>
            </a:r>
            <a:endParaRPr lang="en-US"/>
          </a:p>
        </p:txBody>
      </p:sp>
      <p:sp>
        <p:nvSpPr>
          <p:cNvPr id="5" name="Technical solution and experimental evidence"/>
          <p:cNvSpPr txBox="1"/>
          <p:nvPr/>
        </p:nvSpPr>
        <p:spPr>
          <a:xfrm rot="0">
            <a:off x="619125" y="3686175"/>
            <a:ext cx="4958655" cy="28575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1875" b="0" i="0" spc="0">
                <a:solidFill>
                  <a:srgbClr val="606873"/>
                </a:solidFill>
                <a:latin typeface="Arial"/>
              </a:rPr>
              <a:t xml:space="preserve">Technical solution and experimental evidence</a:t>
            </a:r>
            <a:endParaRPr lang="en-US"/>
          </a:p>
        </p:txBody>
      </p:sp>
      <p:sp>
        <p:nvSpPr>
          <p:cNvPr id="6" name="Huawei Confidential"/>
          <p:cNvSpPr txBox="1"/>
          <p:nvPr/>
        </p:nvSpPr>
        <p:spPr>
          <a:xfrm rot="0">
            <a:off x="590550" y="6434138"/>
            <a:ext cx="1096655"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Huawei Confidential</a:t>
            </a:r>
            <a:endParaRPr lang="en-US"/>
          </a:p>
        </p:txBody>
      </p:sp>
      <p:sp>
        <p:nvSpPr>
          <p:cNvPr id="7" name="Secret Level:"/>
          <p:cNvSpPr txBox="1"/>
          <p:nvPr/>
        </p:nvSpPr>
        <p:spPr>
          <a:xfrm rot="0">
            <a:off x="1902470" y="6434138"/>
            <a:ext cx="74720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Secret Level:</a:t>
            </a:r>
            <a:endParaRPr lang="en-US"/>
          </a:p>
        </p:txBody>
      </p:sp>
      <p:sp>
        <p:nvSpPr>
          <p:cNvPr id="8" name="Page 19"/>
          <p:cNvSpPr txBox="1"/>
          <p:nvPr/>
        </p:nvSpPr>
        <p:spPr>
          <a:xfrm rot="0">
            <a:off x="5985867" y="6434138"/>
            <a:ext cx="505956" cy="152400"/>
          </a:xfrm>
          <a:prstGeom prst="rect">
            <a:avLst/>
          </a:prstGeom>
          <a:noFill/>
          <a:ln>
            <a:noFill/>
          </a:ln>
        </p:spPr>
        <p:txBody>
          <a:bodyPr vert="horz" wrap="none" lIns="0" tIns="0" rIns="0" bIns="0" anchor="ctr" vertOverflow="overflow" horzOverflow="overflow">
            <a:noAutofit/>
          </a:bodyPr>
          <a:lstStyle/>
          <a:p>
            <a:pPr algn="l">
              <a:lnSpc>
                <a:spcPct val="100000"/>
              </a:lnSpc>
              <a:spcBef>
                <a:spcPts val="0"/>
              </a:spcBef>
              <a:spcAft>
                <a:spcPts val="0"/>
              </a:spcAft>
              <a:buNone/>
            </a:pPr>
            <a:r>
              <a:rPr lang="en-US" sz="900" b="0" i="0" spc="0">
                <a:solidFill>
                  <a:srgbClr val="5E6268"/>
                </a:solidFill>
                <a:latin typeface="Arial"/>
              </a:rPr>
              <a:t xml:space="preserve">Page 19</a:t>
            </a:r>
            <a:endParaRPr lang="en-US"/>
          </a:p>
        </p:txBody>
      </p:sp>
    </p:spTree>
  </p:cSld>
  <p:clrMapOvr>
    <a:masterClrMapping/>
  </p:clrMapOvr>
</p:sld>
</file>

<file path=ppt/theme/theme1.xml><?xml version="1.0" encoding="utf-8"?>
<a:theme xmlns:a="http://schemas.openxmlformats.org/drawingml/2006/main" name="Huawei">
  <a:themeElements>
    <a:clrScheme name="Huawei">
      <a:dk1>
        <a:srgbClr val="202328"/>
      </a:dk1>
      <a:lt1>
        <a:srgbClr val="FFFFFF"/>
      </a:lt1>
      <a:dk2>
        <a:srgbClr val="606873"/>
      </a:dk2>
      <a:lt2>
        <a:srgbClr val="EEF3F8"/>
      </a:lt2>
      <a:accent1>
        <a:srgbClr val="C7000B"/>
      </a:accent1>
      <a:accent2>
        <a:srgbClr val="466B8A"/>
      </a:accent2>
      <a:accent3>
        <a:srgbClr val="25817C"/>
      </a:accent3>
      <a:accent4>
        <a:srgbClr val="A77526"/>
      </a:accent4>
      <a:accent5>
        <a:srgbClr val="806096"/>
      </a:accent5>
      <a:accent6>
        <a:srgbClr val="BD343A"/>
      </a:accent6>
      <a:hlink>
        <a:srgbClr val="0563C1"/>
      </a:hlink>
      <a:folHlink>
        <a:srgbClr val="954F72"/>
      </a:folHlink>
    </a:clrScheme>
    <a:fontScheme name="Arial">
      <a:majorFont>
        <a:latin typeface="Arial"/>
        <a:ea typeface=""/>
        <a:cs typeface=""/>
      </a:majorFont>
      <a:minorFont>
        <a:latin typeface="Arial"/>
        <a:ea typeface=""/>
        <a:cs typeface=""/>
      </a:minorFont>
    </a:fontScheme>
    <a:fmtScheme name="Simple">
      <a:fillStyleLst>
        <a:solidFill>
          <a:schemeClr val="phClr"/>
        </a:solidFill>
        <a:solidFill>
          <a:schemeClr val="phClr"/>
        </a:solidFill>
        <a:solidFill>
          <a:schemeClr val="phClr"/>
        </a:soli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Scientific Discovery Presentation</Application>
  <PresentationFormat>On-screen Show (16:9)</PresentationFormat>
  <Slides>30</Slides>
  <Notes>30</Notes>
  <HiddenSlides>0</HiddenSlides>
</Properties>
</file>

<file path=docProps/core.xml><?xml version="1.0" encoding="utf-8"?>
<cp:coreProperties xmlns:cp="http://schemas.openxmlformats.org/package/2006/metadata/core-properties" xmlns:dc="http://purl.org/dc/elements/1.1/">
  <dc:title>Hierarchical Bandit-Guided Scientific Discovery</dc:title>
  <dc:description>Editable slide text and figure labels, static sequential builds, original page labels, and speaker notes.</dc:description>
</cp:coreProperties>
</file>